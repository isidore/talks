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30"/>
  </p:notesMasterIdLst>
  <p:sldIdLst>
    <p:sldId id="276" r:id="rId2"/>
    <p:sldId id="278" r:id="rId3"/>
    <p:sldId id="302" r:id="rId4"/>
    <p:sldId id="303" r:id="rId5"/>
    <p:sldId id="304" r:id="rId6"/>
    <p:sldId id="306" r:id="rId7"/>
    <p:sldId id="305" r:id="rId8"/>
    <p:sldId id="307" r:id="rId9"/>
    <p:sldId id="308" r:id="rId10"/>
    <p:sldId id="309" r:id="rId11"/>
    <p:sldId id="310" r:id="rId12"/>
    <p:sldId id="311" r:id="rId13"/>
    <p:sldId id="312" r:id="rId14"/>
    <p:sldId id="313" r:id="rId15"/>
    <p:sldId id="314" r:id="rId16"/>
    <p:sldId id="315" r:id="rId17"/>
    <p:sldId id="316" r:id="rId18"/>
    <p:sldId id="317" r:id="rId19"/>
    <p:sldId id="318" r:id="rId20"/>
    <p:sldId id="319" r:id="rId21"/>
    <p:sldId id="320" r:id="rId22"/>
    <p:sldId id="321" r:id="rId23"/>
    <p:sldId id="322" r:id="rId24"/>
    <p:sldId id="323" r:id="rId25"/>
    <p:sldId id="324" r:id="rId26"/>
    <p:sldId id="325" r:id="rId27"/>
    <p:sldId id="271" r:id="rId28"/>
    <p:sldId id="275" r:id="rId2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A14D8F24-B5B1-FF42-BDED-C9E4E4C957F8}">
          <p14:sldIdLst>
            <p14:sldId id="276"/>
            <p14:sldId id="278"/>
            <p14:sldId id="302"/>
            <p14:sldId id="303"/>
            <p14:sldId id="304"/>
            <p14:sldId id="306"/>
            <p14:sldId id="305"/>
            <p14:sldId id="307"/>
            <p14:sldId id="308"/>
            <p14:sldId id="309"/>
            <p14:sldId id="310"/>
            <p14:sldId id="311"/>
            <p14:sldId id="312"/>
            <p14:sldId id="313"/>
            <p14:sldId id="314"/>
            <p14:sldId id="315"/>
            <p14:sldId id="316"/>
            <p14:sldId id="317"/>
            <p14:sldId id="318"/>
            <p14:sldId id="319"/>
            <p14:sldId id="320"/>
            <p14:sldId id="321"/>
            <p14:sldId id="322"/>
            <p14:sldId id="323"/>
            <p14:sldId id="324"/>
            <p14:sldId id="325"/>
          </p14:sldIdLst>
        </p14:section>
        <p14:section name="The Talk" id="{C3E73350-9999-4042-B46C-954DFBCF7697}">
          <p14:sldIdLst/>
        </p14:section>
        <p14:section name="Style Guide" id="{AD4C1F05-61C8-2841-B0A1-FC6B5B8B3C61}">
          <p14:sldIdLst>
            <p14:sldId id="271"/>
            <p14:sldId id="275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loop="1"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14BA1"/>
    <a:srgbClr val="417769"/>
    <a:srgbClr val="A1734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990"/>
    <p:restoredTop sz="91179"/>
  </p:normalViewPr>
  <p:slideViewPr>
    <p:cSldViewPr snapToGrid="0" snapToObjects="1">
      <p:cViewPr>
        <p:scale>
          <a:sx n="141" d="100"/>
          <a:sy n="141" d="100"/>
        </p:scale>
        <p:origin x="3168" y="164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4351BAA-7863-A845-95EE-E0917C9017CF}" type="datetimeFigureOut">
              <a:rPr lang="en-US" smtClean="0"/>
              <a:t>10/5/26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B35D2C9-2D07-354B-99FC-F9CD075E99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17715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B35D2C9-2D07-354B-99FC-F9CD075E9940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196000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3A5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337D396-1685-264D-85FB-49DF06B49884}"/>
              </a:ext>
            </a:extLst>
          </p:cNvPr>
          <p:cNvSpPr txBox="1"/>
          <p:nvPr/>
        </p:nvSpPr>
        <p:spPr>
          <a:xfrm>
            <a:off x="571500" y="2413000"/>
            <a:ext cx="8001000" cy="889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4800" b="1">
                <a:solidFill>
                  <a:srgbClr val="FFFFFF"/>
                </a:solidFill>
              </a:rPr>
              <a:t>Analyzers in .NET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B4B2108-7582-5D44-84FD-8DD0EF8528A8}"/>
              </a:ext>
            </a:extLst>
          </p:cNvPr>
          <p:cNvSpPr txBox="1"/>
          <p:nvPr/>
        </p:nvSpPr>
        <p:spPr>
          <a:xfrm>
            <a:off x="571500" y="3327400"/>
            <a:ext cx="8001000" cy="431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2000">
                <a:solidFill>
                  <a:srgbClr val="DCE3EC"/>
                </a:solidFill>
              </a:rPr>
              <a:t>An overview of .NET analyzers, and how to create a custom one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7176C54-3861-504B-AFD6-B82D54191117}"/>
              </a:ext>
            </a:extLst>
          </p:cNvPr>
          <p:cNvSpPr/>
          <p:nvPr/>
        </p:nvSpPr>
        <p:spPr>
          <a:xfrm>
            <a:off x="660400" y="2235200"/>
            <a:ext cx="762000" cy="50800"/>
          </a:xfrm>
          <a:prstGeom prst="rect">
            <a:avLst/>
          </a:prstGeom>
          <a:solidFill>
            <a:srgbClr val="5A7D5A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31605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72438ED-838D-BA44-BFF1-5A22F7FDC4E5}"/>
              </a:ext>
            </a:extLst>
          </p:cNvPr>
          <p:cNvSpPr txBox="1"/>
          <p:nvPr/>
        </p:nvSpPr>
        <p:spPr>
          <a:xfrm>
            <a:off x="571500" y="1320800"/>
            <a:ext cx="8001000" cy="508000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3200" b="1">
                <a:solidFill>
                  <a:srgbClr val="1F3A5F"/>
                </a:solidFill>
              </a:rPr>
              <a:t>How analyzers plug into a .csproj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D24C367C-97E1-4040-96C0-6456AABA4219}"/>
              </a:ext>
            </a:extLst>
          </p:cNvPr>
          <p:cNvSpPr/>
          <p:nvPr/>
        </p:nvSpPr>
        <p:spPr>
          <a:xfrm>
            <a:off x="571500" y="2095500"/>
            <a:ext cx="4953000" cy="2095500"/>
          </a:xfrm>
          <a:prstGeom prst="roundRect">
            <a:avLst>
              <a:gd name="adj" fmla="val 8000"/>
            </a:avLst>
          </a:prstGeom>
          <a:solidFill>
            <a:srgbClr val="F3F5F8"/>
          </a:solidFill>
          <a:ln w="12700" cap="flat" cmpd="sng" algn="ctr">
            <a:solidFill>
              <a:srgbClr val="DCE3EC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77800" tIns="152400" rIns="177800" bIns="127000" rtlCol="0" anchor="t" anchorCtr="0">
            <a:noAutofit/>
          </a:bodyPr>
          <a:lstStyle/>
          <a:p>
            <a:r>
              <a:rPr lang="en-US" sz="1300" b="1">
                <a:solidFill>
                  <a:srgbClr val="415A77"/>
                </a:solidFill>
                <a:latin typeface="Calibri"/>
                <a:cs typeface="Calibri"/>
              </a:rPr>
              <a:t>MyApp.csproj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&lt;</a:t>
            </a:r>
            <a:r>
              <a:rPr lang="en-US" sz="1400">
                <a:solidFill>
                  <a:srgbClr val="A31515"/>
                </a:solidFill>
                <a:latin typeface="Consolas"/>
                <a:cs typeface="Consolas"/>
              </a:rPr>
              <a:t>ItemGroup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&gt;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
  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&lt;</a:t>
            </a:r>
            <a:r>
              <a:rPr lang="en-US" sz="1400">
                <a:solidFill>
                  <a:srgbClr val="A31515"/>
                </a:solidFill>
                <a:latin typeface="Consolas"/>
                <a:cs typeface="Consolas"/>
              </a:rPr>
              <a:t>PackageReference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
    </a:t>
            </a:r>
            <a:r>
              <a:rPr lang="en-US" sz="1400">
                <a:solidFill>
                  <a:srgbClr val="E50000"/>
                </a:solidFill>
                <a:latin typeface="Consolas"/>
                <a:cs typeface="Consolas"/>
              </a:rPr>
              <a:t>Include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=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"StyleCop.Analyzers"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
    </a:t>
            </a:r>
            <a:r>
              <a:rPr lang="en-US" sz="1400">
                <a:solidFill>
                  <a:srgbClr val="E50000"/>
                </a:solidFill>
                <a:latin typeface="Consolas"/>
                <a:cs typeface="Consolas"/>
              </a:rPr>
              <a:t>Version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=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"1.1.118"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
    </a:t>
            </a:r>
            <a:r>
              <a:rPr lang="en-US" sz="1400">
                <a:solidFill>
                  <a:srgbClr val="E50000"/>
                </a:solidFill>
                <a:latin typeface="Consolas"/>
                <a:cs typeface="Consolas"/>
              </a:rPr>
              <a:t>PrivateAssets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=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"all"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/&gt;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
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&lt;/</a:t>
            </a:r>
            <a:r>
              <a:rPr lang="en-US" sz="1400">
                <a:solidFill>
                  <a:srgbClr val="A31515"/>
                </a:solidFill>
                <a:latin typeface="Consolas"/>
                <a:cs typeface="Consolas"/>
              </a:rPr>
              <a:t>ItemGroup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&gt;</a:t>
            </a:r>
            <a:endParaRPr lang="en-US" sz="1400">
              <a:solidFill>
                <a:srgbClr val="1F3A5F"/>
              </a:solidFill>
              <a:latin typeface="Consolas"/>
              <a:cs typeface="Consolas"/>
            </a:endParaRP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E71A89B1-C73B-F245-A9BE-99D29ACDE334}"/>
              </a:ext>
            </a:extLst>
          </p:cNvPr>
          <p:cNvSpPr/>
          <p:nvPr/>
        </p:nvSpPr>
        <p:spPr>
          <a:xfrm>
            <a:off x="571500" y="4533900"/>
            <a:ext cx="4953000" cy="1346200"/>
          </a:xfrm>
          <a:prstGeom prst="roundRect">
            <a:avLst>
              <a:gd name="adj" fmla="val 8000"/>
            </a:avLst>
          </a:prstGeom>
          <a:solidFill>
            <a:srgbClr val="F3F5F8"/>
          </a:solidFill>
          <a:ln w="12700" cap="flat" cmpd="sng" algn="ctr">
            <a:solidFill>
              <a:srgbClr val="DCE3EC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77800" tIns="152400" rIns="177800" bIns="127000" rtlCol="0" anchor="t" anchorCtr="0">
            <a:noAutofit/>
          </a:bodyPr>
          <a:lstStyle/>
          <a:p>
            <a:r>
              <a:rPr lang="en-US" sz="1300" b="1">
                <a:solidFill>
                  <a:srgbClr val="415A77"/>
                </a:solidFill>
                <a:latin typeface="Calibri"/>
                <a:cs typeface="Calibri"/>
              </a:rPr>
              <a:t>.editorconfig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dotnet_diagnostic.SA1503.severity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
  = 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error</a:t>
            </a:r>
            <a:endParaRPr lang="en-US" sz="1400">
              <a:solidFill>
                <a:srgbClr val="1F3A5F"/>
              </a:solidFill>
              <a:latin typeface="Consolas"/>
              <a:cs typeface="Consolas"/>
            </a:endParaRP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79DD9562-F7AD-AA4B-BCAA-335C0D0014AF}"/>
              </a:ext>
            </a:extLst>
          </p:cNvPr>
          <p:cNvSpPr/>
          <p:nvPr/>
        </p:nvSpPr>
        <p:spPr>
          <a:xfrm>
            <a:off x="5905500" y="2095500"/>
            <a:ext cx="2667000" cy="1041400"/>
          </a:xfrm>
          <a:prstGeom prst="roundRect">
            <a:avLst>
              <a:gd name="adj" fmla="val 8000"/>
            </a:avLst>
          </a:prstGeom>
          <a:solidFill>
            <a:srgbClr val="1F3A5F"/>
          </a:solidFill>
          <a:ln w="9525" cap="flat" cmpd="sng" algn="ctr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77800" tIns="101600" rIns="177800" bIns="101600" rtlCol="0" anchor="ctr" anchorCtr="0">
            <a:noAutofit/>
          </a:bodyPr>
          <a:lstStyle/>
          <a:p>
            <a:pPr algn="ctr"/>
            <a:r>
              <a:rPr lang="en-US" sz="1600" b="1">
                <a:solidFill>
                  <a:srgbClr val="FFFFFF"/>
                </a:solidFill>
              </a:rPr>
              <a:t>Add the NuGet package</a:t>
            </a:r>
          </a:p>
        </p:txBody>
      </p:sp>
      <p:sp>
        <p:nvSpPr>
          <p:cNvPr id="6" name="Down Arrow 5">
            <a:extLst>
              <a:ext uri="{FF2B5EF4-FFF2-40B4-BE49-F238E27FC236}">
                <a16:creationId xmlns:a16="http://schemas.microsoft.com/office/drawing/2014/main" id="{DB4656E7-068C-FE45-9601-06876EB87FF3}"/>
              </a:ext>
            </a:extLst>
          </p:cNvPr>
          <p:cNvSpPr/>
          <p:nvPr/>
        </p:nvSpPr>
        <p:spPr>
          <a:xfrm>
            <a:off x="7112000" y="3162300"/>
            <a:ext cx="254000" cy="254000"/>
          </a:xfrm>
          <a:prstGeom prst="downArrow">
            <a:avLst/>
          </a:prstGeom>
          <a:solidFill>
            <a:srgbClr val="6B7280"/>
          </a:solidFill>
          <a:ln w="9525" cap="flat" cmpd="sng" algn="ctr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0EA5B49E-E351-C44E-A062-FC03F059B69E}"/>
              </a:ext>
            </a:extLst>
          </p:cNvPr>
          <p:cNvSpPr/>
          <p:nvPr/>
        </p:nvSpPr>
        <p:spPr>
          <a:xfrm>
            <a:off x="5905500" y="3467100"/>
            <a:ext cx="2667000" cy="1041400"/>
          </a:xfrm>
          <a:prstGeom prst="roundRect">
            <a:avLst>
              <a:gd name="adj" fmla="val 8000"/>
            </a:avLst>
          </a:prstGeom>
          <a:solidFill>
            <a:srgbClr val="1F3A5F"/>
          </a:solidFill>
          <a:ln w="9525" cap="flat" cmpd="sng" algn="ctr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77800" tIns="101600" rIns="177800" bIns="101600" rtlCol="0" anchor="ctr" anchorCtr="0">
            <a:noAutofit/>
          </a:bodyPr>
          <a:lstStyle/>
          <a:p>
            <a:pPr algn="ctr"/>
            <a:r>
              <a:rPr lang="en-US" sz="1600" b="1">
                <a:solidFill>
                  <a:srgbClr val="FFFFFF"/>
                </a:solidFill>
              </a:rPr>
              <a:t>Roslyn loads it at compile time</a:t>
            </a:r>
          </a:p>
        </p:txBody>
      </p:sp>
      <p:sp>
        <p:nvSpPr>
          <p:cNvPr id="8" name="Down Arrow 7">
            <a:extLst>
              <a:ext uri="{FF2B5EF4-FFF2-40B4-BE49-F238E27FC236}">
                <a16:creationId xmlns:a16="http://schemas.microsoft.com/office/drawing/2014/main" id="{96960B50-EF0B-7940-961B-5070FB6389B6}"/>
              </a:ext>
            </a:extLst>
          </p:cNvPr>
          <p:cNvSpPr/>
          <p:nvPr/>
        </p:nvSpPr>
        <p:spPr>
          <a:xfrm>
            <a:off x="7112000" y="4533900"/>
            <a:ext cx="254000" cy="254000"/>
          </a:xfrm>
          <a:prstGeom prst="downArrow">
            <a:avLst/>
          </a:prstGeom>
          <a:solidFill>
            <a:srgbClr val="6B7280"/>
          </a:solidFill>
          <a:ln w="9525" cap="flat" cmpd="sng" algn="ctr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8495F54D-88EA-114E-B3B8-FFBE6D6F237B}"/>
              </a:ext>
            </a:extLst>
          </p:cNvPr>
          <p:cNvSpPr/>
          <p:nvPr/>
        </p:nvSpPr>
        <p:spPr>
          <a:xfrm>
            <a:off x="5905500" y="4838700"/>
            <a:ext cx="2667000" cy="1041400"/>
          </a:xfrm>
          <a:prstGeom prst="roundRect">
            <a:avLst>
              <a:gd name="adj" fmla="val 8000"/>
            </a:avLst>
          </a:prstGeom>
          <a:solidFill>
            <a:srgbClr val="5A7D5A"/>
          </a:solidFill>
          <a:ln w="9525" cap="flat" cmpd="sng" algn="ctr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77800" tIns="101600" rIns="177800" bIns="101600" rtlCol="0" anchor="ctr" anchorCtr="0">
            <a:noAutofit/>
          </a:bodyPr>
          <a:lstStyle/>
          <a:p>
            <a:pPr algn="ctr"/>
            <a:r>
              <a:rPr lang="en-US" sz="1600" b="1">
                <a:solidFill>
                  <a:srgbClr val="FFFFFF"/>
                </a:solidFill>
              </a:rPr>
              <a:t>Squiggles in the IDE, warnings or errors in the build</a:t>
            </a:r>
          </a:p>
        </p:txBody>
      </p:sp>
    </p:spTree>
    <p:extLst>
      <p:ext uri="{BB962C8B-B14F-4D97-AF65-F5344CB8AC3E}">
        <p14:creationId xmlns:p14="http://schemas.microsoft.com/office/powerpoint/2010/main" val="318514655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BBD0BD2-EA5E-0A45-B0E4-89B89570693A}"/>
              </a:ext>
            </a:extLst>
          </p:cNvPr>
          <p:cNvSpPr txBox="1"/>
          <p:nvPr/>
        </p:nvSpPr>
        <p:spPr>
          <a:xfrm>
            <a:off x="571500" y="1041400"/>
            <a:ext cx="8001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>
                <a:solidFill>
                  <a:srgbClr val="415A77"/>
                </a:solidFill>
              </a:rPr>
              <a:t>ECOSYSTEM  ·  AZURE_FUNCTIONS_0001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5252252-069A-5E46-A6AE-A45BFCE3B9F2}"/>
              </a:ext>
            </a:extLst>
          </p:cNvPr>
          <p:cNvSpPr txBox="1"/>
          <p:nvPr/>
        </p:nvSpPr>
        <p:spPr>
          <a:xfrm>
            <a:off x="571500" y="1320800"/>
            <a:ext cx="8001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3200" b="1">
                <a:solidFill>
                  <a:srgbClr val="1F3A5F"/>
                </a:solidFill>
              </a:rPr>
              <a:t>AzureFunctionAnalyzers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CF6E333-70F5-DA4B-869E-8386744D94F5}"/>
              </a:ext>
            </a:extLst>
          </p:cNvPr>
          <p:cNvSpPr txBox="1"/>
          <p:nvPr/>
        </p:nvSpPr>
        <p:spPr>
          <a:xfrm>
            <a:off x="571500" y="1879600"/>
            <a:ext cx="8001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b="1">
                <a:solidFill>
                  <a:srgbClr val="5A7D5A"/>
                </a:solidFill>
              </a:rPr>
              <a:t>Fixes:</a:t>
            </a:r>
            <a:r>
              <a:rPr lang="en-US">
                <a:solidFill>
                  <a:srgbClr val="415A77"/>
                </a:solidFill>
              </a:rPr>
              <a:t> class names that drift from function names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64EA9EA-5908-5D40-910C-E423D7A3596F}"/>
              </a:ext>
            </a:extLst>
          </p:cNvPr>
          <p:cNvSpPr txBox="1"/>
          <p:nvPr/>
        </p:nvSpPr>
        <p:spPr>
          <a:xfrm>
            <a:off x="571500" y="2413000"/>
            <a:ext cx="63500" cy="1752600"/>
          </a:xfrm>
          <a:prstGeom prst="rect">
            <a:avLst/>
          </a:prstGeom>
          <a:solidFill>
            <a:srgbClr val="A14B4B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A056648-ED92-604C-B5A8-48C50B9B0050}"/>
              </a:ext>
            </a:extLst>
          </p:cNvPr>
          <p:cNvSpPr txBox="1"/>
          <p:nvPr/>
        </p:nvSpPr>
        <p:spPr>
          <a:xfrm>
            <a:off x="635000" y="24130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A14B4B"/>
                </a:solidFill>
                <a:latin typeface="Calibri"/>
                <a:cs typeface="Calibri"/>
              </a:rPr>
              <a:t>Wrong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public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class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Orders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
{
    [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Function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</a:t>
            </a:r>
            <a:r>
              <a:rPr lang="en-US" sz="1400">
                <a:solidFill>
                  <a:srgbClr val="A31515"/>
                </a:solidFill>
                <a:latin typeface="Consolas"/>
                <a:cs typeface="Consolas"/>
              </a:rPr>
              <a:t>"GetOrder"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)]
    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public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Task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>
                <a:solidFill>
                  <a:srgbClr val="74531F"/>
                </a:solidFill>
                <a:latin typeface="Consolas"/>
                <a:cs typeface="Consolas"/>
              </a:rPr>
              <a:t>Run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(...) { ... }
}</a:t>
            </a:r>
            <a:endParaRPr lang="en-US" sz="1400">
              <a:solidFill>
                <a:srgbClr val="1F3A5F"/>
              </a:solidFill>
              <a:latin typeface="Consolas"/>
              <a:cs typeface="Consola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0428206-A1BC-F948-8CE1-A9C93F76ACCE}"/>
              </a:ext>
            </a:extLst>
          </p:cNvPr>
          <p:cNvSpPr txBox="1"/>
          <p:nvPr/>
        </p:nvSpPr>
        <p:spPr>
          <a:xfrm>
            <a:off x="571500" y="4470400"/>
            <a:ext cx="63500" cy="1752600"/>
          </a:xfrm>
          <a:prstGeom prst="rect">
            <a:avLst/>
          </a:prstGeom>
          <a:solidFill>
            <a:srgbClr val="5A7D5A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0D1C25-8ED3-2543-8865-34F02B01E876}"/>
              </a:ext>
            </a:extLst>
          </p:cNvPr>
          <p:cNvSpPr txBox="1"/>
          <p:nvPr/>
        </p:nvSpPr>
        <p:spPr>
          <a:xfrm>
            <a:off x="635000" y="44704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5A7D5A"/>
                </a:solidFill>
                <a:latin typeface="Calibri"/>
                <a:cs typeface="Calibri"/>
              </a:rPr>
              <a:t>Right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public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class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GetOrder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
{
    [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Function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</a:t>
            </a:r>
            <a:r>
              <a:rPr lang="en-US" sz="1400">
                <a:solidFill>
                  <a:srgbClr val="A31515"/>
                </a:solidFill>
                <a:latin typeface="Consolas"/>
                <a:cs typeface="Consolas"/>
              </a:rPr>
              <a:t>"GetOrder"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)]
    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public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Task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>
                <a:solidFill>
                  <a:srgbClr val="74531F"/>
                </a:solidFill>
                <a:latin typeface="Consolas"/>
                <a:cs typeface="Consolas"/>
              </a:rPr>
              <a:t>Run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(...) { ... }
}</a:t>
            </a:r>
            <a:endParaRPr lang="en-US" sz="1400">
              <a:solidFill>
                <a:srgbClr val="1F3A5F"/>
              </a:solidFill>
              <a:latin typeface="Consolas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11886305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B0A56E2-18A9-C445-8649-5F7B33CCC100}"/>
              </a:ext>
            </a:extLst>
          </p:cNvPr>
          <p:cNvSpPr txBox="1"/>
          <p:nvPr/>
        </p:nvSpPr>
        <p:spPr>
          <a:xfrm>
            <a:off x="571500" y="1041400"/>
            <a:ext cx="8001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>
                <a:solidFill>
                  <a:srgbClr val="415A77"/>
                </a:solidFill>
              </a:rPr>
              <a:t>STYLE  ·  SA1503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72159F4-2B1C-BF4D-84D5-410CEE90B5A8}"/>
              </a:ext>
            </a:extLst>
          </p:cNvPr>
          <p:cNvSpPr txBox="1"/>
          <p:nvPr/>
        </p:nvSpPr>
        <p:spPr>
          <a:xfrm>
            <a:off x="571500" y="1320800"/>
            <a:ext cx="8001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3200" b="1">
                <a:solidFill>
                  <a:srgbClr val="1F3A5F"/>
                </a:solidFill>
              </a:rPr>
              <a:t>StyleCop.Analyzers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A93D8C3-A3A5-4640-BC6E-46F77834E4AE}"/>
              </a:ext>
            </a:extLst>
          </p:cNvPr>
          <p:cNvSpPr txBox="1"/>
          <p:nvPr/>
        </p:nvSpPr>
        <p:spPr>
          <a:xfrm>
            <a:off x="571500" y="1879600"/>
            <a:ext cx="8001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b="1">
                <a:solidFill>
                  <a:srgbClr val="5A7D5A"/>
                </a:solidFill>
              </a:rPr>
              <a:t>Fixes:</a:t>
            </a:r>
            <a:r>
              <a:rPr lang="en-US">
                <a:solidFill>
                  <a:srgbClr val="415A77"/>
                </a:solidFill>
              </a:rPr>
              <a:t> omitted braces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0BE498-EC0E-CF4B-BECA-2966938D10AE}"/>
              </a:ext>
            </a:extLst>
          </p:cNvPr>
          <p:cNvSpPr txBox="1"/>
          <p:nvPr/>
        </p:nvSpPr>
        <p:spPr>
          <a:xfrm>
            <a:off x="571500" y="2413000"/>
            <a:ext cx="63500" cy="1752600"/>
          </a:xfrm>
          <a:prstGeom prst="rect">
            <a:avLst/>
          </a:prstGeom>
          <a:solidFill>
            <a:srgbClr val="A14B4B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3EC3BBB-12B0-6546-9A93-C583729E9C47}"/>
              </a:ext>
            </a:extLst>
          </p:cNvPr>
          <p:cNvSpPr txBox="1"/>
          <p:nvPr/>
        </p:nvSpPr>
        <p:spPr>
          <a:xfrm>
            <a:off x="635000" y="24130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A14B4B"/>
                </a:solidFill>
                <a:latin typeface="Calibri"/>
                <a:cs typeface="Calibri"/>
              </a:rPr>
              <a:t>Wrong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</a:t>
            </a:r>
            <a:r>
              <a:rPr lang="en-US" sz="1400">
                <a:solidFill>
                  <a:srgbClr val="8F08C4"/>
                </a:solidFill>
                <a:latin typeface="Consolas"/>
                <a:cs typeface="Consolas"/>
              </a:rPr>
              <a:t>if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(x) </a:t>
            </a:r>
            <a:r>
              <a:rPr lang="en-US" sz="1400">
                <a:solidFill>
                  <a:srgbClr val="8F08C4"/>
                </a:solidFill>
                <a:latin typeface="Consolas"/>
                <a:cs typeface="Consolas"/>
              </a:rPr>
              <a:t>return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;</a:t>
            </a:r>
            <a:endParaRPr lang="en-US" sz="1400">
              <a:solidFill>
                <a:srgbClr val="1F3A5F"/>
              </a:solidFill>
              <a:latin typeface="Consolas"/>
              <a:cs typeface="Consola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A6DF948-B999-064E-AE4D-725575D81A5E}"/>
              </a:ext>
            </a:extLst>
          </p:cNvPr>
          <p:cNvSpPr txBox="1"/>
          <p:nvPr/>
        </p:nvSpPr>
        <p:spPr>
          <a:xfrm>
            <a:off x="571500" y="4470400"/>
            <a:ext cx="63500" cy="1752600"/>
          </a:xfrm>
          <a:prstGeom prst="rect">
            <a:avLst/>
          </a:prstGeom>
          <a:solidFill>
            <a:srgbClr val="5A7D5A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A84CE8D-C2C0-B744-AD13-69E179B32D0F}"/>
              </a:ext>
            </a:extLst>
          </p:cNvPr>
          <p:cNvSpPr txBox="1"/>
          <p:nvPr/>
        </p:nvSpPr>
        <p:spPr>
          <a:xfrm>
            <a:off x="635000" y="44704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5A7D5A"/>
                </a:solidFill>
                <a:latin typeface="Calibri"/>
                <a:cs typeface="Calibri"/>
              </a:rPr>
              <a:t>Right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</a:t>
            </a:r>
            <a:r>
              <a:rPr lang="en-US" sz="1400">
                <a:solidFill>
                  <a:srgbClr val="8F08C4"/>
                </a:solidFill>
                <a:latin typeface="Consolas"/>
                <a:cs typeface="Consolas"/>
              </a:rPr>
              <a:t>if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(x) { </a:t>
            </a:r>
            <a:r>
              <a:rPr lang="en-US" sz="1400">
                <a:solidFill>
                  <a:srgbClr val="8F08C4"/>
                </a:solidFill>
                <a:latin typeface="Consolas"/>
                <a:cs typeface="Consolas"/>
              </a:rPr>
              <a:t>return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; }</a:t>
            </a:r>
            <a:endParaRPr lang="en-US" sz="1400">
              <a:solidFill>
                <a:srgbClr val="1F3A5F"/>
              </a:solidFill>
              <a:latin typeface="Consolas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33039674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92C5F48-AA6E-7E45-9335-22693E2DF9B1}"/>
              </a:ext>
            </a:extLst>
          </p:cNvPr>
          <p:cNvSpPr txBox="1"/>
          <p:nvPr/>
        </p:nvSpPr>
        <p:spPr>
          <a:xfrm>
            <a:off x="571500" y="1041400"/>
            <a:ext cx="8001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>
                <a:solidFill>
                  <a:srgbClr val="415A77"/>
                </a:solidFill>
              </a:rPr>
              <a:t>CORRECTNESS  ·  [Id] attribute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B418DCD-833E-6242-AAC1-F60967099670}"/>
              </a:ext>
            </a:extLst>
          </p:cNvPr>
          <p:cNvSpPr txBox="1"/>
          <p:nvPr/>
        </p:nvSpPr>
        <p:spPr>
          <a:xfrm>
            <a:off x="571500" y="1320800"/>
            <a:ext cx="8001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3200" b="1">
                <a:solidFill>
                  <a:srgbClr val="1F3A5F"/>
                </a:solidFill>
              </a:rPr>
              <a:t>StrongIdAnalyzer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0B78F74-92D8-6D48-BE76-8CE259DF9BCF}"/>
              </a:ext>
            </a:extLst>
          </p:cNvPr>
          <p:cNvSpPr txBox="1"/>
          <p:nvPr/>
        </p:nvSpPr>
        <p:spPr>
          <a:xfrm>
            <a:off x="571500" y="1879600"/>
            <a:ext cx="8001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b="1">
                <a:solidFill>
                  <a:srgbClr val="5A7D5A"/>
                </a:solidFill>
              </a:rPr>
              <a:t>Fixes:</a:t>
            </a:r>
            <a:r>
              <a:rPr lang="en-US">
                <a:solidFill>
                  <a:srgbClr val="415A77"/>
                </a:solidFill>
              </a:rPr>
              <a:t> IDs crossed between domain types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8712B15-EAA1-8147-9868-BF5B4EC265C1}"/>
              </a:ext>
            </a:extLst>
          </p:cNvPr>
          <p:cNvSpPr txBox="1"/>
          <p:nvPr/>
        </p:nvSpPr>
        <p:spPr>
          <a:xfrm>
            <a:off x="571500" y="2413000"/>
            <a:ext cx="63500" cy="1752600"/>
          </a:xfrm>
          <a:prstGeom prst="rect">
            <a:avLst/>
          </a:prstGeom>
          <a:solidFill>
            <a:srgbClr val="A14B4B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D4A3A78-3A66-9B4C-A6DB-C41760C7513D}"/>
              </a:ext>
            </a:extLst>
          </p:cNvPr>
          <p:cNvSpPr txBox="1"/>
          <p:nvPr/>
        </p:nvSpPr>
        <p:spPr>
          <a:xfrm>
            <a:off x="635000" y="24130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A14B4B"/>
                </a:solidFill>
                <a:latin typeface="Calibri"/>
                <a:cs typeface="Calibri"/>
              </a:rPr>
              <a:t>Wrong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void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>
                <a:solidFill>
                  <a:srgbClr val="74531F"/>
                </a:solidFill>
                <a:latin typeface="Consolas"/>
                <a:cs typeface="Consolas"/>
              </a:rPr>
              <a:t>Ship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([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Id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</a:t>
            </a:r>
            <a:r>
              <a:rPr lang="en-US" sz="1400">
                <a:solidFill>
                  <a:srgbClr val="A31515"/>
                </a:solidFill>
                <a:latin typeface="Consolas"/>
                <a:cs typeface="Consolas"/>
              </a:rPr>
              <a:t>"Order"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)] 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Guid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orderId) { }
[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Id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</a:t>
            </a:r>
            <a:r>
              <a:rPr lang="en-US" sz="1400">
                <a:solidFill>
                  <a:srgbClr val="A31515"/>
                </a:solidFill>
                <a:latin typeface="Consolas"/>
                <a:cs typeface="Consolas"/>
              </a:rPr>
              <a:t>"Customer"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)] 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Guid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customerId = 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Guid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.</a:t>
            </a:r>
            <a:r>
              <a:rPr lang="en-US" sz="1400">
                <a:solidFill>
                  <a:srgbClr val="74531F"/>
                </a:solidFill>
                <a:latin typeface="Consolas"/>
                <a:cs typeface="Consolas"/>
              </a:rPr>
              <a:t>NewGuid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();
</a:t>
            </a:r>
            <a:r>
              <a:rPr lang="en-US" sz="1400">
                <a:solidFill>
                  <a:srgbClr val="74531F"/>
                </a:solidFill>
                <a:latin typeface="Consolas"/>
                <a:cs typeface="Consolas"/>
              </a:rPr>
              <a:t>Ship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(customerId);  </a:t>
            </a:r>
            <a:r>
              <a:rPr lang="en-US" sz="1400">
                <a:solidFill>
                  <a:srgbClr val="008000"/>
                </a:solidFill>
                <a:latin typeface="Consolas"/>
                <a:cs typeface="Consolas"/>
              </a:rPr>
              <a:t>// Customer ID passed as Order ID</a:t>
            </a:r>
            <a:endParaRPr lang="en-US" sz="1400">
              <a:solidFill>
                <a:srgbClr val="1F3A5F"/>
              </a:solidFill>
              <a:latin typeface="Consolas"/>
              <a:cs typeface="Consola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5763B9C-FAEC-8B4E-92AA-A654A9194D7F}"/>
              </a:ext>
            </a:extLst>
          </p:cNvPr>
          <p:cNvSpPr txBox="1"/>
          <p:nvPr/>
        </p:nvSpPr>
        <p:spPr>
          <a:xfrm>
            <a:off x="571500" y="4470400"/>
            <a:ext cx="63500" cy="1752600"/>
          </a:xfrm>
          <a:prstGeom prst="rect">
            <a:avLst/>
          </a:prstGeom>
          <a:solidFill>
            <a:srgbClr val="5A7D5A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F427E36-8D46-C147-B2E5-340EEB3F61D5}"/>
              </a:ext>
            </a:extLst>
          </p:cNvPr>
          <p:cNvSpPr txBox="1"/>
          <p:nvPr/>
        </p:nvSpPr>
        <p:spPr>
          <a:xfrm>
            <a:off x="635000" y="44704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5A7D5A"/>
                </a:solidFill>
                <a:latin typeface="Calibri"/>
                <a:cs typeface="Calibri"/>
              </a:rPr>
              <a:t>Right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[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Id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</a:t>
            </a:r>
            <a:r>
              <a:rPr lang="en-US" sz="1400">
                <a:solidFill>
                  <a:srgbClr val="A31515"/>
                </a:solidFill>
                <a:latin typeface="Consolas"/>
                <a:cs typeface="Consolas"/>
              </a:rPr>
              <a:t>"Order"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)] 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Guid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orderId = 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Guid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.</a:t>
            </a:r>
            <a:r>
              <a:rPr lang="en-US" sz="1400">
                <a:solidFill>
                  <a:srgbClr val="74531F"/>
                </a:solidFill>
                <a:latin typeface="Consolas"/>
                <a:cs typeface="Consolas"/>
              </a:rPr>
              <a:t>NewGuid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();
</a:t>
            </a:r>
            <a:r>
              <a:rPr lang="en-US" sz="1400">
                <a:solidFill>
                  <a:srgbClr val="74531F"/>
                </a:solidFill>
                <a:latin typeface="Consolas"/>
                <a:cs typeface="Consolas"/>
              </a:rPr>
              <a:t>Ship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(orderId);</a:t>
            </a:r>
            <a:endParaRPr lang="en-US" sz="1400">
              <a:solidFill>
                <a:srgbClr val="1F3A5F"/>
              </a:solidFill>
              <a:latin typeface="Consolas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28929661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BB5AC7-B5E9-D80A-7417-743518F59A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0BAEFF0-149F-8482-E411-DB6F1D6686B1}"/>
              </a:ext>
            </a:extLst>
          </p:cNvPr>
          <p:cNvSpPr txBox="1"/>
          <p:nvPr/>
        </p:nvSpPr>
        <p:spPr>
          <a:xfrm>
            <a:off x="571500" y="1041400"/>
            <a:ext cx="8001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>
                <a:solidFill>
                  <a:srgbClr val="415A77"/>
                </a:solidFill>
              </a:rPr>
              <a:t>CORRECTNESS  ·  [Id] attribute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3A2E932-4AE8-5717-5663-5010208969EE}"/>
              </a:ext>
            </a:extLst>
          </p:cNvPr>
          <p:cNvSpPr txBox="1"/>
          <p:nvPr/>
        </p:nvSpPr>
        <p:spPr>
          <a:xfrm>
            <a:off x="571500" y="1320800"/>
            <a:ext cx="8001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3200" b="1">
                <a:solidFill>
                  <a:srgbClr val="1F3A5F"/>
                </a:solidFill>
              </a:rPr>
              <a:t>StrongIdAnalyzer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9BF15B0-B80B-5E3B-16D7-AE904000E342}"/>
              </a:ext>
            </a:extLst>
          </p:cNvPr>
          <p:cNvSpPr txBox="1"/>
          <p:nvPr/>
        </p:nvSpPr>
        <p:spPr>
          <a:xfrm>
            <a:off x="571500" y="1879600"/>
            <a:ext cx="8001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b="1">
                <a:solidFill>
                  <a:srgbClr val="5A7D5A"/>
                </a:solidFill>
              </a:rPr>
              <a:t>Fixes:</a:t>
            </a:r>
            <a:r>
              <a:rPr lang="en-US">
                <a:solidFill>
                  <a:srgbClr val="415A77"/>
                </a:solidFill>
              </a:rPr>
              <a:t> IDs crossed between domain types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7BBB153-2591-198F-55FC-B13E1D85ED96}"/>
              </a:ext>
            </a:extLst>
          </p:cNvPr>
          <p:cNvSpPr txBox="1"/>
          <p:nvPr/>
        </p:nvSpPr>
        <p:spPr>
          <a:xfrm>
            <a:off x="571500" y="2413000"/>
            <a:ext cx="63500" cy="1752600"/>
          </a:xfrm>
          <a:prstGeom prst="rect">
            <a:avLst/>
          </a:prstGeom>
          <a:solidFill>
            <a:srgbClr val="A14B4B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01E0058-9146-BC37-5ED9-958865CDB8D6}"/>
              </a:ext>
            </a:extLst>
          </p:cNvPr>
          <p:cNvSpPr txBox="1"/>
          <p:nvPr/>
        </p:nvSpPr>
        <p:spPr>
          <a:xfrm>
            <a:off x="635000" y="24130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 dirty="0">
                <a:solidFill>
                  <a:srgbClr val="A14B4B"/>
                </a:solidFill>
                <a:latin typeface="Calibri"/>
                <a:cs typeface="Calibri"/>
              </a:rPr>
              <a:t>Wrong</a:t>
            </a:r>
            <a:r>
              <a:rPr lang="en-US" sz="1400" dirty="0">
                <a:solidFill>
                  <a:srgbClr val="1F3A5F"/>
                </a:solidFill>
                <a:latin typeface="Consolas"/>
                <a:cs typeface="Consolas"/>
              </a:rPr>
              <a:t>
</a:t>
            </a:r>
            <a:r>
              <a:rPr lang="en-US" sz="1400" dirty="0">
                <a:solidFill>
                  <a:srgbClr val="0000FF"/>
                </a:solidFill>
                <a:latin typeface="Consolas"/>
                <a:cs typeface="Consolas"/>
              </a:rPr>
              <a:t>void</a:t>
            </a:r>
            <a:r>
              <a:rPr lang="en-US" sz="1400" dirty="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 dirty="0">
                <a:solidFill>
                  <a:srgbClr val="74531F"/>
                </a:solidFill>
                <a:latin typeface="Consolas"/>
                <a:cs typeface="Consolas"/>
              </a:rPr>
              <a:t>Ship</a:t>
            </a:r>
            <a:r>
              <a:rPr lang="en-US" sz="1400" dirty="0">
                <a:solidFill>
                  <a:srgbClr val="1F1F1F"/>
                </a:solidFill>
                <a:latin typeface="Consolas"/>
                <a:cs typeface="Consolas"/>
              </a:rPr>
              <a:t>(</a:t>
            </a:r>
            <a:r>
              <a:rPr lang="en-US" sz="1400" dirty="0" err="1">
                <a:solidFill>
                  <a:srgbClr val="2B91AF"/>
                </a:solidFill>
                <a:latin typeface="Consolas"/>
                <a:cs typeface="Consolas"/>
              </a:rPr>
              <a:t>Guid</a:t>
            </a:r>
            <a:r>
              <a:rPr lang="en-US" sz="1400" dirty="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 dirty="0" err="1">
                <a:solidFill>
                  <a:srgbClr val="1F1F1F"/>
                </a:solidFill>
                <a:latin typeface="Consolas"/>
                <a:cs typeface="Consolas"/>
              </a:rPr>
              <a:t>orderId</a:t>
            </a:r>
            <a:r>
              <a:rPr lang="en-US" sz="1400" dirty="0">
                <a:solidFill>
                  <a:srgbClr val="1F1F1F"/>
                </a:solidFill>
                <a:latin typeface="Consolas"/>
                <a:cs typeface="Consolas"/>
              </a:rPr>
              <a:t>) { }
</a:t>
            </a:r>
            <a:r>
              <a:rPr lang="en-US" sz="1400" dirty="0" err="1">
                <a:solidFill>
                  <a:srgbClr val="2B91AF"/>
                </a:solidFill>
                <a:latin typeface="Consolas"/>
                <a:cs typeface="Consolas"/>
              </a:rPr>
              <a:t>Guid</a:t>
            </a:r>
            <a:r>
              <a:rPr lang="en-US" sz="1400" dirty="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 dirty="0" err="1">
                <a:solidFill>
                  <a:srgbClr val="1F1F1F"/>
                </a:solidFill>
                <a:latin typeface="Consolas"/>
                <a:cs typeface="Consolas"/>
              </a:rPr>
              <a:t>customerId</a:t>
            </a:r>
            <a:r>
              <a:rPr lang="en-US" sz="1400" dirty="0">
                <a:solidFill>
                  <a:srgbClr val="1F1F1F"/>
                </a:solidFill>
                <a:latin typeface="Consolas"/>
                <a:cs typeface="Consolas"/>
              </a:rPr>
              <a:t> = </a:t>
            </a:r>
            <a:r>
              <a:rPr lang="en-US" sz="1400" dirty="0" err="1">
                <a:solidFill>
                  <a:srgbClr val="2B91AF"/>
                </a:solidFill>
                <a:latin typeface="Consolas"/>
                <a:cs typeface="Consolas"/>
              </a:rPr>
              <a:t>Guid</a:t>
            </a:r>
            <a:r>
              <a:rPr lang="en-US" sz="1400" dirty="0" err="1">
                <a:solidFill>
                  <a:srgbClr val="1F1F1F"/>
                </a:solidFill>
                <a:latin typeface="Consolas"/>
                <a:cs typeface="Consolas"/>
              </a:rPr>
              <a:t>.</a:t>
            </a:r>
            <a:r>
              <a:rPr lang="en-US" sz="1400" dirty="0" err="1">
                <a:solidFill>
                  <a:srgbClr val="74531F"/>
                </a:solidFill>
                <a:latin typeface="Consolas"/>
                <a:cs typeface="Consolas"/>
              </a:rPr>
              <a:t>NewGuid</a:t>
            </a:r>
            <a:r>
              <a:rPr lang="en-US" sz="1400" dirty="0">
                <a:solidFill>
                  <a:srgbClr val="1F1F1F"/>
                </a:solidFill>
                <a:latin typeface="Consolas"/>
                <a:cs typeface="Consolas"/>
              </a:rPr>
              <a:t>();
</a:t>
            </a:r>
            <a:r>
              <a:rPr lang="en-US" sz="1400" dirty="0">
                <a:solidFill>
                  <a:srgbClr val="74531F"/>
                </a:solidFill>
                <a:latin typeface="Consolas"/>
                <a:cs typeface="Consolas"/>
              </a:rPr>
              <a:t>Ship</a:t>
            </a:r>
            <a:r>
              <a:rPr lang="en-US" sz="1400" dirty="0">
                <a:solidFill>
                  <a:srgbClr val="1F1F1F"/>
                </a:solidFill>
                <a:latin typeface="Consolas"/>
                <a:cs typeface="Consolas"/>
              </a:rPr>
              <a:t>(</a:t>
            </a:r>
            <a:r>
              <a:rPr lang="en-US" sz="1400" dirty="0" err="1">
                <a:solidFill>
                  <a:srgbClr val="1F1F1F"/>
                </a:solidFill>
                <a:latin typeface="Consolas"/>
                <a:cs typeface="Consolas"/>
              </a:rPr>
              <a:t>customerId</a:t>
            </a:r>
            <a:r>
              <a:rPr lang="en-US" sz="1400" dirty="0">
                <a:solidFill>
                  <a:srgbClr val="1F1F1F"/>
                </a:solidFill>
                <a:latin typeface="Consolas"/>
                <a:cs typeface="Consolas"/>
              </a:rPr>
              <a:t>);  </a:t>
            </a:r>
            <a:r>
              <a:rPr lang="en-US" sz="1400" dirty="0">
                <a:solidFill>
                  <a:srgbClr val="008000"/>
                </a:solidFill>
                <a:latin typeface="Consolas"/>
                <a:cs typeface="Consolas"/>
              </a:rPr>
              <a:t>// Customer ID passed as Order ID</a:t>
            </a:r>
            <a:endParaRPr lang="en-US" sz="1400" dirty="0">
              <a:solidFill>
                <a:srgbClr val="1F3A5F"/>
              </a:solidFill>
              <a:latin typeface="Consolas"/>
              <a:cs typeface="Consola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D666EAC-8795-A74D-A1FD-B6F80E1EB25E}"/>
              </a:ext>
            </a:extLst>
          </p:cNvPr>
          <p:cNvSpPr txBox="1"/>
          <p:nvPr/>
        </p:nvSpPr>
        <p:spPr>
          <a:xfrm>
            <a:off x="571500" y="4470400"/>
            <a:ext cx="63500" cy="1752600"/>
          </a:xfrm>
          <a:prstGeom prst="rect">
            <a:avLst/>
          </a:prstGeom>
          <a:solidFill>
            <a:srgbClr val="5A7D5A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7215DF3-73B7-64CA-A6E8-72BCB50CC402}"/>
              </a:ext>
            </a:extLst>
          </p:cNvPr>
          <p:cNvSpPr txBox="1"/>
          <p:nvPr/>
        </p:nvSpPr>
        <p:spPr>
          <a:xfrm>
            <a:off x="635000" y="44704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 dirty="0">
                <a:solidFill>
                  <a:srgbClr val="5A7D5A"/>
                </a:solidFill>
                <a:latin typeface="Calibri"/>
                <a:cs typeface="Calibri"/>
              </a:rPr>
              <a:t>Right</a:t>
            </a:r>
            <a:r>
              <a:rPr lang="en-US" sz="1400" dirty="0">
                <a:solidFill>
                  <a:srgbClr val="1F3A5F"/>
                </a:solidFill>
                <a:latin typeface="Consolas"/>
                <a:cs typeface="Consolas"/>
              </a:rPr>
              <a:t>
</a:t>
            </a:r>
            <a:r>
              <a:rPr lang="en-US" sz="1400" dirty="0" err="1">
                <a:solidFill>
                  <a:srgbClr val="2B91AF"/>
                </a:solidFill>
                <a:latin typeface="Consolas"/>
                <a:cs typeface="Consolas"/>
              </a:rPr>
              <a:t>Guid</a:t>
            </a:r>
            <a:r>
              <a:rPr lang="en-US" sz="1400" dirty="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 dirty="0" err="1">
                <a:solidFill>
                  <a:srgbClr val="1F1F1F"/>
                </a:solidFill>
                <a:latin typeface="Consolas"/>
                <a:cs typeface="Consolas"/>
              </a:rPr>
              <a:t>orderId</a:t>
            </a:r>
            <a:r>
              <a:rPr lang="en-US" sz="1400" dirty="0">
                <a:solidFill>
                  <a:srgbClr val="1F1F1F"/>
                </a:solidFill>
                <a:latin typeface="Consolas"/>
                <a:cs typeface="Consolas"/>
              </a:rPr>
              <a:t> = </a:t>
            </a:r>
            <a:r>
              <a:rPr lang="en-US" sz="1400" dirty="0" err="1">
                <a:solidFill>
                  <a:srgbClr val="2B91AF"/>
                </a:solidFill>
                <a:latin typeface="Consolas"/>
                <a:cs typeface="Consolas"/>
              </a:rPr>
              <a:t>Guid</a:t>
            </a:r>
            <a:r>
              <a:rPr lang="en-US" sz="1400" dirty="0" err="1">
                <a:solidFill>
                  <a:srgbClr val="1F1F1F"/>
                </a:solidFill>
                <a:latin typeface="Consolas"/>
                <a:cs typeface="Consolas"/>
              </a:rPr>
              <a:t>.</a:t>
            </a:r>
            <a:r>
              <a:rPr lang="en-US" sz="1400" dirty="0" err="1">
                <a:solidFill>
                  <a:srgbClr val="74531F"/>
                </a:solidFill>
                <a:latin typeface="Consolas"/>
                <a:cs typeface="Consolas"/>
              </a:rPr>
              <a:t>NewGuid</a:t>
            </a:r>
            <a:r>
              <a:rPr lang="en-US" sz="1400" dirty="0">
                <a:solidFill>
                  <a:srgbClr val="1F1F1F"/>
                </a:solidFill>
                <a:latin typeface="Consolas"/>
                <a:cs typeface="Consolas"/>
              </a:rPr>
              <a:t>();
</a:t>
            </a:r>
            <a:r>
              <a:rPr lang="en-US" sz="1400" dirty="0">
                <a:solidFill>
                  <a:srgbClr val="74531F"/>
                </a:solidFill>
                <a:latin typeface="Consolas"/>
                <a:cs typeface="Consolas"/>
              </a:rPr>
              <a:t>Ship</a:t>
            </a:r>
            <a:r>
              <a:rPr lang="en-US" sz="1400" dirty="0">
                <a:solidFill>
                  <a:srgbClr val="1F1F1F"/>
                </a:solidFill>
                <a:latin typeface="Consolas"/>
                <a:cs typeface="Consolas"/>
              </a:rPr>
              <a:t>(</a:t>
            </a:r>
            <a:r>
              <a:rPr lang="en-US" sz="1400" dirty="0" err="1">
                <a:solidFill>
                  <a:srgbClr val="1F1F1F"/>
                </a:solidFill>
                <a:latin typeface="Consolas"/>
                <a:cs typeface="Consolas"/>
              </a:rPr>
              <a:t>orderId</a:t>
            </a:r>
            <a:r>
              <a:rPr lang="en-US" sz="1400" dirty="0">
                <a:solidFill>
                  <a:srgbClr val="1F1F1F"/>
                </a:solidFill>
                <a:latin typeface="Consolas"/>
                <a:cs typeface="Consolas"/>
              </a:rPr>
              <a:t>);</a:t>
            </a:r>
            <a:endParaRPr lang="en-US" sz="1400" dirty="0">
              <a:solidFill>
                <a:srgbClr val="1F3A5F"/>
              </a:solidFill>
              <a:latin typeface="Consolas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33146996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6C072E3-93BF-3841-BC61-405DD872DF30}"/>
              </a:ext>
            </a:extLst>
          </p:cNvPr>
          <p:cNvSpPr txBox="1"/>
          <p:nvPr/>
        </p:nvSpPr>
        <p:spPr>
          <a:xfrm>
            <a:off x="571500" y="1041400"/>
            <a:ext cx="8001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>
                <a:solidFill>
                  <a:srgbClr val="415A77"/>
                </a:solidFill>
              </a:rPr>
              <a:t>CORRECTNESS  ·  [StringSyntax] attribute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2EC275F-B4FC-0640-A922-AC5E8907C5F1}"/>
              </a:ext>
            </a:extLst>
          </p:cNvPr>
          <p:cNvSpPr txBox="1"/>
          <p:nvPr/>
        </p:nvSpPr>
        <p:spPr>
          <a:xfrm>
            <a:off x="571500" y="1320800"/>
            <a:ext cx="8001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3200" b="1">
                <a:solidFill>
                  <a:srgbClr val="1F3A5F"/>
                </a:solidFill>
              </a:rPr>
              <a:t>StringSyntaxAttributeAnalyzer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BFCA42-0FC4-2041-9F69-0FAB61811AFE}"/>
              </a:ext>
            </a:extLst>
          </p:cNvPr>
          <p:cNvSpPr txBox="1"/>
          <p:nvPr/>
        </p:nvSpPr>
        <p:spPr>
          <a:xfrm>
            <a:off x="571500" y="1879600"/>
            <a:ext cx="8001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b="1">
                <a:solidFill>
                  <a:srgbClr val="5A7D5A"/>
                </a:solidFill>
              </a:rPr>
              <a:t>Fixes:</a:t>
            </a:r>
            <a:r>
              <a:rPr lang="en-US">
                <a:solidFill>
                  <a:srgbClr val="415A77"/>
                </a:solidFill>
              </a:rPr>
              <a:t> strings passed to the wrong syntax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3827973-FA47-6D4F-BC9E-780C5DA19F19}"/>
              </a:ext>
            </a:extLst>
          </p:cNvPr>
          <p:cNvSpPr txBox="1"/>
          <p:nvPr/>
        </p:nvSpPr>
        <p:spPr>
          <a:xfrm>
            <a:off x="571500" y="2413000"/>
            <a:ext cx="63500" cy="1752600"/>
          </a:xfrm>
          <a:prstGeom prst="rect">
            <a:avLst/>
          </a:prstGeom>
          <a:solidFill>
            <a:srgbClr val="A14B4B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5762B8F-4E97-DD4E-8101-61736F5B8579}"/>
              </a:ext>
            </a:extLst>
          </p:cNvPr>
          <p:cNvSpPr txBox="1"/>
          <p:nvPr/>
        </p:nvSpPr>
        <p:spPr>
          <a:xfrm>
            <a:off x="635000" y="24130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A14B4B"/>
                </a:solidFill>
                <a:latin typeface="Calibri"/>
                <a:cs typeface="Calibri"/>
              </a:rPr>
              <a:t>Wrong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void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>
                <a:solidFill>
                  <a:srgbClr val="74531F"/>
                </a:solidFill>
                <a:latin typeface="Consolas"/>
                <a:cs typeface="Consolas"/>
              </a:rPr>
              <a:t>Match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
    [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StringSyntax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StringSyntaxAttribute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.Regex)] 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string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pattern) { }
[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StringSyntax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StringSyntaxAttribute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.Json)] 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string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json = </a:t>
            </a:r>
            <a:r>
              <a:rPr lang="en-US" sz="1400">
                <a:solidFill>
                  <a:srgbClr val="A31515"/>
                </a:solidFill>
                <a:latin typeface="Consolas"/>
                <a:cs typeface="Consolas"/>
              </a:rPr>
              <a:t>"{}"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;
</a:t>
            </a:r>
            <a:r>
              <a:rPr lang="en-US" sz="1400">
                <a:solidFill>
                  <a:srgbClr val="74531F"/>
                </a:solidFill>
                <a:latin typeface="Consolas"/>
                <a:cs typeface="Consolas"/>
              </a:rPr>
              <a:t>Match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(json);  </a:t>
            </a:r>
            <a:r>
              <a:rPr lang="en-US" sz="1400">
                <a:solidFill>
                  <a:srgbClr val="008000"/>
                </a:solidFill>
                <a:latin typeface="Consolas"/>
                <a:cs typeface="Consolas"/>
              </a:rPr>
              <a:t>// Json passed where Regex expected</a:t>
            </a:r>
            <a:endParaRPr lang="en-US" sz="1400">
              <a:solidFill>
                <a:srgbClr val="1F3A5F"/>
              </a:solidFill>
              <a:latin typeface="Consolas"/>
              <a:cs typeface="Consola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3E012B0-48AD-9F4A-813E-DA35DD9E4ED3}"/>
              </a:ext>
            </a:extLst>
          </p:cNvPr>
          <p:cNvSpPr txBox="1"/>
          <p:nvPr/>
        </p:nvSpPr>
        <p:spPr>
          <a:xfrm>
            <a:off x="571500" y="4470400"/>
            <a:ext cx="63500" cy="1752600"/>
          </a:xfrm>
          <a:prstGeom prst="rect">
            <a:avLst/>
          </a:prstGeom>
          <a:solidFill>
            <a:srgbClr val="5A7D5A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66BB2A6-77F7-E845-B121-5927680AFE40}"/>
              </a:ext>
            </a:extLst>
          </p:cNvPr>
          <p:cNvSpPr txBox="1"/>
          <p:nvPr/>
        </p:nvSpPr>
        <p:spPr>
          <a:xfrm>
            <a:off x="635000" y="44704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5A7D5A"/>
                </a:solidFill>
                <a:latin typeface="Calibri"/>
                <a:cs typeface="Calibri"/>
              </a:rPr>
              <a:t>Right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[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StringSyntax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StringSyntaxAttribute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.Regex)] 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string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pattern = </a:t>
            </a:r>
            <a:r>
              <a:rPr lang="en-US" sz="1400">
                <a:solidFill>
                  <a:srgbClr val="A31515"/>
                </a:solidFill>
                <a:latin typeface="Consolas"/>
                <a:cs typeface="Consolas"/>
              </a:rPr>
              <a:t>@"^\d+$"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;
</a:t>
            </a:r>
            <a:r>
              <a:rPr lang="en-US" sz="1400">
                <a:solidFill>
                  <a:srgbClr val="74531F"/>
                </a:solidFill>
                <a:latin typeface="Consolas"/>
                <a:cs typeface="Consolas"/>
              </a:rPr>
              <a:t>Match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(pattern);</a:t>
            </a:r>
            <a:endParaRPr lang="en-US" sz="1400">
              <a:solidFill>
                <a:srgbClr val="1F3A5F"/>
              </a:solidFill>
              <a:latin typeface="Consolas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38759795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26A0FFF-A0BB-A546-9441-B7044D561C51}"/>
              </a:ext>
            </a:extLst>
          </p:cNvPr>
          <p:cNvSpPr txBox="1"/>
          <p:nvPr/>
        </p:nvSpPr>
        <p:spPr>
          <a:xfrm>
            <a:off x="571500" y="1041400"/>
            <a:ext cx="8001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>
                <a:solidFill>
                  <a:srgbClr val="415A77"/>
                </a:solidFill>
              </a:rPr>
              <a:t>GENERAL  ·  RCS1118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6E2A6E3-B5DE-D542-8175-C425E52F548E}"/>
              </a:ext>
            </a:extLst>
          </p:cNvPr>
          <p:cNvSpPr txBox="1"/>
          <p:nvPr/>
        </p:nvSpPr>
        <p:spPr>
          <a:xfrm>
            <a:off x="571500" y="1320800"/>
            <a:ext cx="8001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3200" b="1">
                <a:solidFill>
                  <a:srgbClr val="1F3A5F"/>
                </a:solidFill>
              </a:rPr>
              <a:t>Roslynator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D9752DD-558F-704F-BC14-84F02839F633}"/>
              </a:ext>
            </a:extLst>
          </p:cNvPr>
          <p:cNvSpPr txBox="1"/>
          <p:nvPr/>
        </p:nvSpPr>
        <p:spPr>
          <a:xfrm>
            <a:off x="571500" y="1879600"/>
            <a:ext cx="8001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b="1">
                <a:solidFill>
                  <a:srgbClr val="5A7D5A"/>
                </a:solidFill>
              </a:rPr>
              <a:t>Fixes:</a:t>
            </a:r>
            <a:r>
              <a:rPr lang="en-US">
                <a:solidFill>
                  <a:srgbClr val="415A77"/>
                </a:solidFill>
              </a:rPr>
              <a:t> locals that should be const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ACEB6B3-2962-2941-A629-30C9E0FC6676}"/>
              </a:ext>
            </a:extLst>
          </p:cNvPr>
          <p:cNvSpPr txBox="1"/>
          <p:nvPr/>
        </p:nvSpPr>
        <p:spPr>
          <a:xfrm>
            <a:off x="571500" y="2413000"/>
            <a:ext cx="63500" cy="1752600"/>
          </a:xfrm>
          <a:prstGeom prst="rect">
            <a:avLst/>
          </a:prstGeom>
          <a:solidFill>
            <a:srgbClr val="A14B4B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D7FB6A1-8047-3941-9669-9251042CC61C}"/>
              </a:ext>
            </a:extLst>
          </p:cNvPr>
          <p:cNvSpPr txBox="1"/>
          <p:nvPr/>
        </p:nvSpPr>
        <p:spPr>
          <a:xfrm>
            <a:off x="635000" y="24130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A14B4B"/>
                </a:solidFill>
                <a:latin typeface="Calibri"/>
                <a:cs typeface="Calibri"/>
              </a:rPr>
              <a:t>Wrong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int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max = </a:t>
            </a:r>
            <a:r>
              <a:rPr lang="en-US" sz="1400">
                <a:solidFill>
                  <a:srgbClr val="098658"/>
                </a:solidFill>
                <a:latin typeface="Consolas"/>
                <a:cs typeface="Consolas"/>
              </a:rPr>
              <a:t>5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;</a:t>
            </a:r>
            <a:endParaRPr lang="en-US" sz="1400">
              <a:solidFill>
                <a:srgbClr val="1F3A5F"/>
              </a:solidFill>
              <a:latin typeface="Consolas"/>
              <a:cs typeface="Consola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3184A27-8CA2-684E-93E3-4F82F72D1AAA}"/>
              </a:ext>
            </a:extLst>
          </p:cNvPr>
          <p:cNvSpPr txBox="1"/>
          <p:nvPr/>
        </p:nvSpPr>
        <p:spPr>
          <a:xfrm>
            <a:off x="571500" y="4470400"/>
            <a:ext cx="63500" cy="1752600"/>
          </a:xfrm>
          <a:prstGeom prst="rect">
            <a:avLst/>
          </a:prstGeom>
          <a:solidFill>
            <a:srgbClr val="5A7D5A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37D815A-F29F-8A40-80E0-9CBDD76306D9}"/>
              </a:ext>
            </a:extLst>
          </p:cNvPr>
          <p:cNvSpPr txBox="1"/>
          <p:nvPr/>
        </p:nvSpPr>
        <p:spPr>
          <a:xfrm>
            <a:off x="635000" y="44704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5A7D5A"/>
                </a:solidFill>
                <a:latin typeface="Calibri"/>
                <a:cs typeface="Calibri"/>
              </a:rPr>
              <a:t>Right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const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int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max = </a:t>
            </a:r>
            <a:r>
              <a:rPr lang="en-US" sz="1400">
                <a:solidFill>
                  <a:srgbClr val="098658"/>
                </a:solidFill>
                <a:latin typeface="Consolas"/>
                <a:cs typeface="Consolas"/>
              </a:rPr>
              <a:t>5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;</a:t>
            </a:r>
            <a:endParaRPr lang="en-US" sz="1400">
              <a:solidFill>
                <a:srgbClr val="1F3A5F"/>
              </a:solidFill>
              <a:latin typeface="Consolas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26687131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421239A-5E78-5D4D-AE02-6EFB446F07D5}"/>
              </a:ext>
            </a:extLst>
          </p:cNvPr>
          <p:cNvSpPr txBox="1"/>
          <p:nvPr/>
        </p:nvSpPr>
        <p:spPr>
          <a:xfrm>
            <a:off x="571500" y="1041400"/>
            <a:ext cx="8001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>
                <a:solidFill>
                  <a:srgbClr val="415A77"/>
                </a:solidFill>
              </a:rPr>
              <a:t>GENERAL  ·  MA0006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FE868BA-DE3C-C441-BCF9-A80429B0F443}"/>
              </a:ext>
            </a:extLst>
          </p:cNvPr>
          <p:cNvSpPr txBox="1"/>
          <p:nvPr/>
        </p:nvSpPr>
        <p:spPr>
          <a:xfrm>
            <a:off x="571500" y="1320800"/>
            <a:ext cx="8001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3200" b="1">
                <a:solidFill>
                  <a:srgbClr val="1F3A5F"/>
                </a:solidFill>
              </a:rPr>
              <a:t>Meziantou.Analyzer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A1719E7-342A-9E41-85E9-475037428341}"/>
              </a:ext>
            </a:extLst>
          </p:cNvPr>
          <p:cNvSpPr txBox="1"/>
          <p:nvPr/>
        </p:nvSpPr>
        <p:spPr>
          <a:xfrm>
            <a:off x="571500" y="1879600"/>
            <a:ext cx="8001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b="1">
                <a:solidFill>
                  <a:srgbClr val="5A7D5A"/>
                </a:solidFill>
              </a:rPr>
              <a:t>Fixes:</a:t>
            </a:r>
            <a:r>
              <a:rPr lang="en-US">
                <a:solidFill>
                  <a:srgbClr val="415A77"/>
                </a:solidFill>
              </a:rPr>
              <a:t> ambiguous string comparison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E76D4E0-1A4F-3D41-8092-E0F4F1B84CAD}"/>
              </a:ext>
            </a:extLst>
          </p:cNvPr>
          <p:cNvSpPr txBox="1"/>
          <p:nvPr/>
        </p:nvSpPr>
        <p:spPr>
          <a:xfrm>
            <a:off x="571500" y="2413000"/>
            <a:ext cx="63500" cy="1752600"/>
          </a:xfrm>
          <a:prstGeom prst="rect">
            <a:avLst/>
          </a:prstGeom>
          <a:solidFill>
            <a:srgbClr val="A14B4B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799AF5D-5706-6A4B-945D-09687ED0ED97}"/>
              </a:ext>
            </a:extLst>
          </p:cNvPr>
          <p:cNvSpPr txBox="1"/>
          <p:nvPr/>
        </p:nvSpPr>
        <p:spPr>
          <a:xfrm>
            <a:off x="635000" y="24130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A14B4B"/>
                </a:solidFill>
                <a:latin typeface="Calibri"/>
                <a:cs typeface="Calibri"/>
              </a:rPr>
              <a:t>Wrong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</a:t>
            </a:r>
            <a:r>
              <a:rPr lang="en-US" sz="1400">
                <a:solidFill>
                  <a:srgbClr val="8F08C4"/>
                </a:solidFill>
                <a:latin typeface="Consolas"/>
                <a:cs typeface="Consolas"/>
              </a:rPr>
              <a:t>if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(a == b) { }</a:t>
            </a:r>
            <a:endParaRPr lang="en-US" sz="1400">
              <a:solidFill>
                <a:srgbClr val="1F3A5F"/>
              </a:solidFill>
              <a:latin typeface="Consolas"/>
              <a:cs typeface="Consola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87CCEB3-29BC-CD4C-B7B5-456997CECEA0}"/>
              </a:ext>
            </a:extLst>
          </p:cNvPr>
          <p:cNvSpPr txBox="1"/>
          <p:nvPr/>
        </p:nvSpPr>
        <p:spPr>
          <a:xfrm>
            <a:off x="571500" y="4470400"/>
            <a:ext cx="63500" cy="1752600"/>
          </a:xfrm>
          <a:prstGeom prst="rect">
            <a:avLst/>
          </a:prstGeom>
          <a:solidFill>
            <a:srgbClr val="5A7D5A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2155781-7242-3044-BADB-E498728BADF7}"/>
              </a:ext>
            </a:extLst>
          </p:cNvPr>
          <p:cNvSpPr txBox="1"/>
          <p:nvPr/>
        </p:nvSpPr>
        <p:spPr>
          <a:xfrm>
            <a:off x="635000" y="44704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5A7D5A"/>
                </a:solidFill>
                <a:latin typeface="Calibri"/>
                <a:cs typeface="Calibri"/>
              </a:rPr>
              <a:t>Right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</a:t>
            </a:r>
            <a:r>
              <a:rPr lang="en-US" sz="1400">
                <a:solidFill>
                  <a:srgbClr val="8F08C4"/>
                </a:solidFill>
                <a:latin typeface="Consolas"/>
                <a:cs typeface="Consolas"/>
              </a:rPr>
              <a:t>if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(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string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.</a:t>
            </a:r>
            <a:r>
              <a:rPr lang="en-US" sz="1400">
                <a:solidFill>
                  <a:srgbClr val="74531F"/>
                </a:solidFill>
                <a:latin typeface="Consolas"/>
                <a:cs typeface="Consolas"/>
              </a:rPr>
              <a:t>Equals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(a, b, 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StringComparison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.Ordinal)) { }</a:t>
            </a:r>
            <a:endParaRPr lang="en-US" sz="1400">
              <a:solidFill>
                <a:srgbClr val="1F3A5F"/>
              </a:solidFill>
              <a:latin typeface="Consolas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30378328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081DF7C-8BF1-5C49-B1A4-8B01659797E6}"/>
              </a:ext>
            </a:extLst>
          </p:cNvPr>
          <p:cNvSpPr txBox="1"/>
          <p:nvPr/>
        </p:nvSpPr>
        <p:spPr>
          <a:xfrm>
            <a:off x="571500" y="1041400"/>
            <a:ext cx="8001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>
                <a:solidFill>
                  <a:srgbClr val="415A77"/>
                </a:solidFill>
              </a:rPr>
              <a:t>CORRECTNESS  ·  ERP022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4A3B81F-9A16-B349-8E9B-F30A07B6692A}"/>
              </a:ext>
            </a:extLst>
          </p:cNvPr>
          <p:cNvSpPr txBox="1"/>
          <p:nvPr/>
        </p:nvSpPr>
        <p:spPr>
          <a:xfrm>
            <a:off x="571500" y="1320800"/>
            <a:ext cx="8001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3200" b="1">
                <a:solidFill>
                  <a:srgbClr val="1F3A5F"/>
                </a:solidFill>
              </a:rPr>
              <a:t>ErrorProne.NET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2390497-D220-774A-BC2A-263792F91E27}"/>
              </a:ext>
            </a:extLst>
          </p:cNvPr>
          <p:cNvSpPr txBox="1"/>
          <p:nvPr/>
        </p:nvSpPr>
        <p:spPr>
          <a:xfrm>
            <a:off x="571500" y="1879600"/>
            <a:ext cx="8001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b="1">
                <a:solidFill>
                  <a:srgbClr val="5A7D5A"/>
                </a:solidFill>
              </a:rPr>
              <a:t>Fixes:</a:t>
            </a:r>
            <a:r>
              <a:rPr lang="en-US">
                <a:solidFill>
                  <a:srgbClr val="415A77"/>
                </a:solidFill>
              </a:rPr>
              <a:t> swallowed exceptions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08326AF-E9CF-1D47-8DEE-2B1BBB79C1D9}"/>
              </a:ext>
            </a:extLst>
          </p:cNvPr>
          <p:cNvSpPr txBox="1"/>
          <p:nvPr/>
        </p:nvSpPr>
        <p:spPr>
          <a:xfrm>
            <a:off x="571500" y="2413000"/>
            <a:ext cx="63500" cy="1752600"/>
          </a:xfrm>
          <a:prstGeom prst="rect">
            <a:avLst/>
          </a:prstGeom>
          <a:solidFill>
            <a:srgbClr val="A14B4B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C0C9B57-7A88-9444-A962-0056C8F0FEF6}"/>
              </a:ext>
            </a:extLst>
          </p:cNvPr>
          <p:cNvSpPr txBox="1"/>
          <p:nvPr/>
        </p:nvSpPr>
        <p:spPr>
          <a:xfrm>
            <a:off x="635000" y="24130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A14B4B"/>
                </a:solidFill>
                <a:latin typeface="Calibri"/>
                <a:cs typeface="Calibri"/>
              </a:rPr>
              <a:t>Wrong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</a:t>
            </a:r>
            <a:r>
              <a:rPr lang="en-US" sz="1400">
                <a:solidFill>
                  <a:srgbClr val="8F08C4"/>
                </a:solidFill>
                <a:latin typeface="Consolas"/>
                <a:cs typeface="Consolas"/>
              </a:rPr>
              <a:t>try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{ </a:t>
            </a:r>
            <a:r>
              <a:rPr lang="en-US" sz="1400">
                <a:solidFill>
                  <a:srgbClr val="74531F"/>
                </a:solidFill>
                <a:latin typeface="Consolas"/>
                <a:cs typeface="Consolas"/>
              </a:rPr>
              <a:t>Save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(); } </a:t>
            </a:r>
            <a:r>
              <a:rPr lang="en-US" sz="1400">
                <a:solidFill>
                  <a:srgbClr val="8F08C4"/>
                </a:solidFill>
                <a:latin typeface="Consolas"/>
                <a:cs typeface="Consolas"/>
              </a:rPr>
              <a:t>catch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{ }</a:t>
            </a:r>
            <a:endParaRPr lang="en-US" sz="1400">
              <a:solidFill>
                <a:srgbClr val="1F3A5F"/>
              </a:solidFill>
              <a:latin typeface="Consolas"/>
              <a:cs typeface="Consola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F8F3BDC-60C3-664F-83DB-51B6B676C022}"/>
              </a:ext>
            </a:extLst>
          </p:cNvPr>
          <p:cNvSpPr txBox="1"/>
          <p:nvPr/>
        </p:nvSpPr>
        <p:spPr>
          <a:xfrm>
            <a:off x="571500" y="4470400"/>
            <a:ext cx="63500" cy="1752600"/>
          </a:xfrm>
          <a:prstGeom prst="rect">
            <a:avLst/>
          </a:prstGeom>
          <a:solidFill>
            <a:srgbClr val="5A7D5A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2C6BF29-305E-7743-BD18-D18FC05D916F}"/>
              </a:ext>
            </a:extLst>
          </p:cNvPr>
          <p:cNvSpPr txBox="1"/>
          <p:nvPr/>
        </p:nvSpPr>
        <p:spPr>
          <a:xfrm>
            <a:off x="635000" y="44704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5A7D5A"/>
                </a:solidFill>
                <a:latin typeface="Calibri"/>
                <a:cs typeface="Calibri"/>
              </a:rPr>
              <a:t>Right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</a:t>
            </a:r>
            <a:r>
              <a:rPr lang="en-US" sz="1400">
                <a:solidFill>
                  <a:srgbClr val="8F08C4"/>
                </a:solidFill>
                <a:latin typeface="Consolas"/>
                <a:cs typeface="Consolas"/>
              </a:rPr>
              <a:t>try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{ </a:t>
            </a:r>
            <a:r>
              <a:rPr lang="en-US" sz="1400">
                <a:solidFill>
                  <a:srgbClr val="74531F"/>
                </a:solidFill>
                <a:latin typeface="Consolas"/>
                <a:cs typeface="Consolas"/>
              </a:rPr>
              <a:t>Save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(); }
</a:t>
            </a:r>
            <a:r>
              <a:rPr lang="en-US" sz="1400">
                <a:solidFill>
                  <a:srgbClr val="8F08C4"/>
                </a:solidFill>
                <a:latin typeface="Consolas"/>
                <a:cs typeface="Consolas"/>
              </a:rPr>
              <a:t>catch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(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Exception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e)
{
    logger.</a:t>
            </a:r>
            <a:r>
              <a:rPr lang="en-US" sz="1400">
                <a:solidFill>
                  <a:srgbClr val="74531F"/>
                </a:solidFill>
                <a:latin typeface="Consolas"/>
                <a:cs typeface="Consolas"/>
              </a:rPr>
              <a:t>LogError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(e, </a:t>
            </a:r>
            <a:r>
              <a:rPr lang="en-US" sz="1400">
                <a:solidFill>
                  <a:srgbClr val="A31515"/>
                </a:solidFill>
                <a:latin typeface="Consolas"/>
                <a:cs typeface="Consolas"/>
              </a:rPr>
              <a:t>"Save failed"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);
    </a:t>
            </a:r>
            <a:r>
              <a:rPr lang="en-US" sz="1400">
                <a:solidFill>
                  <a:srgbClr val="8F08C4"/>
                </a:solidFill>
                <a:latin typeface="Consolas"/>
                <a:cs typeface="Consolas"/>
              </a:rPr>
              <a:t>throw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;
}</a:t>
            </a:r>
            <a:endParaRPr lang="en-US" sz="1400">
              <a:solidFill>
                <a:srgbClr val="1F3A5F"/>
              </a:solidFill>
              <a:latin typeface="Consolas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29617783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B789A4F-7B19-8346-8C81-904198C2CE54}"/>
              </a:ext>
            </a:extLst>
          </p:cNvPr>
          <p:cNvSpPr txBox="1"/>
          <p:nvPr/>
        </p:nvSpPr>
        <p:spPr>
          <a:xfrm>
            <a:off x="571500" y="1041400"/>
            <a:ext cx="8001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>
                <a:solidFill>
                  <a:srgbClr val="415A77"/>
                </a:solidFill>
              </a:rPr>
              <a:t>GENERAL  ·  GU0011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E9CF642-346D-A44E-9A5E-5A6DCA5EF856}"/>
              </a:ext>
            </a:extLst>
          </p:cNvPr>
          <p:cNvSpPr txBox="1"/>
          <p:nvPr/>
        </p:nvSpPr>
        <p:spPr>
          <a:xfrm>
            <a:off x="571500" y="1320800"/>
            <a:ext cx="8001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3200" b="1">
                <a:solidFill>
                  <a:srgbClr val="1F3A5F"/>
                </a:solidFill>
              </a:rPr>
              <a:t>Gu.Analyzers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BA92930-79A0-9244-A009-B9C1C486407E}"/>
              </a:ext>
            </a:extLst>
          </p:cNvPr>
          <p:cNvSpPr txBox="1"/>
          <p:nvPr/>
        </p:nvSpPr>
        <p:spPr>
          <a:xfrm>
            <a:off x="571500" y="1879600"/>
            <a:ext cx="8001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b="1">
                <a:solidFill>
                  <a:srgbClr val="5A7D5A"/>
                </a:solidFill>
              </a:rPr>
              <a:t>Fixes:</a:t>
            </a:r>
            <a:r>
              <a:rPr lang="en-US">
                <a:solidFill>
                  <a:srgbClr val="415A77"/>
                </a:solidFill>
              </a:rPr>
              <a:t> ignored return values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C9C54AE-2FA2-2847-8A73-C5FC15461D50}"/>
              </a:ext>
            </a:extLst>
          </p:cNvPr>
          <p:cNvSpPr txBox="1"/>
          <p:nvPr/>
        </p:nvSpPr>
        <p:spPr>
          <a:xfrm>
            <a:off x="571500" y="2413000"/>
            <a:ext cx="63500" cy="1752600"/>
          </a:xfrm>
          <a:prstGeom prst="rect">
            <a:avLst/>
          </a:prstGeom>
          <a:solidFill>
            <a:srgbClr val="A14B4B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B13BE7A-7693-8C4A-870B-6327D1E80F08}"/>
              </a:ext>
            </a:extLst>
          </p:cNvPr>
          <p:cNvSpPr txBox="1"/>
          <p:nvPr/>
        </p:nvSpPr>
        <p:spPr>
          <a:xfrm>
            <a:off x="635000" y="24130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A14B4B"/>
                </a:solidFill>
                <a:latin typeface="Calibri"/>
                <a:cs typeface="Calibri"/>
              </a:rPr>
              <a:t>Wrong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name.</a:t>
            </a:r>
            <a:r>
              <a:rPr lang="en-US" sz="1400">
                <a:solidFill>
                  <a:srgbClr val="74531F"/>
                </a:solidFill>
                <a:latin typeface="Consolas"/>
                <a:cs typeface="Consolas"/>
              </a:rPr>
              <a:t>Trim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();</a:t>
            </a:r>
            <a:endParaRPr lang="en-US" sz="1400">
              <a:solidFill>
                <a:srgbClr val="1F3A5F"/>
              </a:solidFill>
              <a:latin typeface="Consolas"/>
              <a:cs typeface="Consola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D1B2E2C-0B50-CB48-BBEE-AC63C288D912}"/>
              </a:ext>
            </a:extLst>
          </p:cNvPr>
          <p:cNvSpPr txBox="1"/>
          <p:nvPr/>
        </p:nvSpPr>
        <p:spPr>
          <a:xfrm>
            <a:off x="571500" y="4470400"/>
            <a:ext cx="63500" cy="1752600"/>
          </a:xfrm>
          <a:prstGeom prst="rect">
            <a:avLst/>
          </a:prstGeom>
          <a:solidFill>
            <a:srgbClr val="5A7D5A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0E08434-AD37-E04A-A664-E97FAB3D6D01}"/>
              </a:ext>
            </a:extLst>
          </p:cNvPr>
          <p:cNvSpPr txBox="1"/>
          <p:nvPr/>
        </p:nvSpPr>
        <p:spPr>
          <a:xfrm>
            <a:off x="635000" y="44704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5A7D5A"/>
                </a:solidFill>
                <a:latin typeface="Calibri"/>
                <a:cs typeface="Calibri"/>
              </a:rPr>
              <a:t>Right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name = name.</a:t>
            </a:r>
            <a:r>
              <a:rPr lang="en-US" sz="1400">
                <a:solidFill>
                  <a:srgbClr val="74531F"/>
                </a:solidFill>
                <a:latin typeface="Consolas"/>
                <a:cs typeface="Consolas"/>
              </a:rPr>
              <a:t>Trim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();</a:t>
            </a:r>
            <a:endParaRPr lang="en-US" sz="1400">
              <a:solidFill>
                <a:srgbClr val="1F3A5F"/>
              </a:solidFill>
              <a:latin typeface="Consolas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4773342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D8765C5-16C4-7245-8D5A-FE8D63C1EF7F}"/>
              </a:ext>
            </a:extLst>
          </p:cNvPr>
          <p:cNvSpPr txBox="1"/>
          <p:nvPr/>
        </p:nvSpPr>
        <p:spPr>
          <a:xfrm>
            <a:off x="571500" y="1041400"/>
            <a:ext cx="8001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>
                <a:solidFill>
                  <a:srgbClr val="415A77"/>
                </a:solidFill>
              </a:rPr>
              <a:t>GENERAL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C07DABD-8B1E-8340-A06A-C09FA2784C18}"/>
              </a:ext>
            </a:extLst>
          </p:cNvPr>
          <p:cNvSpPr txBox="1"/>
          <p:nvPr/>
        </p:nvSpPr>
        <p:spPr>
          <a:xfrm>
            <a:off x="571500" y="1320800"/>
            <a:ext cx="8001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3200" b="1">
                <a:solidFill>
                  <a:srgbClr val="1F3A5F"/>
                </a:solidFill>
              </a:rPr>
              <a:t>Wintellect.Analyzers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1847FB8-50C6-D14C-8990-FE107B9B6013}"/>
              </a:ext>
            </a:extLst>
          </p:cNvPr>
          <p:cNvSpPr txBox="1"/>
          <p:nvPr/>
        </p:nvSpPr>
        <p:spPr>
          <a:xfrm>
            <a:off x="571500" y="1879600"/>
            <a:ext cx="8001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b="1">
                <a:solidFill>
                  <a:srgbClr val="5A7D5A"/>
                </a:solidFill>
              </a:rPr>
              <a:t>Fixes:</a:t>
            </a:r>
            <a:r>
              <a:rPr lang="en-US">
                <a:solidFill>
                  <a:srgbClr val="415A77"/>
                </a:solidFill>
              </a:rPr>
              <a:t> opaque objects in the debugger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ED60223-0966-C246-A8FA-2E42E9EAE388}"/>
              </a:ext>
            </a:extLst>
          </p:cNvPr>
          <p:cNvSpPr txBox="1"/>
          <p:nvPr/>
        </p:nvSpPr>
        <p:spPr>
          <a:xfrm>
            <a:off x="571500" y="2413000"/>
            <a:ext cx="63500" cy="1752600"/>
          </a:xfrm>
          <a:prstGeom prst="rect">
            <a:avLst/>
          </a:prstGeom>
          <a:solidFill>
            <a:srgbClr val="A14B4B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6E9230C-5809-D54C-B03A-66CAC4726121}"/>
              </a:ext>
            </a:extLst>
          </p:cNvPr>
          <p:cNvSpPr txBox="1"/>
          <p:nvPr/>
        </p:nvSpPr>
        <p:spPr>
          <a:xfrm>
            <a:off x="635000" y="24130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A14B4B"/>
                </a:solidFill>
                <a:latin typeface="Calibri"/>
                <a:cs typeface="Calibri"/>
              </a:rPr>
              <a:t>Wrong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public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class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Order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{ 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public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int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Id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; 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public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string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Name; }</a:t>
            </a:r>
            <a:endParaRPr lang="en-US" sz="1400">
              <a:solidFill>
                <a:srgbClr val="1F3A5F"/>
              </a:solidFill>
              <a:latin typeface="Consolas"/>
              <a:cs typeface="Consola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0D7C1F1-1913-6C41-9294-F4BECF7DFE5E}"/>
              </a:ext>
            </a:extLst>
          </p:cNvPr>
          <p:cNvSpPr txBox="1"/>
          <p:nvPr/>
        </p:nvSpPr>
        <p:spPr>
          <a:xfrm>
            <a:off x="571500" y="4470400"/>
            <a:ext cx="63500" cy="1752600"/>
          </a:xfrm>
          <a:prstGeom prst="rect">
            <a:avLst/>
          </a:prstGeom>
          <a:solidFill>
            <a:srgbClr val="5A7D5A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7382A2-E709-E44D-93E5-B9C2C2F5CAC2}"/>
              </a:ext>
            </a:extLst>
          </p:cNvPr>
          <p:cNvSpPr txBox="1"/>
          <p:nvPr/>
        </p:nvSpPr>
        <p:spPr>
          <a:xfrm>
            <a:off x="635000" y="44704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5A7D5A"/>
                </a:solidFill>
                <a:latin typeface="Calibri"/>
                <a:cs typeface="Calibri"/>
              </a:rPr>
              <a:t>Right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[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DebuggerDisplay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</a:t>
            </a:r>
            <a:r>
              <a:rPr lang="en-US" sz="1400">
                <a:solidFill>
                  <a:srgbClr val="A31515"/>
                </a:solidFill>
                <a:latin typeface="Consolas"/>
                <a:cs typeface="Consolas"/>
              </a:rPr>
              <a:t>"{Id}: {Name}"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)]
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public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class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Order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{ 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public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int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Id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; 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public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string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Name; }</a:t>
            </a:r>
            <a:endParaRPr lang="en-US" sz="1400">
              <a:solidFill>
                <a:srgbClr val="1F3A5F"/>
              </a:solidFill>
              <a:latin typeface="Consolas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40667239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DDE3BC6-2651-FC4E-BFD9-729BACED6904}"/>
              </a:ext>
            </a:extLst>
          </p:cNvPr>
          <p:cNvSpPr txBox="1"/>
          <p:nvPr/>
        </p:nvSpPr>
        <p:spPr>
          <a:xfrm>
            <a:off x="571500" y="1041400"/>
            <a:ext cx="8001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>
                <a:solidFill>
                  <a:srgbClr val="415A77"/>
                </a:solidFill>
              </a:rPr>
              <a:t>GENERAL  ·  CA1822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1310DA8-F1CA-FB4F-A27E-08D0BDA766A0}"/>
              </a:ext>
            </a:extLst>
          </p:cNvPr>
          <p:cNvSpPr txBox="1"/>
          <p:nvPr/>
        </p:nvSpPr>
        <p:spPr>
          <a:xfrm>
            <a:off x="571500" y="1320800"/>
            <a:ext cx="8001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3200" b="1">
                <a:solidFill>
                  <a:srgbClr val="1F3A5F"/>
                </a:solidFill>
              </a:rPr>
              <a:t>Microsoft.CodeAnalysis.NetAnalyzers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117C0E2-C72E-EB47-832D-C3DE940BD76C}"/>
              </a:ext>
            </a:extLst>
          </p:cNvPr>
          <p:cNvSpPr txBox="1"/>
          <p:nvPr/>
        </p:nvSpPr>
        <p:spPr>
          <a:xfrm>
            <a:off x="571500" y="1879600"/>
            <a:ext cx="8001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b="1">
                <a:solidFill>
                  <a:srgbClr val="5A7D5A"/>
                </a:solidFill>
              </a:rPr>
              <a:t>Fixes:</a:t>
            </a:r>
            <a:r>
              <a:rPr lang="en-US">
                <a:solidFill>
                  <a:srgbClr val="415A77"/>
                </a:solidFill>
              </a:rPr>
              <a:t> instance members that should be static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99D1AF6-C90B-3341-B819-2CCDB865DC13}"/>
              </a:ext>
            </a:extLst>
          </p:cNvPr>
          <p:cNvSpPr txBox="1"/>
          <p:nvPr/>
        </p:nvSpPr>
        <p:spPr>
          <a:xfrm>
            <a:off x="571500" y="2413000"/>
            <a:ext cx="63500" cy="1752600"/>
          </a:xfrm>
          <a:prstGeom prst="rect">
            <a:avLst/>
          </a:prstGeom>
          <a:solidFill>
            <a:srgbClr val="A14B4B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D89EDB5-B8FB-B645-A880-C475B784CE83}"/>
              </a:ext>
            </a:extLst>
          </p:cNvPr>
          <p:cNvSpPr txBox="1"/>
          <p:nvPr/>
        </p:nvSpPr>
        <p:spPr>
          <a:xfrm>
            <a:off x="635000" y="24130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A14B4B"/>
                </a:solidFill>
                <a:latin typeface="Calibri"/>
                <a:cs typeface="Calibri"/>
              </a:rPr>
              <a:t>Wrong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public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int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>
                <a:solidFill>
                  <a:srgbClr val="74531F"/>
                </a:solidFill>
                <a:latin typeface="Consolas"/>
                <a:cs typeface="Consolas"/>
              </a:rPr>
              <a:t>Add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int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a, 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int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b) =&gt; a + b;</a:t>
            </a:r>
            <a:endParaRPr lang="en-US" sz="1400">
              <a:solidFill>
                <a:srgbClr val="1F3A5F"/>
              </a:solidFill>
              <a:latin typeface="Consolas"/>
              <a:cs typeface="Consola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0D12960-042B-614C-A648-9C1BC8201872}"/>
              </a:ext>
            </a:extLst>
          </p:cNvPr>
          <p:cNvSpPr txBox="1"/>
          <p:nvPr/>
        </p:nvSpPr>
        <p:spPr>
          <a:xfrm>
            <a:off x="571500" y="4470400"/>
            <a:ext cx="63500" cy="1752600"/>
          </a:xfrm>
          <a:prstGeom prst="rect">
            <a:avLst/>
          </a:prstGeom>
          <a:solidFill>
            <a:srgbClr val="5A7D5A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7C16BA3-65CA-8147-BE14-393EA450E504}"/>
              </a:ext>
            </a:extLst>
          </p:cNvPr>
          <p:cNvSpPr txBox="1"/>
          <p:nvPr/>
        </p:nvSpPr>
        <p:spPr>
          <a:xfrm>
            <a:off x="635000" y="44704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5A7D5A"/>
                </a:solidFill>
                <a:latin typeface="Calibri"/>
                <a:cs typeface="Calibri"/>
              </a:rPr>
              <a:t>Right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public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static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int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>
                <a:solidFill>
                  <a:srgbClr val="74531F"/>
                </a:solidFill>
                <a:latin typeface="Consolas"/>
                <a:cs typeface="Consolas"/>
              </a:rPr>
              <a:t>Add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int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a, 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int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b) =&gt; a + b;</a:t>
            </a:r>
            <a:endParaRPr lang="en-US" sz="1400">
              <a:solidFill>
                <a:srgbClr val="1F3A5F"/>
              </a:solidFill>
              <a:latin typeface="Consolas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4616041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6D9C066-12A7-9246-9C3E-6F7D504029F8}"/>
              </a:ext>
            </a:extLst>
          </p:cNvPr>
          <p:cNvSpPr txBox="1"/>
          <p:nvPr/>
        </p:nvSpPr>
        <p:spPr>
          <a:xfrm>
            <a:off x="571500" y="1041400"/>
            <a:ext cx="8001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>
                <a:solidFill>
                  <a:srgbClr val="415A77"/>
                </a:solidFill>
              </a:rPr>
              <a:t>CONCURRENCY  ·  AsyncFixer02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833313E-1DEB-B041-9F31-A7459EB184A5}"/>
              </a:ext>
            </a:extLst>
          </p:cNvPr>
          <p:cNvSpPr txBox="1"/>
          <p:nvPr/>
        </p:nvSpPr>
        <p:spPr>
          <a:xfrm>
            <a:off x="571500" y="1320800"/>
            <a:ext cx="8001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3200" b="1">
                <a:solidFill>
                  <a:srgbClr val="1F3A5F"/>
                </a:solidFill>
              </a:rPr>
              <a:t>AsyncFixer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802FA48-4160-A043-B45B-707A3C2867AB}"/>
              </a:ext>
            </a:extLst>
          </p:cNvPr>
          <p:cNvSpPr txBox="1"/>
          <p:nvPr/>
        </p:nvSpPr>
        <p:spPr>
          <a:xfrm>
            <a:off x="571500" y="1879600"/>
            <a:ext cx="8001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b="1">
                <a:solidFill>
                  <a:srgbClr val="5A7D5A"/>
                </a:solidFill>
              </a:rPr>
              <a:t>Fixes:</a:t>
            </a:r>
            <a:r>
              <a:rPr lang="en-US">
                <a:solidFill>
                  <a:srgbClr val="415A77"/>
                </a:solidFill>
              </a:rPr>
              <a:t> blocking calls in async code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2FA6C9E-E5F5-544E-911E-509F88CC6360}"/>
              </a:ext>
            </a:extLst>
          </p:cNvPr>
          <p:cNvSpPr txBox="1"/>
          <p:nvPr/>
        </p:nvSpPr>
        <p:spPr>
          <a:xfrm>
            <a:off x="571500" y="2413000"/>
            <a:ext cx="63500" cy="1752600"/>
          </a:xfrm>
          <a:prstGeom prst="rect">
            <a:avLst/>
          </a:prstGeom>
          <a:solidFill>
            <a:srgbClr val="A14B4B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ACC456C-D733-8442-9043-CEDA19EED884}"/>
              </a:ext>
            </a:extLst>
          </p:cNvPr>
          <p:cNvSpPr txBox="1"/>
          <p:nvPr/>
        </p:nvSpPr>
        <p:spPr>
          <a:xfrm>
            <a:off x="635000" y="24130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A14B4B"/>
                </a:solidFill>
                <a:latin typeface="Calibri"/>
                <a:cs typeface="Calibri"/>
              </a:rPr>
              <a:t>Wrong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async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Task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>
                <a:solidFill>
                  <a:srgbClr val="74531F"/>
                </a:solidFill>
                <a:latin typeface="Consolas"/>
                <a:cs typeface="Consolas"/>
              </a:rPr>
              <a:t>Run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() { 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Thread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.</a:t>
            </a:r>
            <a:r>
              <a:rPr lang="en-US" sz="1400">
                <a:solidFill>
                  <a:srgbClr val="74531F"/>
                </a:solidFill>
                <a:latin typeface="Consolas"/>
                <a:cs typeface="Consolas"/>
              </a:rPr>
              <a:t>Sleep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</a:t>
            </a:r>
            <a:r>
              <a:rPr lang="en-US" sz="1400">
                <a:solidFill>
                  <a:srgbClr val="098658"/>
                </a:solidFill>
                <a:latin typeface="Consolas"/>
                <a:cs typeface="Consolas"/>
              </a:rPr>
              <a:t>1000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); }</a:t>
            </a:r>
            <a:endParaRPr lang="en-US" sz="1400">
              <a:solidFill>
                <a:srgbClr val="1F3A5F"/>
              </a:solidFill>
              <a:latin typeface="Consolas"/>
              <a:cs typeface="Consola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A01E517-8440-EB42-8328-F6C5DD87A060}"/>
              </a:ext>
            </a:extLst>
          </p:cNvPr>
          <p:cNvSpPr txBox="1"/>
          <p:nvPr/>
        </p:nvSpPr>
        <p:spPr>
          <a:xfrm>
            <a:off x="571500" y="4470400"/>
            <a:ext cx="63500" cy="1752600"/>
          </a:xfrm>
          <a:prstGeom prst="rect">
            <a:avLst/>
          </a:prstGeom>
          <a:solidFill>
            <a:srgbClr val="5A7D5A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E1A1FDA-C8BB-7A4F-A9A4-4FB40BF7549C}"/>
              </a:ext>
            </a:extLst>
          </p:cNvPr>
          <p:cNvSpPr txBox="1"/>
          <p:nvPr/>
        </p:nvSpPr>
        <p:spPr>
          <a:xfrm>
            <a:off x="635000" y="44704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5A7D5A"/>
                </a:solidFill>
                <a:latin typeface="Calibri"/>
                <a:cs typeface="Calibri"/>
              </a:rPr>
              <a:t>Right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async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Task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>
                <a:solidFill>
                  <a:srgbClr val="74531F"/>
                </a:solidFill>
                <a:latin typeface="Consolas"/>
                <a:cs typeface="Consolas"/>
              </a:rPr>
              <a:t>Run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() { </a:t>
            </a:r>
            <a:r>
              <a:rPr lang="en-US" sz="1400">
                <a:solidFill>
                  <a:srgbClr val="8F08C4"/>
                </a:solidFill>
                <a:latin typeface="Consolas"/>
                <a:cs typeface="Consolas"/>
              </a:rPr>
              <a:t>await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Task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.</a:t>
            </a:r>
            <a:r>
              <a:rPr lang="en-US" sz="1400">
                <a:solidFill>
                  <a:srgbClr val="74531F"/>
                </a:solidFill>
                <a:latin typeface="Consolas"/>
                <a:cs typeface="Consolas"/>
              </a:rPr>
              <a:t>Delay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</a:t>
            </a:r>
            <a:r>
              <a:rPr lang="en-US" sz="1400">
                <a:solidFill>
                  <a:srgbClr val="098658"/>
                </a:solidFill>
                <a:latin typeface="Consolas"/>
                <a:cs typeface="Consolas"/>
              </a:rPr>
              <a:t>1000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); }</a:t>
            </a:r>
            <a:endParaRPr lang="en-US" sz="1400">
              <a:solidFill>
                <a:srgbClr val="1F3A5F"/>
              </a:solidFill>
              <a:latin typeface="Consolas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30563207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98E6174-CE9E-F848-9945-421836996169}"/>
              </a:ext>
            </a:extLst>
          </p:cNvPr>
          <p:cNvSpPr txBox="1"/>
          <p:nvPr/>
        </p:nvSpPr>
        <p:spPr>
          <a:xfrm>
            <a:off x="571500" y="1041400"/>
            <a:ext cx="8001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>
                <a:solidFill>
                  <a:srgbClr val="415A77"/>
                </a:solidFill>
              </a:rPr>
              <a:t>CONCURRENCY  ·  IDISP001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B654941-47AC-1E4F-8194-0ABD3A05F2AE}"/>
              </a:ext>
            </a:extLst>
          </p:cNvPr>
          <p:cNvSpPr txBox="1"/>
          <p:nvPr/>
        </p:nvSpPr>
        <p:spPr>
          <a:xfrm>
            <a:off x="571500" y="1320800"/>
            <a:ext cx="8001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3200" b="1">
                <a:solidFill>
                  <a:srgbClr val="1F3A5F"/>
                </a:solidFill>
              </a:rPr>
              <a:t>IDisposableAnalyzers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78B1B05-0916-1A47-B1F1-A470F04C1715}"/>
              </a:ext>
            </a:extLst>
          </p:cNvPr>
          <p:cNvSpPr txBox="1"/>
          <p:nvPr/>
        </p:nvSpPr>
        <p:spPr>
          <a:xfrm>
            <a:off x="571500" y="1879600"/>
            <a:ext cx="8001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b="1">
                <a:solidFill>
                  <a:srgbClr val="5A7D5A"/>
                </a:solidFill>
              </a:rPr>
              <a:t>Fixes:</a:t>
            </a:r>
            <a:r>
              <a:rPr lang="en-US">
                <a:solidFill>
                  <a:srgbClr val="415A77"/>
                </a:solidFill>
              </a:rPr>
              <a:t> leaked disposables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FB4C194-B19E-184D-9283-F2896A11B2D7}"/>
              </a:ext>
            </a:extLst>
          </p:cNvPr>
          <p:cNvSpPr txBox="1"/>
          <p:nvPr/>
        </p:nvSpPr>
        <p:spPr>
          <a:xfrm>
            <a:off x="571500" y="2413000"/>
            <a:ext cx="63500" cy="1752600"/>
          </a:xfrm>
          <a:prstGeom prst="rect">
            <a:avLst/>
          </a:prstGeom>
          <a:solidFill>
            <a:srgbClr val="A14B4B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A94E341-B809-FF48-BC25-09FFD69856C6}"/>
              </a:ext>
            </a:extLst>
          </p:cNvPr>
          <p:cNvSpPr txBox="1"/>
          <p:nvPr/>
        </p:nvSpPr>
        <p:spPr>
          <a:xfrm>
            <a:off x="635000" y="24130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A14B4B"/>
                </a:solidFill>
                <a:latin typeface="Calibri"/>
                <a:cs typeface="Calibri"/>
              </a:rPr>
              <a:t>Wrong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var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stream = 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File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.</a:t>
            </a:r>
            <a:r>
              <a:rPr lang="en-US" sz="1400">
                <a:solidFill>
                  <a:srgbClr val="74531F"/>
                </a:solidFill>
                <a:latin typeface="Consolas"/>
                <a:cs typeface="Consolas"/>
              </a:rPr>
              <a:t>OpenRead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(path);</a:t>
            </a:r>
            <a:endParaRPr lang="en-US" sz="1400">
              <a:solidFill>
                <a:srgbClr val="1F3A5F"/>
              </a:solidFill>
              <a:latin typeface="Consolas"/>
              <a:cs typeface="Consola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2AB57A0-61AF-294F-99C4-1F5493ADF7BB}"/>
              </a:ext>
            </a:extLst>
          </p:cNvPr>
          <p:cNvSpPr txBox="1"/>
          <p:nvPr/>
        </p:nvSpPr>
        <p:spPr>
          <a:xfrm>
            <a:off x="571500" y="4470400"/>
            <a:ext cx="63500" cy="1752600"/>
          </a:xfrm>
          <a:prstGeom prst="rect">
            <a:avLst/>
          </a:prstGeom>
          <a:solidFill>
            <a:srgbClr val="5A7D5A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D4144B6-D4EF-9849-9147-690E83E22AD8}"/>
              </a:ext>
            </a:extLst>
          </p:cNvPr>
          <p:cNvSpPr txBox="1"/>
          <p:nvPr/>
        </p:nvSpPr>
        <p:spPr>
          <a:xfrm>
            <a:off x="635000" y="44704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5A7D5A"/>
                </a:solidFill>
                <a:latin typeface="Calibri"/>
                <a:cs typeface="Calibri"/>
              </a:rPr>
              <a:t>Right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using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var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stream = 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File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.</a:t>
            </a:r>
            <a:r>
              <a:rPr lang="en-US" sz="1400">
                <a:solidFill>
                  <a:srgbClr val="74531F"/>
                </a:solidFill>
                <a:latin typeface="Consolas"/>
                <a:cs typeface="Consolas"/>
              </a:rPr>
              <a:t>OpenRead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(path);</a:t>
            </a:r>
            <a:endParaRPr lang="en-US" sz="1400">
              <a:solidFill>
                <a:srgbClr val="1F3A5F"/>
              </a:solidFill>
              <a:latin typeface="Consolas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5104231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54DBB57-6569-884B-AFDA-B0FFC10564C3}"/>
              </a:ext>
            </a:extLst>
          </p:cNvPr>
          <p:cNvSpPr txBox="1"/>
          <p:nvPr/>
        </p:nvSpPr>
        <p:spPr>
          <a:xfrm>
            <a:off x="571500" y="1041400"/>
            <a:ext cx="8001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>
                <a:solidFill>
                  <a:srgbClr val="415A77"/>
                </a:solidFill>
              </a:rPr>
              <a:t>SECURITY  ·  S2068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5682790-9FE0-DC4C-B60B-62547279BAB3}"/>
              </a:ext>
            </a:extLst>
          </p:cNvPr>
          <p:cNvSpPr txBox="1"/>
          <p:nvPr/>
        </p:nvSpPr>
        <p:spPr>
          <a:xfrm>
            <a:off x="571500" y="1320800"/>
            <a:ext cx="8001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3200" b="1">
                <a:solidFill>
                  <a:srgbClr val="1F3A5F"/>
                </a:solidFill>
              </a:rPr>
              <a:t>SonarAnalyzer for C#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C085636-2092-474E-86CD-997B1CED6238}"/>
              </a:ext>
            </a:extLst>
          </p:cNvPr>
          <p:cNvSpPr txBox="1"/>
          <p:nvPr/>
        </p:nvSpPr>
        <p:spPr>
          <a:xfrm>
            <a:off x="571500" y="1879600"/>
            <a:ext cx="8001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b="1">
                <a:solidFill>
                  <a:srgbClr val="5A7D5A"/>
                </a:solidFill>
              </a:rPr>
              <a:t>Fixes:</a:t>
            </a:r>
            <a:r>
              <a:rPr lang="en-US">
                <a:solidFill>
                  <a:srgbClr val="415A77"/>
                </a:solidFill>
              </a:rPr>
              <a:t> hard-coded credentials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DAD74E1-A8F7-9D4F-BF69-F000EE84AFBF}"/>
              </a:ext>
            </a:extLst>
          </p:cNvPr>
          <p:cNvSpPr txBox="1"/>
          <p:nvPr/>
        </p:nvSpPr>
        <p:spPr>
          <a:xfrm>
            <a:off x="571500" y="2413000"/>
            <a:ext cx="63500" cy="1752600"/>
          </a:xfrm>
          <a:prstGeom prst="rect">
            <a:avLst/>
          </a:prstGeom>
          <a:solidFill>
            <a:srgbClr val="A14B4B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62EC144-8625-0047-AE89-6B0AEFB9CAC4}"/>
              </a:ext>
            </a:extLst>
          </p:cNvPr>
          <p:cNvSpPr txBox="1"/>
          <p:nvPr/>
        </p:nvSpPr>
        <p:spPr>
          <a:xfrm>
            <a:off x="635000" y="24130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A14B4B"/>
                </a:solidFill>
                <a:latin typeface="Calibri"/>
                <a:cs typeface="Calibri"/>
              </a:rPr>
              <a:t>Wrong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var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password = </a:t>
            </a:r>
            <a:r>
              <a:rPr lang="en-US" sz="1400">
                <a:solidFill>
                  <a:srgbClr val="A31515"/>
                </a:solidFill>
                <a:latin typeface="Consolas"/>
                <a:cs typeface="Consolas"/>
              </a:rPr>
              <a:t>"hunter2"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;</a:t>
            </a:r>
            <a:endParaRPr lang="en-US" sz="1400">
              <a:solidFill>
                <a:srgbClr val="1F3A5F"/>
              </a:solidFill>
              <a:latin typeface="Consolas"/>
              <a:cs typeface="Consola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EB653A5-1EF5-CB42-9508-E9562CAD2A96}"/>
              </a:ext>
            </a:extLst>
          </p:cNvPr>
          <p:cNvSpPr txBox="1"/>
          <p:nvPr/>
        </p:nvSpPr>
        <p:spPr>
          <a:xfrm>
            <a:off x="571500" y="4470400"/>
            <a:ext cx="63500" cy="1752600"/>
          </a:xfrm>
          <a:prstGeom prst="rect">
            <a:avLst/>
          </a:prstGeom>
          <a:solidFill>
            <a:srgbClr val="5A7D5A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BD814FC-00CA-014C-BDE2-E20DD5A100DE}"/>
              </a:ext>
            </a:extLst>
          </p:cNvPr>
          <p:cNvSpPr txBox="1"/>
          <p:nvPr/>
        </p:nvSpPr>
        <p:spPr>
          <a:xfrm>
            <a:off x="635000" y="44704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5A7D5A"/>
                </a:solidFill>
                <a:latin typeface="Calibri"/>
                <a:cs typeface="Calibri"/>
              </a:rPr>
              <a:t>Right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var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password = config[</a:t>
            </a:r>
            <a:r>
              <a:rPr lang="en-US" sz="1400">
                <a:solidFill>
                  <a:srgbClr val="A31515"/>
                </a:solidFill>
                <a:latin typeface="Consolas"/>
                <a:cs typeface="Consolas"/>
              </a:rPr>
              <a:t>"Db:Password"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];</a:t>
            </a:r>
            <a:endParaRPr lang="en-US" sz="1400">
              <a:solidFill>
                <a:srgbClr val="1F3A5F"/>
              </a:solidFill>
              <a:latin typeface="Consolas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42540367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B691911-7960-A747-873B-8CBF6A1B84FE}"/>
              </a:ext>
            </a:extLst>
          </p:cNvPr>
          <p:cNvSpPr txBox="1"/>
          <p:nvPr/>
        </p:nvSpPr>
        <p:spPr>
          <a:xfrm>
            <a:off x="571500" y="1041400"/>
            <a:ext cx="8001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>
                <a:solidFill>
                  <a:srgbClr val="415A77"/>
                </a:solidFill>
              </a:rPr>
              <a:t>SECURITY  ·  SCS0002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1F5FE68-938B-824C-9194-C6672A783911}"/>
              </a:ext>
            </a:extLst>
          </p:cNvPr>
          <p:cNvSpPr txBox="1"/>
          <p:nvPr/>
        </p:nvSpPr>
        <p:spPr>
          <a:xfrm>
            <a:off x="571500" y="1320800"/>
            <a:ext cx="8001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3200" b="1">
                <a:solidFill>
                  <a:srgbClr val="1F3A5F"/>
                </a:solidFill>
              </a:rPr>
              <a:t>Security Code Scan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30C28C1-C74D-8A45-89AF-B8FF14DED581}"/>
              </a:ext>
            </a:extLst>
          </p:cNvPr>
          <p:cNvSpPr txBox="1"/>
          <p:nvPr/>
        </p:nvSpPr>
        <p:spPr>
          <a:xfrm>
            <a:off x="571500" y="1879600"/>
            <a:ext cx="8001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b="1">
                <a:solidFill>
                  <a:srgbClr val="5A7D5A"/>
                </a:solidFill>
              </a:rPr>
              <a:t>Fixes:</a:t>
            </a:r>
            <a:r>
              <a:rPr lang="en-US">
                <a:solidFill>
                  <a:srgbClr val="415A77"/>
                </a:solidFill>
              </a:rPr>
              <a:t> SQL injection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A1EB744-D6F7-2949-BDD4-C1CD5336F099}"/>
              </a:ext>
            </a:extLst>
          </p:cNvPr>
          <p:cNvSpPr txBox="1"/>
          <p:nvPr/>
        </p:nvSpPr>
        <p:spPr>
          <a:xfrm>
            <a:off x="571500" y="2413000"/>
            <a:ext cx="63500" cy="1752600"/>
          </a:xfrm>
          <a:prstGeom prst="rect">
            <a:avLst/>
          </a:prstGeom>
          <a:solidFill>
            <a:srgbClr val="A14B4B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35CE55E-4BF8-BB4F-91D4-729D24218C12}"/>
              </a:ext>
            </a:extLst>
          </p:cNvPr>
          <p:cNvSpPr txBox="1"/>
          <p:nvPr/>
        </p:nvSpPr>
        <p:spPr>
          <a:xfrm>
            <a:off x="635000" y="24130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A14B4B"/>
                </a:solidFill>
                <a:latin typeface="Calibri"/>
                <a:cs typeface="Calibri"/>
              </a:rPr>
              <a:t>Wrong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new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SqlCommand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</a:t>
            </a:r>
            <a:r>
              <a:rPr lang="en-US" sz="1400">
                <a:solidFill>
                  <a:srgbClr val="A31515"/>
                </a:solidFill>
                <a:latin typeface="Consolas"/>
                <a:cs typeface="Consolas"/>
              </a:rPr>
              <a:t>"SELECT * FROM Users WHERE Id="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+ id, conn);</a:t>
            </a:r>
            <a:endParaRPr lang="en-US" sz="1400">
              <a:solidFill>
                <a:srgbClr val="1F3A5F"/>
              </a:solidFill>
              <a:latin typeface="Consolas"/>
              <a:cs typeface="Consola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BD0A7B9-ADFD-9240-B7EC-463F99E1F08B}"/>
              </a:ext>
            </a:extLst>
          </p:cNvPr>
          <p:cNvSpPr txBox="1"/>
          <p:nvPr/>
        </p:nvSpPr>
        <p:spPr>
          <a:xfrm>
            <a:off x="571500" y="4470400"/>
            <a:ext cx="63500" cy="1752600"/>
          </a:xfrm>
          <a:prstGeom prst="rect">
            <a:avLst/>
          </a:prstGeom>
          <a:solidFill>
            <a:srgbClr val="5A7D5A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154BBD7-F26A-0241-87E9-43DA66AF15C3}"/>
              </a:ext>
            </a:extLst>
          </p:cNvPr>
          <p:cNvSpPr txBox="1"/>
          <p:nvPr/>
        </p:nvSpPr>
        <p:spPr>
          <a:xfrm>
            <a:off x="635000" y="44704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5A7D5A"/>
                </a:solidFill>
                <a:latin typeface="Calibri"/>
                <a:cs typeface="Calibri"/>
              </a:rPr>
              <a:t>Right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var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cmd = 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new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SqlCommand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</a:t>
            </a:r>
            <a:r>
              <a:rPr lang="en-US" sz="1400">
                <a:solidFill>
                  <a:srgbClr val="A31515"/>
                </a:solidFill>
                <a:latin typeface="Consolas"/>
                <a:cs typeface="Consolas"/>
              </a:rPr>
              <a:t>"SELECT * FROM Users WHERE Id=@id"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, conn);
cmd.Parameters.</a:t>
            </a:r>
            <a:r>
              <a:rPr lang="en-US" sz="1400">
                <a:solidFill>
                  <a:srgbClr val="74531F"/>
                </a:solidFill>
                <a:latin typeface="Consolas"/>
                <a:cs typeface="Consolas"/>
              </a:rPr>
              <a:t>AddWithValue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</a:t>
            </a:r>
            <a:r>
              <a:rPr lang="en-US" sz="1400">
                <a:solidFill>
                  <a:srgbClr val="A31515"/>
                </a:solidFill>
                <a:latin typeface="Consolas"/>
                <a:cs typeface="Consolas"/>
              </a:rPr>
              <a:t>"@id"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, id);</a:t>
            </a:r>
            <a:endParaRPr lang="en-US" sz="1400">
              <a:solidFill>
                <a:srgbClr val="1F3A5F"/>
              </a:solidFill>
              <a:latin typeface="Consolas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9992813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1215D06-D7C4-C64A-B5DD-9609042F48EB}"/>
              </a:ext>
            </a:extLst>
          </p:cNvPr>
          <p:cNvSpPr txBox="1"/>
          <p:nvPr/>
        </p:nvSpPr>
        <p:spPr>
          <a:xfrm>
            <a:off x="571500" y="1041400"/>
            <a:ext cx="8001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>
                <a:solidFill>
                  <a:srgbClr val="415A77"/>
                </a:solidFill>
              </a:rPr>
              <a:t>SECURITY  ·  DS126858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E5D8F52-C5D6-8246-9403-AB82FD914F4B}"/>
              </a:ext>
            </a:extLst>
          </p:cNvPr>
          <p:cNvSpPr txBox="1"/>
          <p:nvPr/>
        </p:nvSpPr>
        <p:spPr>
          <a:xfrm>
            <a:off x="571500" y="1320800"/>
            <a:ext cx="8001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3200" b="1">
                <a:solidFill>
                  <a:srgbClr val="1F3A5F"/>
                </a:solidFill>
              </a:rPr>
              <a:t>Microsoft DevSkim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AFB5977-D394-7E43-B69D-1FE267CF5F29}"/>
              </a:ext>
            </a:extLst>
          </p:cNvPr>
          <p:cNvSpPr txBox="1"/>
          <p:nvPr/>
        </p:nvSpPr>
        <p:spPr>
          <a:xfrm>
            <a:off x="571500" y="1879600"/>
            <a:ext cx="8001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b="1">
                <a:solidFill>
                  <a:srgbClr val="5A7D5A"/>
                </a:solidFill>
              </a:rPr>
              <a:t>Fixes:</a:t>
            </a:r>
            <a:r>
              <a:rPr lang="en-US">
                <a:solidFill>
                  <a:srgbClr val="415A77"/>
                </a:solidFill>
              </a:rPr>
              <a:t> weak hash algorithms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726651A-F901-A948-AC97-931DAE089495}"/>
              </a:ext>
            </a:extLst>
          </p:cNvPr>
          <p:cNvSpPr txBox="1"/>
          <p:nvPr/>
        </p:nvSpPr>
        <p:spPr>
          <a:xfrm>
            <a:off x="571500" y="2413000"/>
            <a:ext cx="63500" cy="1752600"/>
          </a:xfrm>
          <a:prstGeom prst="rect">
            <a:avLst/>
          </a:prstGeom>
          <a:solidFill>
            <a:srgbClr val="A14B4B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4CBD61D-74CD-C340-AA50-77FB51F1A19B}"/>
              </a:ext>
            </a:extLst>
          </p:cNvPr>
          <p:cNvSpPr txBox="1"/>
          <p:nvPr/>
        </p:nvSpPr>
        <p:spPr>
          <a:xfrm>
            <a:off x="635000" y="24130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A14B4B"/>
                </a:solidFill>
                <a:latin typeface="Calibri"/>
                <a:cs typeface="Calibri"/>
              </a:rPr>
              <a:t>Wrong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var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hash = 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MD5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.</a:t>
            </a:r>
            <a:r>
              <a:rPr lang="en-US" sz="1400">
                <a:solidFill>
                  <a:srgbClr val="74531F"/>
                </a:solidFill>
                <a:latin typeface="Consolas"/>
                <a:cs typeface="Consolas"/>
              </a:rPr>
              <a:t>Create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();</a:t>
            </a:r>
            <a:endParaRPr lang="en-US" sz="1400">
              <a:solidFill>
                <a:srgbClr val="1F3A5F"/>
              </a:solidFill>
              <a:latin typeface="Consolas"/>
              <a:cs typeface="Consola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85513C0-B52F-6A4C-A244-F825E7DD793A}"/>
              </a:ext>
            </a:extLst>
          </p:cNvPr>
          <p:cNvSpPr txBox="1"/>
          <p:nvPr/>
        </p:nvSpPr>
        <p:spPr>
          <a:xfrm>
            <a:off x="571500" y="4470400"/>
            <a:ext cx="63500" cy="1752600"/>
          </a:xfrm>
          <a:prstGeom prst="rect">
            <a:avLst/>
          </a:prstGeom>
          <a:solidFill>
            <a:srgbClr val="5A7D5A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ED97A9E-4CB1-FB43-8A18-87B01C931CC0}"/>
              </a:ext>
            </a:extLst>
          </p:cNvPr>
          <p:cNvSpPr txBox="1"/>
          <p:nvPr/>
        </p:nvSpPr>
        <p:spPr>
          <a:xfrm>
            <a:off x="635000" y="44704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5A7D5A"/>
                </a:solidFill>
                <a:latin typeface="Calibri"/>
                <a:cs typeface="Calibri"/>
              </a:rPr>
              <a:t>Right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var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hash = 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SHA256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.</a:t>
            </a:r>
            <a:r>
              <a:rPr lang="en-US" sz="1400">
                <a:solidFill>
                  <a:srgbClr val="74531F"/>
                </a:solidFill>
                <a:latin typeface="Consolas"/>
                <a:cs typeface="Consolas"/>
              </a:rPr>
              <a:t>Create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();</a:t>
            </a:r>
            <a:endParaRPr lang="en-US" sz="1400">
              <a:solidFill>
                <a:srgbClr val="1F3A5F"/>
              </a:solidFill>
              <a:latin typeface="Consolas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38939400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84CF559-BBC5-4446-AC25-5FBFF8F93AAA}"/>
              </a:ext>
            </a:extLst>
          </p:cNvPr>
          <p:cNvSpPr txBox="1"/>
          <p:nvPr/>
        </p:nvSpPr>
        <p:spPr>
          <a:xfrm>
            <a:off x="571500" y="1041400"/>
            <a:ext cx="8001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>
                <a:solidFill>
                  <a:srgbClr val="415A77"/>
                </a:solidFill>
              </a:rPr>
              <a:t>SECURITY  ·  cs/sql-injection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DCDFB95-5823-BE46-BEE2-96D4767542B5}"/>
              </a:ext>
            </a:extLst>
          </p:cNvPr>
          <p:cNvSpPr txBox="1"/>
          <p:nvPr/>
        </p:nvSpPr>
        <p:spPr>
          <a:xfrm>
            <a:off x="571500" y="1320800"/>
            <a:ext cx="8001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3200" b="1">
                <a:solidFill>
                  <a:srgbClr val="1F3A5F"/>
                </a:solidFill>
              </a:rPr>
              <a:t>CodeQL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4371991-DFCB-774F-A7F9-70AB0365C5EB}"/>
              </a:ext>
            </a:extLst>
          </p:cNvPr>
          <p:cNvSpPr txBox="1"/>
          <p:nvPr/>
        </p:nvSpPr>
        <p:spPr>
          <a:xfrm>
            <a:off x="571500" y="1879600"/>
            <a:ext cx="8001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b="1">
                <a:solidFill>
                  <a:srgbClr val="5A7D5A"/>
                </a:solidFill>
              </a:rPr>
              <a:t>Fixes:</a:t>
            </a:r>
            <a:r>
              <a:rPr lang="en-US">
                <a:solidFill>
                  <a:srgbClr val="415A77"/>
                </a:solidFill>
              </a:rPr>
              <a:t> SQL injection across methods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8AAFE4B-2D80-BB43-BF91-35DAD77FC7CB}"/>
              </a:ext>
            </a:extLst>
          </p:cNvPr>
          <p:cNvSpPr txBox="1"/>
          <p:nvPr/>
        </p:nvSpPr>
        <p:spPr>
          <a:xfrm>
            <a:off x="571500" y="2413000"/>
            <a:ext cx="63500" cy="1752600"/>
          </a:xfrm>
          <a:prstGeom prst="rect">
            <a:avLst/>
          </a:prstGeom>
          <a:solidFill>
            <a:srgbClr val="A14B4B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D72A424-0426-D94E-80FD-AC401537456E}"/>
              </a:ext>
            </a:extLst>
          </p:cNvPr>
          <p:cNvSpPr txBox="1"/>
          <p:nvPr/>
        </p:nvSpPr>
        <p:spPr>
          <a:xfrm>
            <a:off x="635000" y="24130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A14B4B"/>
                </a:solidFill>
                <a:latin typeface="Calibri"/>
                <a:cs typeface="Calibri"/>
              </a:rPr>
              <a:t>Wrong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var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id = Request.Query[</a:t>
            </a:r>
            <a:r>
              <a:rPr lang="en-US" sz="1400">
                <a:solidFill>
                  <a:srgbClr val="A31515"/>
                </a:solidFill>
                <a:latin typeface="Consolas"/>
                <a:cs typeface="Consolas"/>
              </a:rPr>
              <a:t>"id"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];
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var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sql = </a:t>
            </a:r>
            <a:r>
              <a:rPr lang="en-US" sz="1400">
                <a:solidFill>
                  <a:srgbClr val="74531F"/>
                </a:solidFill>
                <a:latin typeface="Consolas"/>
                <a:cs typeface="Consolas"/>
              </a:rPr>
              <a:t>Build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(id);   </a:t>
            </a:r>
            <a:r>
              <a:rPr lang="en-US" sz="1400">
                <a:solidFill>
                  <a:srgbClr val="008000"/>
                </a:solidFill>
                <a:latin typeface="Consolas"/>
                <a:cs typeface="Consolas"/>
              </a:rPr>
              <a:t>// returns "... WHERE Id=" + id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
db.</a:t>
            </a:r>
            <a:r>
              <a:rPr lang="en-US" sz="1400">
                <a:solidFill>
                  <a:srgbClr val="74531F"/>
                </a:solidFill>
                <a:latin typeface="Consolas"/>
                <a:cs typeface="Consolas"/>
              </a:rPr>
              <a:t>ExecuteSqlRaw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(sql);</a:t>
            </a:r>
            <a:endParaRPr lang="en-US" sz="1400">
              <a:solidFill>
                <a:srgbClr val="1F3A5F"/>
              </a:solidFill>
              <a:latin typeface="Consolas"/>
              <a:cs typeface="Consola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91CCF63-6D27-2A46-8D9C-BB2DE7DF9867}"/>
              </a:ext>
            </a:extLst>
          </p:cNvPr>
          <p:cNvSpPr txBox="1"/>
          <p:nvPr/>
        </p:nvSpPr>
        <p:spPr>
          <a:xfrm>
            <a:off x="571500" y="4470400"/>
            <a:ext cx="63500" cy="1752600"/>
          </a:xfrm>
          <a:prstGeom prst="rect">
            <a:avLst/>
          </a:prstGeom>
          <a:solidFill>
            <a:srgbClr val="5A7D5A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0BC00C6-254B-324B-A658-75323AC295FD}"/>
              </a:ext>
            </a:extLst>
          </p:cNvPr>
          <p:cNvSpPr txBox="1"/>
          <p:nvPr/>
        </p:nvSpPr>
        <p:spPr>
          <a:xfrm>
            <a:off x="635000" y="44704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5A7D5A"/>
                </a:solidFill>
                <a:latin typeface="Calibri"/>
                <a:cs typeface="Calibri"/>
              </a:rPr>
              <a:t>Right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db.Users.</a:t>
            </a:r>
            <a:r>
              <a:rPr lang="en-US" sz="1400">
                <a:solidFill>
                  <a:srgbClr val="74531F"/>
                </a:solidFill>
                <a:latin typeface="Consolas"/>
                <a:cs typeface="Consolas"/>
              </a:rPr>
              <a:t>FromSqlInterpolated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</a:t>
            </a:r>
            <a:r>
              <a:rPr lang="en-US" sz="1400">
                <a:solidFill>
                  <a:srgbClr val="A31515"/>
                </a:solidFill>
                <a:latin typeface="Consolas"/>
                <a:cs typeface="Consolas"/>
              </a:rPr>
              <a:t>$"SELECT * FROM Users WHERE Id={id}"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);</a:t>
            </a:r>
            <a:endParaRPr lang="en-US" sz="1400">
              <a:solidFill>
                <a:srgbClr val="1F3A5F"/>
              </a:solidFill>
              <a:latin typeface="Consolas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17763283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F85705E-4EA1-6E49-9303-3EB8D5B4F6AD}"/>
              </a:ext>
            </a:extLst>
          </p:cNvPr>
          <p:cNvSpPr txBox="1"/>
          <p:nvPr/>
        </p:nvSpPr>
        <p:spPr>
          <a:xfrm>
            <a:off x="571500" y="1041400"/>
            <a:ext cx="8001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>
                <a:solidFill>
                  <a:srgbClr val="415A77"/>
                </a:solidFill>
              </a:rPr>
              <a:t>SECURITY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818F67E-C5FB-4646-B1E7-792290BD7534}"/>
              </a:ext>
            </a:extLst>
          </p:cNvPr>
          <p:cNvSpPr txBox="1"/>
          <p:nvPr/>
        </p:nvSpPr>
        <p:spPr>
          <a:xfrm>
            <a:off x="571500" y="1320800"/>
            <a:ext cx="8001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3200" b="1">
                <a:solidFill>
                  <a:srgbClr val="1F3A5F"/>
                </a:solidFill>
              </a:rPr>
              <a:t>Snyk Code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A3490DD-59B5-A648-9986-0DFAAF4781D4}"/>
              </a:ext>
            </a:extLst>
          </p:cNvPr>
          <p:cNvSpPr txBox="1"/>
          <p:nvPr/>
        </p:nvSpPr>
        <p:spPr>
          <a:xfrm>
            <a:off x="571500" y="1879600"/>
            <a:ext cx="8001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b="1">
                <a:solidFill>
                  <a:srgbClr val="5A7D5A"/>
                </a:solidFill>
              </a:rPr>
              <a:t>Fixes:</a:t>
            </a:r>
            <a:r>
              <a:rPr lang="en-US">
                <a:solidFill>
                  <a:srgbClr val="415A77"/>
                </a:solidFill>
              </a:rPr>
              <a:t> tainted input that crosses files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809C4B7-DA10-4745-B94A-908E14F885A8}"/>
              </a:ext>
            </a:extLst>
          </p:cNvPr>
          <p:cNvSpPr txBox="1"/>
          <p:nvPr/>
        </p:nvSpPr>
        <p:spPr>
          <a:xfrm>
            <a:off x="571500" y="2413000"/>
            <a:ext cx="63500" cy="1752600"/>
          </a:xfrm>
          <a:prstGeom prst="rect">
            <a:avLst/>
          </a:prstGeom>
          <a:solidFill>
            <a:srgbClr val="A14B4B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C0962AA-5569-F94F-81D6-99E5EDE7E797}"/>
              </a:ext>
            </a:extLst>
          </p:cNvPr>
          <p:cNvSpPr txBox="1"/>
          <p:nvPr/>
        </p:nvSpPr>
        <p:spPr>
          <a:xfrm>
            <a:off x="635000" y="24130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A14B4B"/>
                </a:solidFill>
                <a:latin typeface="Calibri"/>
                <a:cs typeface="Calibri"/>
              </a:rPr>
              <a:t>Wrong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var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sql = </a:t>
            </a:r>
            <a:r>
              <a:rPr lang="en-US" sz="1400">
                <a:solidFill>
                  <a:srgbClr val="A31515"/>
                </a:solidFill>
                <a:latin typeface="Consolas"/>
                <a:cs typeface="Consolas"/>
              </a:rPr>
              <a:t>"SELECT * FROM Users WHERE Name='"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
        + Request.Query[</a:t>
            </a:r>
            <a:r>
              <a:rPr lang="en-US" sz="1400">
                <a:solidFill>
                  <a:srgbClr val="A31515"/>
                </a:solidFill>
                <a:latin typeface="Consolas"/>
                <a:cs typeface="Consolas"/>
              </a:rPr>
              <a:t>"name"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] + </a:t>
            </a:r>
            <a:r>
              <a:rPr lang="en-US" sz="1400">
                <a:solidFill>
                  <a:srgbClr val="A31515"/>
                </a:solidFill>
                <a:latin typeface="Consolas"/>
                <a:cs typeface="Consolas"/>
              </a:rPr>
              <a:t>"'"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;</a:t>
            </a:r>
            <a:endParaRPr lang="en-US" sz="1400">
              <a:solidFill>
                <a:srgbClr val="1F3A5F"/>
              </a:solidFill>
              <a:latin typeface="Consolas"/>
              <a:cs typeface="Consola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618C5E9-2BE8-274C-81B3-E95080FE8630}"/>
              </a:ext>
            </a:extLst>
          </p:cNvPr>
          <p:cNvSpPr txBox="1"/>
          <p:nvPr/>
        </p:nvSpPr>
        <p:spPr>
          <a:xfrm>
            <a:off x="571500" y="4470400"/>
            <a:ext cx="63500" cy="1752600"/>
          </a:xfrm>
          <a:prstGeom prst="rect">
            <a:avLst/>
          </a:prstGeom>
          <a:solidFill>
            <a:srgbClr val="5A7D5A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9A43E34-96A7-E449-9758-0863747DE816}"/>
              </a:ext>
            </a:extLst>
          </p:cNvPr>
          <p:cNvSpPr txBox="1"/>
          <p:nvPr/>
        </p:nvSpPr>
        <p:spPr>
          <a:xfrm>
            <a:off x="635000" y="44704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5A7D5A"/>
                </a:solidFill>
                <a:latin typeface="Calibri"/>
                <a:cs typeface="Calibri"/>
              </a:rPr>
              <a:t>Right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var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cmd = 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new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SqlCommand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</a:t>
            </a:r>
            <a:r>
              <a:rPr lang="en-US" sz="1400">
                <a:solidFill>
                  <a:srgbClr val="A31515"/>
                </a:solidFill>
                <a:latin typeface="Consolas"/>
                <a:cs typeface="Consolas"/>
              </a:rPr>
              <a:t>"SELECT * FROM Users WHERE Name=@name"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, conn);
cmd.Parameters.</a:t>
            </a:r>
            <a:r>
              <a:rPr lang="en-US" sz="1400">
                <a:solidFill>
                  <a:srgbClr val="74531F"/>
                </a:solidFill>
                <a:latin typeface="Consolas"/>
                <a:cs typeface="Consolas"/>
              </a:rPr>
              <a:t>AddWithValue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</a:t>
            </a:r>
            <a:r>
              <a:rPr lang="en-US" sz="1400">
                <a:solidFill>
                  <a:srgbClr val="A31515"/>
                </a:solidFill>
                <a:latin typeface="Consolas"/>
                <a:cs typeface="Consolas"/>
              </a:rPr>
              <a:t>"@name"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, (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string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)Request.Query[</a:t>
            </a:r>
            <a:r>
              <a:rPr lang="en-US" sz="1400">
                <a:solidFill>
                  <a:srgbClr val="A31515"/>
                </a:solidFill>
                <a:latin typeface="Consolas"/>
                <a:cs typeface="Consolas"/>
              </a:rPr>
              <a:t>"name"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]);</a:t>
            </a:r>
            <a:endParaRPr lang="en-US" sz="1400">
              <a:solidFill>
                <a:srgbClr val="1F3A5F"/>
              </a:solidFill>
              <a:latin typeface="Consolas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12536728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378AC57-B2C7-D34D-ADFA-CCC8BF552EC2}"/>
              </a:ext>
            </a:extLst>
          </p:cNvPr>
          <p:cNvSpPr txBox="1"/>
          <p:nvPr/>
        </p:nvSpPr>
        <p:spPr>
          <a:xfrm>
            <a:off x="571500" y="1041400"/>
            <a:ext cx="8001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>
                <a:solidFill>
                  <a:srgbClr val="415A77"/>
                </a:solidFill>
              </a:rPr>
              <a:t>TESTING  ·  xUnit2013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EBF4634-9306-7C45-9BB2-AF376683D1FD}"/>
              </a:ext>
            </a:extLst>
          </p:cNvPr>
          <p:cNvSpPr txBox="1"/>
          <p:nvPr/>
        </p:nvSpPr>
        <p:spPr>
          <a:xfrm>
            <a:off x="571500" y="1320800"/>
            <a:ext cx="8001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3200" b="1">
                <a:solidFill>
                  <a:srgbClr val="1F3A5F"/>
                </a:solidFill>
              </a:rPr>
              <a:t>xUnit.net Analyzers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651336E-2F1B-A648-ABCA-6723BA096159}"/>
              </a:ext>
            </a:extLst>
          </p:cNvPr>
          <p:cNvSpPr txBox="1"/>
          <p:nvPr/>
        </p:nvSpPr>
        <p:spPr>
          <a:xfrm>
            <a:off x="571500" y="1879600"/>
            <a:ext cx="8001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b="1">
                <a:solidFill>
                  <a:srgbClr val="5A7D5A"/>
                </a:solidFill>
              </a:rPr>
              <a:t>Fixes:</a:t>
            </a:r>
            <a:r>
              <a:rPr lang="en-US">
                <a:solidFill>
                  <a:srgbClr val="415A77"/>
                </a:solidFill>
              </a:rPr>
              <a:t> unclear collection-size asserts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EF23E75-240C-E742-A35C-A73203EA27B7}"/>
              </a:ext>
            </a:extLst>
          </p:cNvPr>
          <p:cNvSpPr txBox="1"/>
          <p:nvPr/>
        </p:nvSpPr>
        <p:spPr>
          <a:xfrm>
            <a:off x="571500" y="2413000"/>
            <a:ext cx="63500" cy="1752600"/>
          </a:xfrm>
          <a:prstGeom prst="rect">
            <a:avLst/>
          </a:prstGeom>
          <a:solidFill>
            <a:srgbClr val="A14B4B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2682F38-8CCB-5F40-9498-109B80BDA981}"/>
              </a:ext>
            </a:extLst>
          </p:cNvPr>
          <p:cNvSpPr txBox="1"/>
          <p:nvPr/>
        </p:nvSpPr>
        <p:spPr>
          <a:xfrm>
            <a:off x="635000" y="24130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A14B4B"/>
                </a:solidFill>
                <a:latin typeface="Calibri"/>
                <a:cs typeface="Calibri"/>
              </a:rPr>
              <a:t>Wrong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Assert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.</a:t>
            </a:r>
            <a:r>
              <a:rPr lang="en-US" sz="1400">
                <a:solidFill>
                  <a:srgbClr val="74531F"/>
                </a:solidFill>
                <a:latin typeface="Consolas"/>
                <a:cs typeface="Consolas"/>
              </a:rPr>
              <a:t>Equal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</a:t>
            </a:r>
            <a:r>
              <a:rPr lang="en-US" sz="1400">
                <a:solidFill>
                  <a:srgbClr val="098658"/>
                </a:solidFill>
                <a:latin typeface="Consolas"/>
                <a:cs typeface="Consolas"/>
              </a:rPr>
              <a:t>0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, items.Count);</a:t>
            </a:r>
            <a:endParaRPr lang="en-US" sz="1400">
              <a:solidFill>
                <a:srgbClr val="1F3A5F"/>
              </a:solidFill>
              <a:latin typeface="Consolas"/>
              <a:cs typeface="Consola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08650D2-41CD-F34A-BBB9-47B23629F958}"/>
              </a:ext>
            </a:extLst>
          </p:cNvPr>
          <p:cNvSpPr txBox="1"/>
          <p:nvPr/>
        </p:nvSpPr>
        <p:spPr>
          <a:xfrm>
            <a:off x="571500" y="4470400"/>
            <a:ext cx="63500" cy="1752600"/>
          </a:xfrm>
          <a:prstGeom prst="rect">
            <a:avLst/>
          </a:prstGeom>
          <a:solidFill>
            <a:srgbClr val="5A7D5A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3206CFA-7FE1-024D-9D62-C4833D536028}"/>
              </a:ext>
            </a:extLst>
          </p:cNvPr>
          <p:cNvSpPr txBox="1"/>
          <p:nvPr/>
        </p:nvSpPr>
        <p:spPr>
          <a:xfrm>
            <a:off x="635000" y="44704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5A7D5A"/>
                </a:solidFill>
                <a:latin typeface="Calibri"/>
                <a:cs typeface="Calibri"/>
              </a:rPr>
              <a:t>Right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Assert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.</a:t>
            </a:r>
            <a:r>
              <a:rPr lang="en-US" sz="1400">
                <a:solidFill>
                  <a:srgbClr val="74531F"/>
                </a:solidFill>
                <a:latin typeface="Consolas"/>
                <a:cs typeface="Consolas"/>
              </a:rPr>
              <a:t>Empty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(items);</a:t>
            </a:r>
            <a:endParaRPr lang="en-US" sz="1400">
              <a:solidFill>
                <a:srgbClr val="1F3A5F"/>
              </a:solidFill>
              <a:latin typeface="Consolas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41943696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5E375C2-4A17-E64D-8372-8B4FD7D16465}"/>
              </a:ext>
            </a:extLst>
          </p:cNvPr>
          <p:cNvSpPr txBox="1"/>
          <p:nvPr/>
        </p:nvSpPr>
        <p:spPr>
          <a:xfrm>
            <a:off x="571500" y="1041400"/>
            <a:ext cx="8001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>
                <a:solidFill>
                  <a:srgbClr val="415A77"/>
                </a:solidFill>
              </a:rPr>
              <a:t>TESTING  ·  NS1000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3A60BCD-2E86-0B42-AD61-8396D7A15C8A}"/>
              </a:ext>
            </a:extLst>
          </p:cNvPr>
          <p:cNvSpPr txBox="1"/>
          <p:nvPr/>
        </p:nvSpPr>
        <p:spPr>
          <a:xfrm>
            <a:off x="571500" y="1320800"/>
            <a:ext cx="8001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3200" b="1">
                <a:solidFill>
                  <a:srgbClr val="1F3A5F"/>
                </a:solidFill>
              </a:rPr>
              <a:t>NSubstitute.Analyzers.CSharp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52EF53B-20A2-6F4D-9E26-B9EED530221D}"/>
              </a:ext>
            </a:extLst>
          </p:cNvPr>
          <p:cNvSpPr txBox="1"/>
          <p:nvPr/>
        </p:nvSpPr>
        <p:spPr>
          <a:xfrm>
            <a:off x="571500" y="1879600"/>
            <a:ext cx="8001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b="1">
                <a:solidFill>
                  <a:srgbClr val="5A7D5A"/>
                </a:solidFill>
              </a:rPr>
              <a:t>Fixes:</a:t>
            </a:r>
            <a:r>
              <a:rPr lang="en-US">
                <a:solidFill>
                  <a:srgbClr val="415A77"/>
                </a:solidFill>
              </a:rPr>
              <a:t> mock setups that silently do nothing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29060F1-638D-2E4B-9A58-47B8259F13CA}"/>
              </a:ext>
            </a:extLst>
          </p:cNvPr>
          <p:cNvSpPr txBox="1"/>
          <p:nvPr/>
        </p:nvSpPr>
        <p:spPr>
          <a:xfrm>
            <a:off x="571500" y="2413000"/>
            <a:ext cx="63500" cy="1752600"/>
          </a:xfrm>
          <a:prstGeom prst="rect">
            <a:avLst/>
          </a:prstGeom>
          <a:solidFill>
            <a:srgbClr val="A14B4B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265DBDD-DE80-9A4C-93E1-1011DC5DCDC8}"/>
              </a:ext>
            </a:extLst>
          </p:cNvPr>
          <p:cNvSpPr txBox="1"/>
          <p:nvPr/>
        </p:nvSpPr>
        <p:spPr>
          <a:xfrm>
            <a:off x="635000" y="24130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A14B4B"/>
                </a:solidFill>
                <a:latin typeface="Calibri"/>
                <a:cs typeface="Calibri"/>
              </a:rPr>
              <a:t>Wrong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class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Repo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{ 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public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int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>
                <a:solidFill>
                  <a:srgbClr val="74531F"/>
                </a:solidFill>
                <a:latin typeface="Consolas"/>
                <a:cs typeface="Consolas"/>
              </a:rPr>
              <a:t>Count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() =&gt; </a:t>
            </a:r>
            <a:r>
              <a:rPr lang="en-US" sz="1400">
                <a:solidFill>
                  <a:srgbClr val="098658"/>
                </a:solidFill>
                <a:latin typeface="Consolas"/>
                <a:cs typeface="Consolas"/>
              </a:rPr>
              <a:t>0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; }
sub.</a:t>
            </a:r>
            <a:r>
              <a:rPr lang="en-US" sz="1400">
                <a:solidFill>
                  <a:srgbClr val="74531F"/>
                </a:solidFill>
                <a:latin typeface="Consolas"/>
                <a:cs typeface="Consolas"/>
              </a:rPr>
              <a:t>Count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().</a:t>
            </a:r>
            <a:r>
              <a:rPr lang="en-US" sz="1400">
                <a:solidFill>
                  <a:srgbClr val="74531F"/>
                </a:solidFill>
                <a:latin typeface="Consolas"/>
                <a:cs typeface="Consolas"/>
              </a:rPr>
              <a:t>Returns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</a:t>
            </a:r>
            <a:r>
              <a:rPr lang="en-US" sz="1400">
                <a:solidFill>
                  <a:srgbClr val="098658"/>
                </a:solidFill>
                <a:latin typeface="Consolas"/>
                <a:cs typeface="Consolas"/>
              </a:rPr>
              <a:t>5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);  </a:t>
            </a:r>
            <a:r>
              <a:rPr lang="en-US" sz="1400">
                <a:solidFill>
                  <a:srgbClr val="008000"/>
                </a:solidFill>
                <a:latin typeface="Consolas"/>
                <a:cs typeface="Consolas"/>
              </a:rPr>
              <a:t>// non-virtual, setup does nothing</a:t>
            </a:r>
            <a:endParaRPr lang="en-US" sz="1400">
              <a:solidFill>
                <a:srgbClr val="1F3A5F"/>
              </a:solidFill>
              <a:latin typeface="Consolas"/>
              <a:cs typeface="Consola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BE2B66A-582C-2C4C-80C5-5F0A484E8F1A}"/>
              </a:ext>
            </a:extLst>
          </p:cNvPr>
          <p:cNvSpPr txBox="1"/>
          <p:nvPr/>
        </p:nvSpPr>
        <p:spPr>
          <a:xfrm>
            <a:off x="571500" y="4470400"/>
            <a:ext cx="63500" cy="1752600"/>
          </a:xfrm>
          <a:prstGeom prst="rect">
            <a:avLst/>
          </a:prstGeom>
          <a:solidFill>
            <a:srgbClr val="5A7D5A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370CAC2-C038-A641-AE66-70085EB1DD59}"/>
              </a:ext>
            </a:extLst>
          </p:cNvPr>
          <p:cNvSpPr txBox="1"/>
          <p:nvPr/>
        </p:nvSpPr>
        <p:spPr>
          <a:xfrm>
            <a:off x="635000" y="44704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5A7D5A"/>
                </a:solidFill>
                <a:latin typeface="Calibri"/>
                <a:cs typeface="Calibri"/>
              </a:rPr>
              <a:t>Right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class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Repo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{ 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public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virtual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int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>
                <a:solidFill>
                  <a:srgbClr val="74531F"/>
                </a:solidFill>
                <a:latin typeface="Consolas"/>
                <a:cs typeface="Consolas"/>
              </a:rPr>
              <a:t>Count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() =&gt; </a:t>
            </a:r>
            <a:r>
              <a:rPr lang="en-US" sz="1400">
                <a:solidFill>
                  <a:srgbClr val="098658"/>
                </a:solidFill>
                <a:latin typeface="Consolas"/>
                <a:cs typeface="Consolas"/>
              </a:rPr>
              <a:t>0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; }
sub.</a:t>
            </a:r>
            <a:r>
              <a:rPr lang="en-US" sz="1400">
                <a:solidFill>
                  <a:srgbClr val="74531F"/>
                </a:solidFill>
                <a:latin typeface="Consolas"/>
                <a:cs typeface="Consolas"/>
              </a:rPr>
              <a:t>Count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().</a:t>
            </a:r>
            <a:r>
              <a:rPr lang="en-US" sz="1400">
                <a:solidFill>
                  <a:srgbClr val="74531F"/>
                </a:solidFill>
                <a:latin typeface="Consolas"/>
                <a:cs typeface="Consolas"/>
              </a:rPr>
              <a:t>Returns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</a:t>
            </a:r>
            <a:r>
              <a:rPr lang="en-US" sz="1400">
                <a:solidFill>
                  <a:srgbClr val="098658"/>
                </a:solidFill>
                <a:latin typeface="Consolas"/>
                <a:cs typeface="Consolas"/>
              </a:rPr>
              <a:t>5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);</a:t>
            </a:r>
            <a:endParaRPr lang="en-US" sz="1400">
              <a:solidFill>
                <a:srgbClr val="1F3A5F"/>
              </a:solidFill>
              <a:latin typeface="Consolas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22558697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EE67F75-0848-2047-9C61-F20E538507E5}"/>
              </a:ext>
            </a:extLst>
          </p:cNvPr>
          <p:cNvSpPr txBox="1"/>
          <p:nvPr/>
        </p:nvSpPr>
        <p:spPr>
          <a:xfrm>
            <a:off x="571500" y="1041400"/>
            <a:ext cx="8001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>
                <a:solidFill>
                  <a:srgbClr val="415A77"/>
                </a:solidFill>
              </a:rPr>
              <a:t>ECOSYSTEM  ·  Serilog006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3D4BD57-096F-DC40-9EFB-40180373C40B}"/>
              </a:ext>
            </a:extLst>
          </p:cNvPr>
          <p:cNvSpPr txBox="1"/>
          <p:nvPr/>
        </p:nvSpPr>
        <p:spPr>
          <a:xfrm>
            <a:off x="571500" y="1320800"/>
            <a:ext cx="8001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3200" b="1">
                <a:solidFill>
                  <a:srgbClr val="1F3A5F"/>
                </a:solidFill>
              </a:rPr>
              <a:t>SerilogAnalyzer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8229639-FEAF-7F49-9513-858535079FD8}"/>
              </a:ext>
            </a:extLst>
          </p:cNvPr>
          <p:cNvSpPr txBox="1"/>
          <p:nvPr/>
        </p:nvSpPr>
        <p:spPr>
          <a:xfrm>
            <a:off x="571500" y="1879600"/>
            <a:ext cx="8001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b="1">
                <a:solidFill>
                  <a:srgbClr val="5A7D5A"/>
                </a:solidFill>
              </a:rPr>
              <a:t>Fixes:</a:t>
            </a:r>
            <a:r>
              <a:rPr lang="en-US">
                <a:solidFill>
                  <a:srgbClr val="415A77"/>
                </a:solidFill>
              </a:rPr>
              <a:t> inconsistent log property names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447C84E-4BD9-AE4C-9861-6682D54BEF05}"/>
              </a:ext>
            </a:extLst>
          </p:cNvPr>
          <p:cNvSpPr txBox="1"/>
          <p:nvPr/>
        </p:nvSpPr>
        <p:spPr>
          <a:xfrm>
            <a:off x="571500" y="2413000"/>
            <a:ext cx="63500" cy="1752600"/>
          </a:xfrm>
          <a:prstGeom prst="rect">
            <a:avLst/>
          </a:prstGeom>
          <a:solidFill>
            <a:srgbClr val="A14B4B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027688E-453A-B04A-BB3F-FB05F4443EF0}"/>
              </a:ext>
            </a:extLst>
          </p:cNvPr>
          <p:cNvSpPr txBox="1"/>
          <p:nvPr/>
        </p:nvSpPr>
        <p:spPr>
          <a:xfrm>
            <a:off x="635000" y="24130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A14B4B"/>
                </a:solidFill>
                <a:latin typeface="Calibri"/>
                <a:cs typeface="Calibri"/>
              </a:rPr>
              <a:t>Wrong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log.</a:t>
            </a:r>
            <a:r>
              <a:rPr lang="en-US" sz="1400">
                <a:solidFill>
                  <a:srgbClr val="74531F"/>
                </a:solidFill>
                <a:latin typeface="Consolas"/>
                <a:cs typeface="Consolas"/>
              </a:rPr>
              <a:t>Information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</a:t>
            </a:r>
            <a:r>
              <a:rPr lang="en-US" sz="1400">
                <a:solidFill>
                  <a:srgbClr val="A31515"/>
                </a:solidFill>
                <a:latin typeface="Consolas"/>
                <a:cs typeface="Consolas"/>
              </a:rPr>
              <a:t>"Got {userId}"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, id);</a:t>
            </a:r>
            <a:endParaRPr lang="en-US" sz="1400">
              <a:solidFill>
                <a:srgbClr val="1F3A5F"/>
              </a:solidFill>
              <a:latin typeface="Consolas"/>
              <a:cs typeface="Consola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824E517-2583-394C-9B0E-F985361C26DA}"/>
              </a:ext>
            </a:extLst>
          </p:cNvPr>
          <p:cNvSpPr txBox="1"/>
          <p:nvPr/>
        </p:nvSpPr>
        <p:spPr>
          <a:xfrm>
            <a:off x="571500" y="4470400"/>
            <a:ext cx="63500" cy="1752600"/>
          </a:xfrm>
          <a:prstGeom prst="rect">
            <a:avLst/>
          </a:prstGeom>
          <a:solidFill>
            <a:srgbClr val="5A7D5A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EA57695-4B1E-BE44-B8E6-22C8F14EAB5A}"/>
              </a:ext>
            </a:extLst>
          </p:cNvPr>
          <p:cNvSpPr txBox="1"/>
          <p:nvPr/>
        </p:nvSpPr>
        <p:spPr>
          <a:xfrm>
            <a:off x="635000" y="44704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5A7D5A"/>
                </a:solidFill>
                <a:latin typeface="Calibri"/>
                <a:cs typeface="Calibri"/>
              </a:rPr>
              <a:t>Right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log.</a:t>
            </a:r>
            <a:r>
              <a:rPr lang="en-US" sz="1400">
                <a:solidFill>
                  <a:srgbClr val="74531F"/>
                </a:solidFill>
                <a:latin typeface="Consolas"/>
                <a:cs typeface="Consolas"/>
              </a:rPr>
              <a:t>Information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</a:t>
            </a:r>
            <a:r>
              <a:rPr lang="en-US" sz="1400">
                <a:solidFill>
                  <a:srgbClr val="A31515"/>
                </a:solidFill>
                <a:latin typeface="Consolas"/>
                <a:cs typeface="Consolas"/>
              </a:rPr>
              <a:t>"Got {UserId}"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, id);</a:t>
            </a:r>
            <a:endParaRPr lang="en-US" sz="1400">
              <a:solidFill>
                <a:srgbClr val="1F3A5F"/>
              </a:solidFill>
              <a:latin typeface="Consolas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35762271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B5261B6-AD48-9047-BA49-063E1A7ABB9A}"/>
              </a:ext>
            </a:extLst>
          </p:cNvPr>
          <p:cNvSpPr txBox="1"/>
          <p:nvPr/>
        </p:nvSpPr>
        <p:spPr>
          <a:xfrm>
            <a:off x="571500" y="1041400"/>
            <a:ext cx="8001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>
                <a:solidFill>
                  <a:srgbClr val="415A77"/>
                </a:solidFill>
              </a:rPr>
              <a:t>ECOSYSTEM  ·  API1000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C33CBB2-E900-984A-B5DE-0A15585E78F8}"/>
              </a:ext>
            </a:extLst>
          </p:cNvPr>
          <p:cNvSpPr txBox="1"/>
          <p:nvPr/>
        </p:nvSpPr>
        <p:spPr>
          <a:xfrm>
            <a:off x="571500" y="1320800"/>
            <a:ext cx="8001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3200" b="1">
                <a:solidFill>
                  <a:srgbClr val="1F3A5F"/>
                </a:solidFill>
              </a:rPr>
              <a:t>Microsoft.AspNetCore.Mvc.Api.Analyzers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1C84FB7-78D1-5A4F-A2B1-E56EFD49517E}"/>
              </a:ext>
            </a:extLst>
          </p:cNvPr>
          <p:cNvSpPr txBox="1"/>
          <p:nvPr/>
        </p:nvSpPr>
        <p:spPr>
          <a:xfrm>
            <a:off x="571500" y="1879600"/>
            <a:ext cx="8001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b="1">
                <a:solidFill>
                  <a:srgbClr val="5A7D5A"/>
                </a:solidFill>
              </a:rPr>
              <a:t>Fixes:</a:t>
            </a:r>
            <a:r>
              <a:rPr lang="en-US">
                <a:solidFill>
                  <a:srgbClr val="415A77"/>
                </a:solidFill>
              </a:rPr>
              <a:t> undocumented response codes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F1DFCC3-87DF-3743-BB1D-F0294C00D281}"/>
              </a:ext>
            </a:extLst>
          </p:cNvPr>
          <p:cNvSpPr txBox="1"/>
          <p:nvPr/>
        </p:nvSpPr>
        <p:spPr>
          <a:xfrm>
            <a:off x="571500" y="2413000"/>
            <a:ext cx="63500" cy="1752600"/>
          </a:xfrm>
          <a:prstGeom prst="rect">
            <a:avLst/>
          </a:prstGeom>
          <a:solidFill>
            <a:srgbClr val="A14B4B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2A0292C-5428-7547-A113-3834B445CE95}"/>
              </a:ext>
            </a:extLst>
          </p:cNvPr>
          <p:cNvSpPr txBox="1"/>
          <p:nvPr/>
        </p:nvSpPr>
        <p:spPr>
          <a:xfrm>
            <a:off x="635000" y="24130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A14B4B"/>
                </a:solidFill>
                <a:latin typeface="Calibri"/>
                <a:cs typeface="Calibri"/>
              </a:rPr>
              <a:t>Wrong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[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ProducesResponseType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</a:t>
            </a:r>
            <a:r>
              <a:rPr lang="en-US" sz="1400">
                <a:solidFill>
                  <a:srgbClr val="098658"/>
                </a:solidFill>
                <a:latin typeface="Consolas"/>
                <a:cs typeface="Consolas"/>
              </a:rPr>
              <a:t>200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)]
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public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IActionResult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>
                <a:solidFill>
                  <a:srgbClr val="74531F"/>
                </a:solidFill>
                <a:latin typeface="Consolas"/>
                <a:cs typeface="Consolas"/>
              </a:rPr>
              <a:t>Get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int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id) =&gt; </a:t>
            </a:r>
            <a:r>
              <a:rPr lang="en-US" sz="1400">
                <a:solidFill>
                  <a:srgbClr val="74531F"/>
                </a:solidFill>
                <a:latin typeface="Consolas"/>
                <a:cs typeface="Consolas"/>
              </a:rPr>
              <a:t>NotFound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();</a:t>
            </a:r>
            <a:endParaRPr lang="en-US" sz="1400">
              <a:solidFill>
                <a:srgbClr val="1F3A5F"/>
              </a:solidFill>
              <a:latin typeface="Consolas"/>
              <a:cs typeface="Consola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EA02956-1FAF-864A-A873-E6CF6A388CEC}"/>
              </a:ext>
            </a:extLst>
          </p:cNvPr>
          <p:cNvSpPr txBox="1"/>
          <p:nvPr/>
        </p:nvSpPr>
        <p:spPr>
          <a:xfrm>
            <a:off x="571500" y="4470400"/>
            <a:ext cx="63500" cy="1752600"/>
          </a:xfrm>
          <a:prstGeom prst="rect">
            <a:avLst/>
          </a:prstGeom>
          <a:solidFill>
            <a:srgbClr val="5A7D5A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43E75E4-2C6A-0847-99FA-306CBF16C48F}"/>
              </a:ext>
            </a:extLst>
          </p:cNvPr>
          <p:cNvSpPr txBox="1"/>
          <p:nvPr/>
        </p:nvSpPr>
        <p:spPr>
          <a:xfrm>
            <a:off x="635000" y="44704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5A7D5A"/>
                </a:solidFill>
                <a:latin typeface="Calibri"/>
                <a:cs typeface="Calibri"/>
              </a:rPr>
              <a:t>Right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[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ProducesResponseType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</a:t>
            </a:r>
            <a:r>
              <a:rPr lang="en-US" sz="1400">
                <a:solidFill>
                  <a:srgbClr val="098658"/>
                </a:solidFill>
                <a:latin typeface="Consolas"/>
                <a:cs typeface="Consolas"/>
              </a:rPr>
              <a:t>200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)]
[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ProducesResponseType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</a:t>
            </a:r>
            <a:r>
              <a:rPr lang="en-US" sz="1400">
                <a:solidFill>
                  <a:srgbClr val="098658"/>
                </a:solidFill>
                <a:latin typeface="Consolas"/>
                <a:cs typeface="Consolas"/>
              </a:rPr>
              <a:t>404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)]
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public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IActionResult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>
                <a:solidFill>
                  <a:srgbClr val="74531F"/>
                </a:solidFill>
                <a:latin typeface="Consolas"/>
                <a:cs typeface="Consolas"/>
              </a:rPr>
              <a:t>Get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int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id) =&gt; </a:t>
            </a:r>
            <a:r>
              <a:rPr lang="en-US" sz="1400">
                <a:solidFill>
                  <a:srgbClr val="74531F"/>
                </a:solidFill>
                <a:latin typeface="Consolas"/>
                <a:cs typeface="Consolas"/>
              </a:rPr>
              <a:t>NotFound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();</a:t>
            </a:r>
            <a:endParaRPr lang="en-US" sz="1400">
              <a:solidFill>
                <a:srgbClr val="1F3A5F"/>
              </a:solidFill>
              <a:latin typeface="Consolas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36659486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51C43EB-FC86-DE46-BB0C-903987B44752}"/>
              </a:ext>
            </a:extLst>
          </p:cNvPr>
          <p:cNvSpPr txBox="1"/>
          <p:nvPr/>
        </p:nvSpPr>
        <p:spPr>
          <a:xfrm>
            <a:off x="571500" y="1041400"/>
            <a:ext cx="8001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>
                <a:solidFill>
                  <a:srgbClr val="415A77"/>
                </a:solidFill>
              </a:rPr>
              <a:t>ARCHITECTURE  ·  Loop can be converted to LINQ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8F8B1C2-9958-B446-BD6E-4E2E731B7EBD}"/>
              </a:ext>
            </a:extLst>
          </p:cNvPr>
          <p:cNvSpPr txBox="1"/>
          <p:nvPr/>
        </p:nvSpPr>
        <p:spPr>
          <a:xfrm>
            <a:off x="571500" y="1320800"/>
            <a:ext cx="8001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3200" b="1">
                <a:solidFill>
                  <a:srgbClr val="1F3A5F"/>
                </a:solidFill>
              </a:rPr>
              <a:t>ReSharper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D937E94-3ECB-6245-8C7E-6ADEA0205217}"/>
              </a:ext>
            </a:extLst>
          </p:cNvPr>
          <p:cNvSpPr txBox="1"/>
          <p:nvPr/>
        </p:nvSpPr>
        <p:spPr>
          <a:xfrm>
            <a:off x="571500" y="1879600"/>
            <a:ext cx="8001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b="1">
                <a:solidFill>
                  <a:srgbClr val="5A7D5A"/>
                </a:solidFill>
              </a:rPr>
              <a:t>Fixes:</a:t>
            </a:r>
            <a:r>
              <a:rPr lang="en-US">
                <a:solidFill>
                  <a:srgbClr val="415A77"/>
                </a:solidFill>
              </a:rPr>
              <a:t> hand-written loops LINQ can replace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1C02C0B-F421-0E48-80ED-2D0FC7613BA3}"/>
              </a:ext>
            </a:extLst>
          </p:cNvPr>
          <p:cNvSpPr txBox="1"/>
          <p:nvPr/>
        </p:nvSpPr>
        <p:spPr>
          <a:xfrm>
            <a:off x="571500" y="2413000"/>
            <a:ext cx="63500" cy="1752600"/>
          </a:xfrm>
          <a:prstGeom prst="rect">
            <a:avLst/>
          </a:prstGeom>
          <a:solidFill>
            <a:srgbClr val="A14B4B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2E0EF5A-EFAC-1241-9403-82E13395CA9B}"/>
              </a:ext>
            </a:extLst>
          </p:cNvPr>
          <p:cNvSpPr txBox="1"/>
          <p:nvPr/>
        </p:nvSpPr>
        <p:spPr>
          <a:xfrm>
            <a:off x="635000" y="24130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A14B4B"/>
                </a:solidFill>
                <a:latin typeface="Calibri"/>
                <a:cs typeface="Calibri"/>
              </a:rPr>
              <a:t>Wrong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var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result = 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new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List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&lt;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int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&gt;();
</a:t>
            </a:r>
            <a:r>
              <a:rPr lang="en-US" sz="1400">
                <a:solidFill>
                  <a:srgbClr val="8F08C4"/>
                </a:solidFill>
                <a:latin typeface="Consolas"/>
                <a:cs typeface="Consolas"/>
              </a:rPr>
              <a:t>foreach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(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var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n </a:t>
            </a:r>
            <a:r>
              <a:rPr lang="en-US" sz="1400">
                <a:solidFill>
                  <a:srgbClr val="8F08C4"/>
                </a:solidFill>
                <a:latin typeface="Consolas"/>
                <a:cs typeface="Consolas"/>
              </a:rPr>
              <a:t>in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nums) </a:t>
            </a:r>
            <a:r>
              <a:rPr lang="en-US" sz="1400">
                <a:solidFill>
                  <a:srgbClr val="8F08C4"/>
                </a:solidFill>
                <a:latin typeface="Consolas"/>
                <a:cs typeface="Consolas"/>
              </a:rPr>
              <a:t>if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(n &gt; </a:t>
            </a:r>
            <a:r>
              <a:rPr lang="en-US" sz="1400">
                <a:solidFill>
                  <a:srgbClr val="098658"/>
                </a:solidFill>
                <a:latin typeface="Consolas"/>
                <a:cs typeface="Consolas"/>
              </a:rPr>
              <a:t>0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) result.</a:t>
            </a:r>
            <a:r>
              <a:rPr lang="en-US" sz="1400">
                <a:solidFill>
                  <a:srgbClr val="74531F"/>
                </a:solidFill>
                <a:latin typeface="Consolas"/>
                <a:cs typeface="Consolas"/>
              </a:rPr>
              <a:t>Add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(n);</a:t>
            </a:r>
            <a:endParaRPr lang="en-US" sz="1400">
              <a:solidFill>
                <a:srgbClr val="1F3A5F"/>
              </a:solidFill>
              <a:latin typeface="Consolas"/>
              <a:cs typeface="Consola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2866E54-9270-D147-934A-AADF58C4CC4D}"/>
              </a:ext>
            </a:extLst>
          </p:cNvPr>
          <p:cNvSpPr txBox="1"/>
          <p:nvPr/>
        </p:nvSpPr>
        <p:spPr>
          <a:xfrm>
            <a:off x="571500" y="4470400"/>
            <a:ext cx="63500" cy="1752600"/>
          </a:xfrm>
          <a:prstGeom prst="rect">
            <a:avLst/>
          </a:prstGeom>
          <a:solidFill>
            <a:srgbClr val="5A7D5A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E969D24-230B-6E42-9BD8-18ED107B6AB5}"/>
              </a:ext>
            </a:extLst>
          </p:cNvPr>
          <p:cNvSpPr txBox="1"/>
          <p:nvPr/>
        </p:nvSpPr>
        <p:spPr>
          <a:xfrm>
            <a:off x="635000" y="44704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5A7D5A"/>
                </a:solidFill>
                <a:latin typeface="Calibri"/>
                <a:cs typeface="Calibri"/>
              </a:rPr>
              <a:t>Right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var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result = nums.</a:t>
            </a:r>
            <a:r>
              <a:rPr lang="en-US" sz="1400">
                <a:solidFill>
                  <a:srgbClr val="74531F"/>
                </a:solidFill>
                <a:latin typeface="Consolas"/>
                <a:cs typeface="Consolas"/>
              </a:rPr>
              <a:t>Where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(n =&gt; n &gt; </a:t>
            </a:r>
            <a:r>
              <a:rPr lang="en-US" sz="1400">
                <a:solidFill>
                  <a:srgbClr val="098658"/>
                </a:solidFill>
                <a:latin typeface="Consolas"/>
                <a:cs typeface="Consolas"/>
              </a:rPr>
              <a:t>0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).</a:t>
            </a:r>
            <a:r>
              <a:rPr lang="en-US" sz="1400">
                <a:solidFill>
                  <a:srgbClr val="74531F"/>
                </a:solidFill>
                <a:latin typeface="Consolas"/>
                <a:cs typeface="Consolas"/>
              </a:rPr>
              <a:t>ToList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();</a:t>
            </a:r>
            <a:endParaRPr lang="en-US" sz="1400">
              <a:solidFill>
                <a:srgbClr val="1F3A5F"/>
              </a:solidFill>
              <a:latin typeface="Consolas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38858178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AD62D35-2C1D-6247-A0B2-4031869E1064}"/>
              </a:ext>
            </a:extLst>
          </p:cNvPr>
          <p:cNvSpPr txBox="1"/>
          <p:nvPr/>
        </p:nvSpPr>
        <p:spPr>
          <a:xfrm>
            <a:off x="571500" y="1041400"/>
            <a:ext cx="8001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>
                <a:solidFill>
                  <a:srgbClr val="415A77"/>
                </a:solidFill>
              </a:rPr>
              <a:t>ARCHITECTURE  ·  CQLinq: namespaces mutually dependent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F77E958-0B44-F745-A2A3-F51EC304A373}"/>
              </a:ext>
            </a:extLst>
          </p:cNvPr>
          <p:cNvSpPr txBox="1"/>
          <p:nvPr/>
        </p:nvSpPr>
        <p:spPr>
          <a:xfrm>
            <a:off x="571500" y="1320800"/>
            <a:ext cx="8001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3200" b="1">
                <a:solidFill>
                  <a:srgbClr val="1F3A5F"/>
                </a:solidFill>
              </a:rPr>
              <a:t>NDepend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1FFBC85-CE9C-B944-AE1B-9997DBF0537B}"/>
              </a:ext>
            </a:extLst>
          </p:cNvPr>
          <p:cNvSpPr txBox="1"/>
          <p:nvPr/>
        </p:nvSpPr>
        <p:spPr>
          <a:xfrm>
            <a:off x="571500" y="1879600"/>
            <a:ext cx="8001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b="1">
                <a:solidFill>
                  <a:srgbClr val="5A7D5A"/>
                </a:solidFill>
              </a:rPr>
              <a:t>Fixes:</a:t>
            </a:r>
            <a:r>
              <a:rPr lang="en-US">
                <a:solidFill>
                  <a:srgbClr val="415A77"/>
                </a:solidFill>
              </a:rPr>
              <a:t> circular namespace dependencies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2DDD8E9-40A4-5647-901D-74E0BD2819E9}"/>
              </a:ext>
            </a:extLst>
          </p:cNvPr>
          <p:cNvSpPr txBox="1"/>
          <p:nvPr/>
        </p:nvSpPr>
        <p:spPr>
          <a:xfrm>
            <a:off x="571500" y="2413000"/>
            <a:ext cx="63500" cy="1752600"/>
          </a:xfrm>
          <a:prstGeom prst="rect">
            <a:avLst/>
          </a:prstGeom>
          <a:solidFill>
            <a:srgbClr val="A14B4B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19F42B3-C54E-C742-83CF-F61780A4857C}"/>
              </a:ext>
            </a:extLst>
          </p:cNvPr>
          <p:cNvSpPr txBox="1"/>
          <p:nvPr/>
        </p:nvSpPr>
        <p:spPr>
          <a:xfrm>
            <a:off x="635000" y="24130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A14B4B"/>
                </a:solidFill>
                <a:latin typeface="Calibri"/>
                <a:cs typeface="Calibri"/>
              </a:rPr>
              <a:t>Wrong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namespace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Orders  { 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class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Order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  { Billing.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Invoice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I; } }
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namespace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Billing { 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class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Invoice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{ Orders.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Order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O; } }</a:t>
            </a:r>
            <a:endParaRPr lang="en-US" sz="1400">
              <a:solidFill>
                <a:srgbClr val="1F3A5F"/>
              </a:solidFill>
              <a:latin typeface="Consolas"/>
              <a:cs typeface="Consola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C808EE9-0F89-CE4E-B195-B70B536E3DD8}"/>
              </a:ext>
            </a:extLst>
          </p:cNvPr>
          <p:cNvSpPr txBox="1"/>
          <p:nvPr/>
        </p:nvSpPr>
        <p:spPr>
          <a:xfrm>
            <a:off x="571500" y="4470400"/>
            <a:ext cx="63500" cy="1752600"/>
          </a:xfrm>
          <a:prstGeom prst="rect">
            <a:avLst/>
          </a:prstGeom>
          <a:solidFill>
            <a:srgbClr val="5A7D5A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F83EC37-A54E-2548-9E9A-080C468A8023}"/>
              </a:ext>
            </a:extLst>
          </p:cNvPr>
          <p:cNvSpPr txBox="1"/>
          <p:nvPr/>
        </p:nvSpPr>
        <p:spPr>
          <a:xfrm>
            <a:off x="635000" y="4470400"/>
            <a:ext cx="7937500" cy="17526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vertOverflow="overflow" vert="horz" wrap="square" lIns="177800" tIns="152400" rIns="177800" bIns="127000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5A7D5A"/>
                </a:solidFill>
                <a:latin typeface="Calibri"/>
                <a:cs typeface="Calibri"/>
              </a:rPr>
              <a:t>Right</a:t>
            </a:r>
            <a:r>
              <a:rPr lang="en-US" sz="1400">
                <a:solidFill>
                  <a:srgbClr val="1F3A5F"/>
                </a:solidFill>
                <a:latin typeface="Consolas"/>
                <a:cs typeface="Consolas"/>
              </a:rPr>
              <a:t>
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namespace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Contracts { 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interface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IOrder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{ } 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interface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IInvoice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{ } }
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namespace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Orders    { 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class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Order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  : 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IOrder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  { 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IInvoice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I; } }
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namespace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Billing   { </a:t>
            </a:r>
            <a:r>
              <a:rPr lang="en-US" sz="1400">
                <a:solidFill>
                  <a:srgbClr val="0000FF"/>
                </a:solidFill>
                <a:latin typeface="Consolas"/>
                <a:cs typeface="Consolas"/>
              </a:rPr>
              <a:t>class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Invoice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: 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IInvoice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{ </a:t>
            </a:r>
            <a:r>
              <a:rPr lang="en-US" sz="1400">
                <a:solidFill>
                  <a:srgbClr val="2B91AF"/>
                </a:solidFill>
                <a:latin typeface="Consolas"/>
                <a:cs typeface="Consolas"/>
              </a:rPr>
              <a:t>IOrder</a:t>
            </a:r>
            <a:r>
              <a:rPr lang="en-US" sz="1400">
                <a:solidFill>
                  <a:srgbClr val="1F1F1F"/>
                </a:solidFill>
                <a:latin typeface="Consolas"/>
                <a:cs typeface="Consolas"/>
              </a:rPr>
              <a:t> O; } }</a:t>
            </a:r>
            <a:endParaRPr lang="en-US" sz="1400">
              <a:solidFill>
                <a:srgbClr val="1F3A5F"/>
              </a:solidFill>
              <a:latin typeface="Consolas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41278186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9848415-B9BD-815B-C7DA-B86917435D6E}"/>
              </a:ext>
            </a:extLst>
          </p:cNvPr>
          <p:cNvSpPr txBox="1"/>
          <p:nvPr/>
        </p:nvSpPr>
        <p:spPr>
          <a:xfrm>
            <a:off x="571500" y="1314450"/>
            <a:ext cx="2905125" cy="461665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lang="en-US" sz="2400" b="1" dirty="0">
                <a:solidFill>
                  <a:srgbClr val="1F3A5F"/>
                </a:solidFill>
              </a:rPr>
              <a:t>Style Guide</a:t>
            </a:r>
          </a:p>
        </p:txBody>
      </p:sp>
      <p:sp>
        <p:nvSpPr>
          <p:cNvPr id="100" name="lbl"/>
          <p:cNvSpPr txBox="1"/>
          <p:nvPr/>
        </p:nvSpPr>
        <p:spPr>
          <a:xfrm>
            <a:off x="571500" y="1857375"/>
            <a:ext cx="2857500" cy="228600"/>
          </a:xfrm>
          <a:prstGeom prst="rect">
            <a:avLst/>
          </a:prstGeom>
          <a:noFill/>
        </p:spPr>
        <p:txBody>
          <a:bodyPr lIns="0" tIns="0" rIns="0" bIns="0" anchor="b"/>
          <a:lstStyle/>
          <a:p>
            <a:pPr algn="l"/>
            <a:r>
              <a:rPr lang="en-US" sz="1050" b="1" dirty="0">
                <a:solidFill>
                  <a:srgbClr val="415A77"/>
                </a:solidFill>
              </a:rPr>
              <a:t>Color Palette</a:t>
            </a:r>
          </a:p>
        </p:txBody>
      </p:sp>
      <p:sp>
        <p:nvSpPr>
          <p:cNvPr id="101" name="div"/>
          <p:cNvSpPr/>
          <p:nvPr/>
        </p:nvSpPr>
        <p:spPr>
          <a:xfrm>
            <a:off x="571500" y="2114550"/>
            <a:ext cx="8001000" cy="11430"/>
          </a:xfrm>
          <a:prstGeom prst="rect">
            <a:avLst/>
          </a:prstGeom>
          <a:solidFill>
            <a:srgbClr val="DCE3EC"/>
          </a:solidFill>
          <a:ln>
            <a:noFill/>
          </a:ln>
        </p:spPr>
        <p:txBody>
          <a:bodyPr/>
          <a:lstStyle/>
          <a:p>
            <a:endParaRPr sz="1350"/>
          </a:p>
        </p:txBody>
      </p:sp>
      <p:sp>
        <p:nvSpPr>
          <p:cNvPr id="102" name="sw"/>
          <p:cNvSpPr/>
          <p:nvPr/>
        </p:nvSpPr>
        <p:spPr>
          <a:xfrm>
            <a:off x="571500" y="2238375"/>
            <a:ext cx="1162050" cy="742950"/>
          </a:xfrm>
          <a:prstGeom prst="roundRect">
            <a:avLst>
              <a:gd name="adj" fmla="val 8000"/>
            </a:avLst>
          </a:prstGeom>
          <a:solidFill>
            <a:srgbClr val="1F3A5F"/>
          </a:solidFill>
          <a:ln>
            <a:noFill/>
          </a:ln>
        </p:spPr>
        <p:txBody>
          <a:bodyPr lIns="0" rIns="0" anchor="ctr"/>
          <a:lstStyle/>
          <a:p>
            <a:pPr algn="ctr">
              <a:buNone/>
            </a:pPr>
            <a:r>
              <a:rPr lang="en-US" sz="975" b="1" dirty="0">
                <a:solidFill>
                  <a:srgbClr val="FFFFFF"/>
                </a:solidFill>
              </a:rPr>
              <a:t>#1F3A5F</a:t>
            </a:r>
          </a:p>
        </p:txBody>
      </p:sp>
      <p:sp>
        <p:nvSpPr>
          <p:cNvPr id="103" name="swlbl"/>
          <p:cNvSpPr txBox="1"/>
          <p:nvPr/>
        </p:nvSpPr>
        <p:spPr>
          <a:xfrm>
            <a:off x="571500" y="3019425"/>
            <a:ext cx="1162050" cy="323850"/>
          </a:xfrm>
          <a:prstGeom prst="rect">
            <a:avLst/>
          </a:prstGeom>
          <a:noFill/>
        </p:spPr>
        <p:txBody>
          <a:bodyPr lIns="0" tIns="0" rIns="0" bIns="0"/>
          <a:lstStyle/>
          <a:p>
            <a:pPr algn="ctr"/>
            <a:r>
              <a:rPr lang="en-US" sz="1050" b="1" dirty="0">
                <a:solidFill>
                  <a:srgbClr val="1F3A5F"/>
                </a:solidFill>
              </a:rPr>
              <a:t>Navy</a:t>
            </a:r>
          </a:p>
          <a:p>
            <a:pPr algn="ctr"/>
            <a:r>
              <a:rPr lang="en-US" sz="825" dirty="0">
                <a:solidFill>
                  <a:srgbClr val="6B7280"/>
                </a:solidFill>
              </a:rPr>
              <a:t>Primary</a:t>
            </a:r>
          </a:p>
        </p:txBody>
      </p:sp>
      <p:sp>
        <p:nvSpPr>
          <p:cNvPr id="104" name="sw"/>
          <p:cNvSpPr/>
          <p:nvPr/>
        </p:nvSpPr>
        <p:spPr>
          <a:xfrm>
            <a:off x="1866900" y="2238375"/>
            <a:ext cx="1162050" cy="742950"/>
          </a:xfrm>
          <a:prstGeom prst="roundRect">
            <a:avLst>
              <a:gd name="adj" fmla="val 8000"/>
            </a:avLst>
          </a:prstGeom>
          <a:solidFill>
            <a:srgbClr val="415A77"/>
          </a:solidFill>
          <a:ln>
            <a:noFill/>
          </a:ln>
        </p:spPr>
        <p:txBody>
          <a:bodyPr lIns="0" rIns="0" anchor="ctr"/>
          <a:lstStyle/>
          <a:p>
            <a:pPr algn="ctr">
              <a:buNone/>
            </a:pPr>
            <a:r>
              <a:rPr lang="en-US" sz="975" b="1" dirty="0">
                <a:solidFill>
                  <a:srgbClr val="FFFFFF"/>
                </a:solidFill>
              </a:rPr>
              <a:t>#415A77</a:t>
            </a:r>
          </a:p>
        </p:txBody>
      </p:sp>
      <p:sp>
        <p:nvSpPr>
          <p:cNvPr id="105" name="swlbl"/>
          <p:cNvSpPr txBox="1"/>
          <p:nvPr/>
        </p:nvSpPr>
        <p:spPr>
          <a:xfrm>
            <a:off x="1866900" y="3019425"/>
            <a:ext cx="1162050" cy="323850"/>
          </a:xfrm>
          <a:prstGeom prst="rect">
            <a:avLst/>
          </a:prstGeom>
          <a:noFill/>
        </p:spPr>
        <p:txBody>
          <a:bodyPr lIns="0" tIns="0" rIns="0" bIns="0"/>
          <a:lstStyle/>
          <a:p>
            <a:pPr algn="ctr"/>
            <a:r>
              <a:rPr lang="en-US" sz="1050" b="1" dirty="0">
                <a:solidFill>
                  <a:srgbClr val="1F3A5F"/>
                </a:solidFill>
              </a:rPr>
              <a:t>Slate</a:t>
            </a:r>
          </a:p>
          <a:p>
            <a:pPr algn="ctr"/>
            <a:r>
              <a:rPr lang="en-US" sz="825" dirty="0">
                <a:solidFill>
                  <a:srgbClr val="6B7280"/>
                </a:solidFill>
              </a:rPr>
              <a:t>Secondary</a:t>
            </a:r>
          </a:p>
        </p:txBody>
      </p:sp>
      <p:sp>
        <p:nvSpPr>
          <p:cNvPr id="106" name="sw"/>
          <p:cNvSpPr/>
          <p:nvPr/>
        </p:nvSpPr>
        <p:spPr>
          <a:xfrm>
            <a:off x="3162300" y="2238375"/>
            <a:ext cx="1162050" cy="742950"/>
          </a:xfrm>
          <a:prstGeom prst="roundRect">
            <a:avLst>
              <a:gd name="adj" fmla="val 8000"/>
            </a:avLst>
          </a:prstGeom>
          <a:solidFill>
            <a:srgbClr val="5A7D5A"/>
          </a:solidFill>
          <a:ln>
            <a:noFill/>
          </a:ln>
        </p:spPr>
        <p:txBody>
          <a:bodyPr lIns="0" rIns="0" anchor="ctr"/>
          <a:lstStyle/>
          <a:p>
            <a:pPr algn="ctr">
              <a:buNone/>
            </a:pPr>
            <a:r>
              <a:rPr lang="en-US" sz="975" b="1" dirty="0">
                <a:solidFill>
                  <a:srgbClr val="FFFFFF"/>
                </a:solidFill>
              </a:rPr>
              <a:t>#5A7D5A</a:t>
            </a:r>
          </a:p>
        </p:txBody>
      </p:sp>
      <p:sp>
        <p:nvSpPr>
          <p:cNvPr id="107" name="swlbl"/>
          <p:cNvSpPr txBox="1"/>
          <p:nvPr/>
        </p:nvSpPr>
        <p:spPr>
          <a:xfrm>
            <a:off x="3162300" y="3019425"/>
            <a:ext cx="1162050" cy="323850"/>
          </a:xfrm>
          <a:prstGeom prst="rect">
            <a:avLst/>
          </a:prstGeom>
          <a:noFill/>
        </p:spPr>
        <p:txBody>
          <a:bodyPr lIns="0" tIns="0" rIns="0" bIns="0"/>
          <a:lstStyle/>
          <a:p>
            <a:pPr algn="ctr"/>
            <a:r>
              <a:rPr lang="en-US" sz="1050" b="1" dirty="0">
                <a:solidFill>
                  <a:srgbClr val="1F3A5F"/>
                </a:solidFill>
              </a:rPr>
              <a:t>Green</a:t>
            </a:r>
          </a:p>
          <a:p>
            <a:pPr algn="ctr"/>
            <a:r>
              <a:rPr lang="en-US" sz="825" dirty="0">
                <a:solidFill>
                  <a:srgbClr val="6B7280"/>
                </a:solidFill>
              </a:rPr>
              <a:t>Accent</a:t>
            </a:r>
          </a:p>
        </p:txBody>
      </p:sp>
      <p:sp>
        <p:nvSpPr>
          <p:cNvPr id="108" name="sw"/>
          <p:cNvSpPr/>
          <p:nvPr/>
        </p:nvSpPr>
        <p:spPr>
          <a:xfrm>
            <a:off x="4457700" y="2238375"/>
            <a:ext cx="1162050" cy="742950"/>
          </a:xfrm>
          <a:prstGeom prst="roundRect">
            <a:avLst>
              <a:gd name="adj" fmla="val 8000"/>
            </a:avLst>
          </a:prstGeom>
          <a:solidFill>
            <a:srgbClr val="A14B4B"/>
          </a:solidFill>
          <a:ln>
            <a:noFill/>
          </a:ln>
        </p:spPr>
        <p:txBody>
          <a:bodyPr lIns="0" rIns="0" anchor="ctr"/>
          <a:lstStyle/>
          <a:p>
            <a:pPr algn="ctr">
              <a:buNone/>
            </a:pPr>
            <a:r>
              <a:rPr lang="en-US" sz="975" b="1" dirty="0">
                <a:solidFill>
                  <a:srgbClr val="FFFFFF"/>
                </a:solidFill>
              </a:rPr>
              <a:t>#A14B4B</a:t>
            </a:r>
          </a:p>
        </p:txBody>
      </p:sp>
      <p:sp>
        <p:nvSpPr>
          <p:cNvPr id="109" name="swlbl"/>
          <p:cNvSpPr txBox="1"/>
          <p:nvPr/>
        </p:nvSpPr>
        <p:spPr>
          <a:xfrm>
            <a:off x="4457700" y="3019425"/>
            <a:ext cx="1162050" cy="323850"/>
          </a:xfrm>
          <a:prstGeom prst="rect">
            <a:avLst/>
          </a:prstGeom>
          <a:noFill/>
        </p:spPr>
        <p:txBody>
          <a:bodyPr lIns="0" tIns="0" rIns="0" bIns="0"/>
          <a:lstStyle/>
          <a:p>
            <a:pPr algn="ctr"/>
            <a:r>
              <a:rPr lang="en-US" sz="1050" b="1" dirty="0">
                <a:solidFill>
                  <a:srgbClr val="1F3A5F"/>
                </a:solidFill>
              </a:rPr>
              <a:t>Rust</a:t>
            </a:r>
          </a:p>
          <a:p>
            <a:pPr algn="ctr"/>
            <a:r>
              <a:rPr lang="en-US" sz="825" dirty="0">
                <a:solidFill>
                  <a:srgbClr val="6B7280"/>
                </a:solidFill>
              </a:rPr>
              <a:t>Alert</a:t>
            </a:r>
          </a:p>
        </p:txBody>
      </p:sp>
      <p:sp>
        <p:nvSpPr>
          <p:cNvPr id="110" name="sw"/>
          <p:cNvSpPr/>
          <p:nvPr/>
        </p:nvSpPr>
        <p:spPr>
          <a:xfrm>
            <a:off x="5753100" y="2238375"/>
            <a:ext cx="1162050" cy="742950"/>
          </a:xfrm>
          <a:prstGeom prst="roundRect">
            <a:avLst>
              <a:gd name="adj" fmla="val 8000"/>
            </a:avLst>
          </a:prstGeom>
          <a:solidFill>
            <a:srgbClr val="6B7280"/>
          </a:solidFill>
          <a:ln>
            <a:noFill/>
          </a:ln>
        </p:spPr>
        <p:txBody>
          <a:bodyPr lIns="0" rIns="0" anchor="ctr"/>
          <a:lstStyle/>
          <a:p>
            <a:pPr algn="ctr">
              <a:buNone/>
            </a:pPr>
            <a:r>
              <a:rPr lang="en-US" sz="975" b="1" dirty="0">
                <a:solidFill>
                  <a:srgbClr val="FFFFFF"/>
                </a:solidFill>
              </a:rPr>
              <a:t>#6B7280</a:t>
            </a:r>
          </a:p>
        </p:txBody>
      </p:sp>
      <p:sp>
        <p:nvSpPr>
          <p:cNvPr id="111" name="swlbl"/>
          <p:cNvSpPr txBox="1"/>
          <p:nvPr/>
        </p:nvSpPr>
        <p:spPr>
          <a:xfrm>
            <a:off x="5753100" y="3019425"/>
            <a:ext cx="1162050" cy="323850"/>
          </a:xfrm>
          <a:prstGeom prst="rect">
            <a:avLst/>
          </a:prstGeom>
          <a:noFill/>
        </p:spPr>
        <p:txBody>
          <a:bodyPr lIns="0" tIns="0" rIns="0" bIns="0"/>
          <a:lstStyle/>
          <a:p>
            <a:pPr algn="ctr"/>
            <a:r>
              <a:rPr lang="en-US" sz="1050" b="1" dirty="0">
                <a:solidFill>
                  <a:srgbClr val="1F3A5F"/>
                </a:solidFill>
              </a:rPr>
              <a:t>Gray</a:t>
            </a:r>
          </a:p>
          <a:p>
            <a:pPr algn="ctr"/>
            <a:r>
              <a:rPr lang="en-US" sz="825" dirty="0">
                <a:solidFill>
                  <a:srgbClr val="6B7280"/>
                </a:solidFill>
              </a:rPr>
              <a:t>Neutral</a:t>
            </a:r>
          </a:p>
        </p:txBody>
      </p:sp>
      <p:sp>
        <p:nvSpPr>
          <p:cNvPr id="112" name="sw"/>
          <p:cNvSpPr/>
          <p:nvPr/>
        </p:nvSpPr>
        <p:spPr>
          <a:xfrm>
            <a:off x="7048500" y="2238375"/>
            <a:ext cx="1162050" cy="742950"/>
          </a:xfrm>
          <a:prstGeom prst="roundRect">
            <a:avLst>
              <a:gd name="adj" fmla="val 8000"/>
            </a:avLst>
          </a:prstGeom>
          <a:solidFill>
            <a:srgbClr val="DCE3EC"/>
          </a:solidFill>
          <a:ln>
            <a:noFill/>
          </a:ln>
        </p:spPr>
        <p:txBody>
          <a:bodyPr lIns="0" rIns="0" anchor="ctr"/>
          <a:lstStyle/>
          <a:p>
            <a:pPr algn="ctr">
              <a:buNone/>
            </a:pPr>
            <a:r>
              <a:rPr lang="en-US" sz="975" b="1" dirty="0">
                <a:solidFill>
                  <a:srgbClr val="1F3A5F"/>
                </a:solidFill>
              </a:rPr>
              <a:t>#DCE3EC</a:t>
            </a:r>
          </a:p>
        </p:txBody>
      </p:sp>
      <p:sp>
        <p:nvSpPr>
          <p:cNvPr id="113" name="swlbl"/>
          <p:cNvSpPr txBox="1"/>
          <p:nvPr/>
        </p:nvSpPr>
        <p:spPr>
          <a:xfrm>
            <a:off x="7048500" y="3019425"/>
            <a:ext cx="1162050" cy="323850"/>
          </a:xfrm>
          <a:prstGeom prst="rect">
            <a:avLst/>
          </a:prstGeom>
          <a:noFill/>
        </p:spPr>
        <p:txBody>
          <a:bodyPr lIns="0" tIns="0" rIns="0" bIns="0"/>
          <a:lstStyle/>
          <a:p>
            <a:pPr algn="ctr"/>
            <a:r>
              <a:rPr lang="en-US" sz="1050" b="1" dirty="0">
                <a:solidFill>
                  <a:srgbClr val="1F3A5F"/>
                </a:solidFill>
              </a:rPr>
              <a:t>Light</a:t>
            </a:r>
          </a:p>
          <a:p>
            <a:pPr algn="ctr"/>
            <a:r>
              <a:rPr lang="en-US" sz="825" dirty="0">
                <a:solidFill>
                  <a:srgbClr val="6B7280"/>
                </a:solidFill>
              </a:rPr>
              <a:t>Text/BG</a:t>
            </a:r>
          </a:p>
        </p:txBody>
      </p:sp>
      <p:sp>
        <p:nvSpPr>
          <p:cNvPr id="114" name="lbl"/>
          <p:cNvSpPr txBox="1"/>
          <p:nvPr/>
        </p:nvSpPr>
        <p:spPr>
          <a:xfrm>
            <a:off x="571500" y="3619500"/>
            <a:ext cx="3429000" cy="228600"/>
          </a:xfrm>
          <a:prstGeom prst="rect">
            <a:avLst/>
          </a:prstGeom>
          <a:noFill/>
        </p:spPr>
        <p:txBody>
          <a:bodyPr lIns="0" tIns="0" rIns="0" bIns="0" anchor="b"/>
          <a:lstStyle/>
          <a:p>
            <a:pPr algn="l"/>
            <a:r>
              <a:rPr lang="en-US" sz="1050" b="1" dirty="0">
                <a:solidFill>
                  <a:srgbClr val="415A77"/>
                </a:solidFill>
              </a:rPr>
              <a:t>Typography</a:t>
            </a:r>
          </a:p>
        </p:txBody>
      </p:sp>
      <p:sp>
        <p:nvSpPr>
          <p:cNvPr id="115" name="div"/>
          <p:cNvSpPr/>
          <p:nvPr/>
        </p:nvSpPr>
        <p:spPr>
          <a:xfrm>
            <a:off x="571500" y="3876675"/>
            <a:ext cx="3810000" cy="11430"/>
          </a:xfrm>
          <a:prstGeom prst="rect">
            <a:avLst/>
          </a:prstGeom>
          <a:solidFill>
            <a:srgbClr val="DCE3EC"/>
          </a:solidFill>
          <a:ln>
            <a:noFill/>
          </a:ln>
        </p:spPr>
        <p:txBody>
          <a:bodyPr/>
          <a:lstStyle/>
          <a:p>
            <a:endParaRPr sz="1350"/>
          </a:p>
        </p:txBody>
      </p:sp>
      <p:sp>
        <p:nvSpPr>
          <p:cNvPr id="116" name="typo"/>
          <p:cNvSpPr txBox="1"/>
          <p:nvPr/>
        </p:nvSpPr>
        <p:spPr>
          <a:xfrm>
            <a:off x="571500" y="4000500"/>
            <a:ext cx="3810000" cy="381000"/>
          </a:xfrm>
          <a:prstGeom prst="rect">
            <a:avLst/>
          </a:prstGeom>
          <a:noFill/>
        </p:spPr>
        <p:txBody>
          <a:bodyPr lIns="0" tIns="0" rIns="0" bIns="0" anchor="ctr"/>
          <a:lstStyle/>
          <a:p>
            <a:pPr algn="l"/>
            <a:r>
              <a:rPr lang="en-US" b="1" dirty="0">
                <a:solidFill>
                  <a:srgbClr val="1F3A5F"/>
                </a:solidFill>
              </a:rPr>
              <a:t>Title — 32pt Bold</a:t>
            </a:r>
          </a:p>
        </p:txBody>
      </p:sp>
      <p:sp>
        <p:nvSpPr>
          <p:cNvPr id="117" name="typo"/>
          <p:cNvSpPr txBox="1"/>
          <p:nvPr/>
        </p:nvSpPr>
        <p:spPr>
          <a:xfrm>
            <a:off x="571500" y="4400550"/>
            <a:ext cx="3810000" cy="381000"/>
          </a:xfrm>
          <a:prstGeom prst="rect">
            <a:avLst/>
          </a:prstGeom>
          <a:noFill/>
        </p:spPr>
        <p:txBody>
          <a:bodyPr lIns="0" tIns="0" rIns="0" bIns="0" anchor="ctr"/>
          <a:lstStyle/>
          <a:p>
            <a:pPr algn="l"/>
            <a:r>
              <a:rPr lang="en-US" sz="1350" b="1" dirty="0">
                <a:solidFill>
                  <a:srgbClr val="415A77"/>
                </a:solidFill>
              </a:rPr>
              <a:t>Card Header — 18pt Bold</a:t>
            </a:r>
          </a:p>
        </p:txBody>
      </p:sp>
      <p:sp>
        <p:nvSpPr>
          <p:cNvPr id="118" name="typo"/>
          <p:cNvSpPr txBox="1"/>
          <p:nvPr/>
        </p:nvSpPr>
        <p:spPr>
          <a:xfrm>
            <a:off x="571500" y="4800600"/>
            <a:ext cx="3810000" cy="381000"/>
          </a:xfrm>
          <a:prstGeom prst="rect">
            <a:avLst/>
          </a:prstGeom>
          <a:noFill/>
        </p:spPr>
        <p:txBody>
          <a:bodyPr lIns="0" tIns="0" rIns="0" bIns="0" anchor="ctr"/>
          <a:lstStyle/>
          <a:p>
            <a:pPr algn="l"/>
            <a:r>
              <a:rPr lang="en-US" sz="1050" dirty="0">
                <a:solidFill>
                  <a:srgbClr val="6B7280"/>
                </a:solidFill>
              </a:rPr>
              <a:t>Body Text — 14pt Regular</a:t>
            </a:r>
          </a:p>
        </p:txBody>
      </p:sp>
      <p:sp>
        <p:nvSpPr>
          <p:cNvPr id="119" name="lbl"/>
          <p:cNvSpPr txBox="1"/>
          <p:nvPr/>
        </p:nvSpPr>
        <p:spPr>
          <a:xfrm>
            <a:off x="4762500" y="3619500"/>
            <a:ext cx="3810000" cy="228600"/>
          </a:xfrm>
          <a:prstGeom prst="rect">
            <a:avLst/>
          </a:prstGeom>
          <a:noFill/>
        </p:spPr>
        <p:txBody>
          <a:bodyPr lIns="0" tIns="0" rIns="0" bIns="0" anchor="b"/>
          <a:lstStyle/>
          <a:p>
            <a:pPr algn="l"/>
            <a:r>
              <a:rPr lang="en-US" sz="1050" b="1" dirty="0">
                <a:solidFill>
                  <a:srgbClr val="415A77"/>
                </a:solidFill>
              </a:rPr>
              <a:t>Components</a:t>
            </a:r>
          </a:p>
        </p:txBody>
      </p:sp>
      <p:sp>
        <p:nvSpPr>
          <p:cNvPr id="120" name="div"/>
          <p:cNvSpPr/>
          <p:nvPr/>
        </p:nvSpPr>
        <p:spPr>
          <a:xfrm>
            <a:off x="4762500" y="3876675"/>
            <a:ext cx="3810000" cy="11430"/>
          </a:xfrm>
          <a:prstGeom prst="rect">
            <a:avLst/>
          </a:prstGeom>
          <a:solidFill>
            <a:srgbClr val="DCE3EC"/>
          </a:solidFill>
          <a:ln>
            <a:noFill/>
          </a:ln>
        </p:spPr>
        <p:txBody>
          <a:bodyPr/>
          <a:lstStyle/>
          <a:p>
            <a:endParaRPr sz="1350"/>
          </a:p>
        </p:txBody>
      </p:sp>
      <p:sp>
        <p:nvSpPr>
          <p:cNvPr id="121" name="card"/>
          <p:cNvSpPr/>
          <p:nvPr/>
        </p:nvSpPr>
        <p:spPr>
          <a:xfrm>
            <a:off x="4762500" y="4019550"/>
            <a:ext cx="2047875" cy="1238250"/>
          </a:xfrm>
          <a:prstGeom prst="roundRect">
            <a:avLst>
              <a:gd name="adj" fmla="val 8000"/>
            </a:avLst>
          </a:prstGeom>
          <a:solidFill>
            <a:srgbClr val="415A77"/>
          </a:solidFill>
          <a:ln>
            <a:noFill/>
          </a:ln>
        </p:spPr>
        <p:txBody>
          <a:bodyPr lIns="68580" rIns="68580" anchor="ctr"/>
          <a:lstStyle/>
          <a:p>
            <a:pPr algn="ctr">
              <a:buNone/>
            </a:pPr>
            <a:r>
              <a:rPr lang="en-US" sz="1350" b="1" dirty="0">
                <a:solidFill>
                  <a:srgbClr val="FFFFFF"/>
                </a:solidFill>
              </a:rPr>
              <a:t>Card Title</a:t>
            </a:r>
          </a:p>
          <a:p>
            <a:pPr algn="ctr">
              <a:spcBef>
                <a:spcPts val="450"/>
              </a:spcBef>
            </a:pPr>
            <a:r>
              <a:rPr lang="en-US" sz="1050" dirty="0">
                <a:solidFill>
                  <a:srgbClr val="DCE3EC"/>
                </a:solidFill>
              </a:rPr>
              <a:t>Supporting body text with an </a:t>
            </a:r>
            <a:r>
              <a:rPr lang="en-US" sz="1050" b="1" dirty="0">
                <a:solidFill>
                  <a:srgbClr val="7FB280"/>
                </a:solidFill>
              </a:rPr>
              <a:t>accent</a:t>
            </a:r>
            <a:r>
              <a:rPr lang="en-US" sz="1050" dirty="0">
                <a:solidFill>
                  <a:srgbClr val="DCE3EC"/>
                </a:solidFill>
              </a:rPr>
              <a:t> highlight</a:t>
            </a:r>
          </a:p>
        </p:txBody>
      </p:sp>
      <p:sp>
        <p:nvSpPr>
          <p:cNvPr id="122" name="arrow"/>
          <p:cNvSpPr/>
          <p:nvPr/>
        </p:nvSpPr>
        <p:spPr>
          <a:xfrm>
            <a:off x="6934200" y="4562475"/>
            <a:ext cx="266700" cy="17145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txBody>
          <a:bodyPr/>
          <a:lstStyle/>
          <a:p>
            <a:endParaRPr sz="1350"/>
          </a:p>
        </p:txBody>
      </p:sp>
      <p:sp>
        <p:nvSpPr>
          <p:cNvPr id="123" name="card2"/>
          <p:cNvSpPr/>
          <p:nvPr/>
        </p:nvSpPr>
        <p:spPr>
          <a:xfrm>
            <a:off x="7315200" y="4019550"/>
            <a:ext cx="1257300" cy="1238250"/>
          </a:xfrm>
          <a:prstGeom prst="roundRect">
            <a:avLst>
              <a:gd name="adj" fmla="val 8000"/>
            </a:avLst>
          </a:prstGeom>
          <a:solidFill>
            <a:srgbClr val="1F3A5F"/>
          </a:solidFill>
          <a:ln>
            <a:noFill/>
          </a:ln>
        </p:spPr>
        <p:txBody>
          <a:bodyPr lIns="48006" rIns="48006" anchor="ctr"/>
          <a:lstStyle/>
          <a:p>
            <a:pPr algn="ctr">
              <a:buNone/>
            </a:pPr>
            <a:r>
              <a:rPr lang="en-US" sz="1350" b="1" dirty="0">
                <a:solidFill>
                  <a:srgbClr val="FFFFFF"/>
                </a:solidFill>
              </a:rPr>
              <a:t>Step</a:t>
            </a:r>
          </a:p>
        </p:txBody>
      </p:sp>
    </p:spTree>
    <p:extLst>
      <p:ext uri="{BB962C8B-B14F-4D97-AF65-F5344CB8AC3E}">
        <p14:creationId xmlns:p14="http://schemas.microsoft.com/office/powerpoint/2010/main" val="325604942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TextBox 1"/>
          <p:cNvSpPr txBox="1"/>
          <p:nvPr/>
        </p:nvSpPr>
        <p:spPr>
          <a:xfrm>
            <a:off x="571500" y="1314450"/>
            <a:ext cx="4762500" cy="438150"/>
          </a:xfrm>
          <a:prstGeom prst="rect">
            <a:avLst/>
          </a:prstGeom>
          <a:noFill/>
        </p:spPr>
        <p:txBody>
          <a:bodyPr lIns="0" tIns="0" rIns="0" bIns="0" anchor="ctr"/>
          <a:lstStyle/>
          <a:p>
            <a:pPr algn="l"/>
            <a:r>
              <a:rPr lang="en-US" sz="2400" b="1" dirty="0">
                <a:solidFill>
                  <a:srgbClr val="1F3A5F"/>
                </a:solidFill>
              </a:rPr>
              <a:t>Design Philosophy</a:t>
            </a:r>
          </a:p>
        </p:txBody>
      </p:sp>
      <p:sp>
        <p:nvSpPr>
          <p:cNvPr id="201" name="intro"/>
          <p:cNvSpPr txBox="1"/>
          <p:nvPr/>
        </p:nvSpPr>
        <p:spPr>
          <a:xfrm>
            <a:off x="571500" y="1885950"/>
            <a:ext cx="8001000" cy="457200"/>
          </a:xfrm>
          <a:prstGeom prst="rect">
            <a:avLst/>
          </a:prstGeom>
          <a:noFill/>
        </p:spPr>
        <p:txBody>
          <a:bodyPr lIns="0" tIns="0" rIns="0" bIns="0" anchor="t"/>
          <a:lstStyle/>
          <a:p>
            <a:r>
              <a:rPr lang="en-US" sz="1200" dirty="0">
                <a:solidFill>
                  <a:srgbClr val="415A77"/>
                </a:solidFill>
              </a:rPr>
              <a:t>Every choice in this system serves one goal: making complex ideas </a:t>
            </a:r>
            <a:r>
              <a:rPr lang="en-US" sz="1200" b="1" dirty="0">
                <a:solidFill>
                  <a:srgbClr val="5A7D5A"/>
                </a:solidFill>
              </a:rPr>
              <a:t>clear</a:t>
            </a:r>
            <a:r>
              <a:rPr lang="en-US" sz="1200" dirty="0">
                <a:solidFill>
                  <a:srgbClr val="415A77"/>
                </a:solidFill>
              </a:rPr>
              <a:t>,</a:t>
            </a:r>
            <a:r>
              <a:rPr lang="en-US" sz="1200" b="1" dirty="0">
                <a:solidFill>
                  <a:srgbClr val="5A7D5A"/>
                </a:solidFill>
              </a:rPr>
              <a:t> easy</a:t>
            </a:r>
            <a:r>
              <a:rPr lang="en-US" sz="1200" dirty="0">
                <a:solidFill>
                  <a:srgbClr val="415A77"/>
                </a:solidFill>
              </a:rPr>
              <a:t> to </a:t>
            </a:r>
            <a:r>
              <a:rPr lang="en-US" sz="1200" b="1" dirty="0">
                <a:solidFill>
                  <a:srgbClr val="5A7D5A"/>
                </a:solidFill>
              </a:rPr>
              <a:t> visualize</a:t>
            </a:r>
            <a:r>
              <a:rPr lang="en-US" sz="1200" dirty="0">
                <a:solidFill>
                  <a:srgbClr val="415A77"/>
                </a:solidFill>
              </a:rPr>
              <a:t>, and easy to </a:t>
            </a:r>
            <a:r>
              <a:rPr lang="en-US" sz="1200" b="1" dirty="0">
                <a:solidFill>
                  <a:srgbClr val="5A7D5A"/>
                </a:solidFill>
              </a:rPr>
              <a:t>follow</a:t>
            </a:r>
            <a:endParaRPr lang="en-US" sz="1200" dirty="0">
              <a:solidFill>
                <a:srgbClr val="415A77"/>
              </a:solidFill>
            </a:endParaRPr>
          </a:p>
        </p:txBody>
      </p:sp>
      <p:sp>
        <p:nvSpPr>
          <p:cNvPr id="202" name="card"/>
          <p:cNvSpPr/>
          <p:nvPr/>
        </p:nvSpPr>
        <p:spPr>
          <a:xfrm>
            <a:off x="571500" y="2552700"/>
            <a:ext cx="1885950" cy="2381250"/>
          </a:xfrm>
          <a:prstGeom prst="roundRect">
            <a:avLst>
              <a:gd name="adj" fmla="val 6000"/>
            </a:avLst>
          </a:prstGeom>
          <a:solidFill>
            <a:srgbClr val="1F3A5F"/>
          </a:solidFill>
          <a:ln>
            <a:noFill/>
          </a:ln>
        </p:spPr>
        <p:txBody>
          <a:bodyPr lIns="102870" tIns="102870" rIns="102870" bIns="102870" anchor="t"/>
          <a:lstStyle/>
          <a:p>
            <a:pPr algn="l">
              <a:buNone/>
            </a:pPr>
            <a:r>
              <a:rPr lang="en-US" sz="825" b="1" dirty="0">
                <a:solidFill>
                  <a:srgbClr val="7FB280"/>
                </a:solidFill>
              </a:rPr>
              <a:t>01</a:t>
            </a:r>
          </a:p>
          <a:p>
            <a:pPr>
              <a:spcBef>
                <a:spcPts val="300"/>
              </a:spcBef>
            </a:pPr>
            <a:r>
              <a:rPr lang="en-US" sz="1275" b="1" dirty="0">
                <a:solidFill>
                  <a:srgbClr val="FFFFFF"/>
                </a:solidFill>
              </a:rPr>
              <a:t>Clarity over decoration</a:t>
            </a:r>
          </a:p>
          <a:p>
            <a:pPr>
              <a:spcBef>
                <a:spcPts val="600"/>
              </a:spcBef>
            </a:pPr>
            <a:r>
              <a:rPr lang="en-US" sz="1050" dirty="0">
                <a:solidFill>
                  <a:srgbClr val="DCE3EC"/>
                </a:solidFill>
              </a:rPr>
              <a:t>Structure carries the </a:t>
            </a:r>
            <a:r>
              <a:rPr lang="en-US" sz="1050" b="1" dirty="0">
                <a:solidFill>
                  <a:srgbClr val="DCE3EC"/>
                </a:solidFill>
              </a:rPr>
              <a:t>meaning</a:t>
            </a:r>
            <a:r>
              <a:rPr lang="en-US" sz="1050" dirty="0">
                <a:solidFill>
                  <a:srgbClr val="DCE3EC"/>
                </a:solidFill>
              </a:rPr>
              <a:t>.</a:t>
            </a:r>
          </a:p>
          <a:p>
            <a:pPr>
              <a:spcBef>
                <a:spcPts val="600"/>
              </a:spcBef>
            </a:pPr>
            <a:br>
              <a:rPr lang="en-US" sz="1050" dirty="0">
                <a:solidFill>
                  <a:srgbClr val="DCE3EC"/>
                </a:solidFill>
              </a:rPr>
            </a:br>
            <a:r>
              <a:rPr lang="en-US" sz="1050" dirty="0">
                <a:solidFill>
                  <a:srgbClr val="DCE3EC"/>
                </a:solidFill>
              </a:rPr>
              <a:t>Color and shape signal hierarchy and state</a:t>
            </a:r>
          </a:p>
          <a:p>
            <a:pPr>
              <a:spcBef>
                <a:spcPts val="600"/>
              </a:spcBef>
            </a:pPr>
            <a:r>
              <a:rPr lang="en-US" sz="1050" dirty="0">
                <a:solidFill>
                  <a:srgbClr val="DCE3EC"/>
                </a:solidFill>
              </a:rPr>
              <a:t>Never ornament for its own sake.</a:t>
            </a:r>
          </a:p>
        </p:txBody>
      </p:sp>
      <p:sp>
        <p:nvSpPr>
          <p:cNvPr id="203" name="card"/>
          <p:cNvSpPr/>
          <p:nvPr/>
        </p:nvSpPr>
        <p:spPr>
          <a:xfrm>
            <a:off x="2609850" y="2552700"/>
            <a:ext cx="1885950" cy="2381250"/>
          </a:xfrm>
          <a:prstGeom prst="roundRect">
            <a:avLst>
              <a:gd name="adj" fmla="val 6000"/>
            </a:avLst>
          </a:prstGeom>
          <a:solidFill>
            <a:srgbClr val="415A77"/>
          </a:solidFill>
          <a:ln>
            <a:noFill/>
          </a:ln>
        </p:spPr>
        <p:txBody>
          <a:bodyPr lIns="102870" tIns="102870" rIns="102870" bIns="102870" anchor="t"/>
          <a:lstStyle/>
          <a:p>
            <a:pPr algn="l">
              <a:buNone/>
            </a:pPr>
            <a:r>
              <a:rPr lang="en-US" sz="825" b="1" dirty="0">
                <a:solidFill>
                  <a:srgbClr val="7FB280"/>
                </a:solidFill>
              </a:rPr>
              <a:t>02</a:t>
            </a:r>
          </a:p>
          <a:p>
            <a:pPr>
              <a:spcBef>
                <a:spcPts val="300"/>
              </a:spcBef>
            </a:pPr>
            <a:r>
              <a:rPr lang="en-US" sz="1275" b="1" dirty="0">
                <a:solidFill>
                  <a:srgbClr val="FFFFFF"/>
                </a:solidFill>
              </a:rPr>
              <a:t>Calm, confident palette</a:t>
            </a:r>
          </a:p>
          <a:p>
            <a:pPr>
              <a:spcBef>
                <a:spcPts val="600"/>
              </a:spcBef>
            </a:pPr>
            <a:r>
              <a:rPr lang="en-US" sz="1050" dirty="0">
                <a:solidFill>
                  <a:srgbClr val="DCE3EC"/>
                </a:solidFill>
              </a:rPr>
              <a:t>Navy and slate set a steady tone.</a:t>
            </a:r>
          </a:p>
          <a:p>
            <a:pPr>
              <a:spcBef>
                <a:spcPts val="600"/>
              </a:spcBef>
            </a:pPr>
            <a:r>
              <a:rPr lang="en-US" sz="1050" dirty="0">
                <a:solidFill>
                  <a:srgbClr val="DCE3EC"/>
                </a:solidFill>
              </a:rPr>
              <a:t>Green and rust appear sparingly.</a:t>
            </a:r>
          </a:p>
          <a:p>
            <a:pPr>
              <a:spcBef>
                <a:spcPts val="600"/>
              </a:spcBef>
            </a:pPr>
            <a:r>
              <a:rPr lang="en-US" sz="1050" dirty="0">
                <a:solidFill>
                  <a:srgbClr val="DCE3EC"/>
                </a:solidFill>
              </a:rPr>
              <a:t>Color marks safe and risk — nothing more.</a:t>
            </a:r>
          </a:p>
        </p:txBody>
      </p:sp>
      <p:sp>
        <p:nvSpPr>
          <p:cNvPr id="204" name="card"/>
          <p:cNvSpPr/>
          <p:nvPr/>
        </p:nvSpPr>
        <p:spPr>
          <a:xfrm>
            <a:off x="4648200" y="2552700"/>
            <a:ext cx="1885950" cy="2381250"/>
          </a:xfrm>
          <a:prstGeom prst="roundRect">
            <a:avLst>
              <a:gd name="adj" fmla="val 6000"/>
            </a:avLst>
          </a:prstGeom>
          <a:solidFill>
            <a:srgbClr val="5A7D5A"/>
          </a:solidFill>
          <a:ln>
            <a:noFill/>
          </a:ln>
        </p:spPr>
        <p:txBody>
          <a:bodyPr lIns="102870" tIns="102870" rIns="102870" bIns="102870" anchor="t"/>
          <a:lstStyle/>
          <a:p>
            <a:pPr algn="l">
              <a:buNone/>
            </a:pPr>
            <a:r>
              <a:rPr lang="en-US" sz="825" b="1" dirty="0">
                <a:solidFill>
                  <a:srgbClr val="7FB280"/>
                </a:solidFill>
              </a:rPr>
              <a:t>03</a:t>
            </a:r>
          </a:p>
          <a:p>
            <a:pPr>
              <a:spcBef>
                <a:spcPts val="300"/>
              </a:spcBef>
            </a:pPr>
            <a:r>
              <a:rPr lang="en-US" sz="1275" b="1" dirty="0">
                <a:solidFill>
                  <a:srgbClr val="FFFFFF"/>
                </a:solidFill>
              </a:rPr>
              <a:t>Consistent components</a:t>
            </a:r>
          </a:p>
          <a:p>
            <a:pPr>
              <a:spcBef>
                <a:spcPts val="600"/>
              </a:spcBef>
            </a:pPr>
            <a:r>
              <a:rPr lang="en-US" sz="1050" dirty="0">
                <a:solidFill>
                  <a:srgbClr val="DCE3EC"/>
                </a:solidFill>
              </a:rPr>
              <a:t>Rounded cards and arrows repeat.</a:t>
            </a:r>
          </a:p>
          <a:p>
            <a:pPr>
              <a:spcBef>
                <a:spcPts val="600"/>
              </a:spcBef>
            </a:pPr>
            <a:r>
              <a:rPr lang="en-US" sz="1050" dirty="0">
                <a:solidFill>
                  <a:srgbClr val="DCE3EC"/>
                </a:solidFill>
              </a:rPr>
              <a:t>One visual grammar across slides.</a:t>
            </a:r>
          </a:p>
          <a:p>
            <a:pPr>
              <a:spcBef>
                <a:spcPts val="600"/>
              </a:spcBef>
            </a:pPr>
            <a:r>
              <a:rPr lang="en-US" sz="1050" dirty="0">
                <a:solidFill>
                  <a:srgbClr val="DCE3EC"/>
                </a:solidFill>
              </a:rPr>
              <a:t>Every new slide fits the system.</a:t>
            </a:r>
          </a:p>
        </p:txBody>
      </p:sp>
      <p:sp>
        <p:nvSpPr>
          <p:cNvPr id="205" name="card"/>
          <p:cNvSpPr/>
          <p:nvPr/>
        </p:nvSpPr>
        <p:spPr>
          <a:xfrm>
            <a:off x="6686550" y="2552700"/>
            <a:ext cx="1885950" cy="2381250"/>
          </a:xfrm>
          <a:prstGeom prst="roundRect">
            <a:avLst>
              <a:gd name="adj" fmla="val 6000"/>
            </a:avLst>
          </a:prstGeom>
          <a:solidFill>
            <a:srgbClr val="A14B4B"/>
          </a:solidFill>
          <a:ln>
            <a:noFill/>
          </a:ln>
        </p:spPr>
        <p:txBody>
          <a:bodyPr lIns="102870" tIns="102870" rIns="102870" bIns="102870" anchor="t"/>
          <a:lstStyle/>
          <a:p>
            <a:pPr algn="l">
              <a:buNone/>
            </a:pPr>
            <a:r>
              <a:rPr lang="en-US" sz="825" b="1" dirty="0">
                <a:solidFill>
                  <a:srgbClr val="7FB280"/>
                </a:solidFill>
              </a:rPr>
              <a:t>04</a:t>
            </a:r>
          </a:p>
          <a:p>
            <a:pPr>
              <a:spcBef>
                <a:spcPts val="300"/>
              </a:spcBef>
            </a:pPr>
            <a:r>
              <a:rPr lang="en-US" sz="1275" b="1" dirty="0">
                <a:solidFill>
                  <a:srgbClr val="FFFFFF"/>
                </a:solidFill>
              </a:rPr>
              <a:t>Scannable by design</a:t>
            </a:r>
          </a:p>
          <a:p>
            <a:pPr>
              <a:spcBef>
                <a:spcPts val="600"/>
              </a:spcBef>
            </a:pPr>
            <a:r>
              <a:rPr lang="en-US" sz="1050" dirty="0">
                <a:solidFill>
                  <a:srgbClr val="DCE3EC"/>
                </a:solidFill>
              </a:rPr>
              <a:t>Lead with the takeaway.</a:t>
            </a:r>
          </a:p>
          <a:p>
            <a:pPr>
              <a:spcBef>
                <a:spcPts val="600"/>
              </a:spcBef>
            </a:pPr>
            <a:r>
              <a:rPr lang="en-US" sz="1050" dirty="0">
                <a:solidFill>
                  <a:srgbClr val="DCE3EC"/>
                </a:solidFill>
              </a:rPr>
              <a:t>Short lines over dense paragraphs.</a:t>
            </a:r>
          </a:p>
          <a:p>
            <a:pPr>
              <a:spcBef>
                <a:spcPts val="600"/>
              </a:spcBef>
            </a:pPr>
            <a:r>
              <a:rPr lang="en-US" sz="1050" dirty="0">
                <a:solidFill>
                  <a:srgbClr val="DCE3EC"/>
                </a:solidFill>
              </a:rPr>
              <a:t>Limited attention is a constraint, not an afterthought.</a:t>
            </a:r>
          </a:p>
        </p:txBody>
      </p:sp>
    </p:spTree>
    <p:extLst>
      <p:ext uri="{BB962C8B-B14F-4D97-AF65-F5344CB8AC3E}">
        <p14:creationId xmlns:p14="http://schemas.microsoft.com/office/powerpoint/2010/main" val="145949456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 [1781086286118]">
  <a:themeElements>
    <a:clrScheme name="Office">
      <a:dk1>
        <a:srgbClr val="1F3A5F"/>
      </a:dk1>
      <a:lt1>
        <a:srgbClr val="FFFFFF"/>
      </a:lt1>
      <a:dk2>
        <a:srgbClr val="415A77"/>
      </a:dk2>
      <a:lt2>
        <a:srgbClr val="DCE3EC"/>
      </a:lt2>
      <a:accent1>
        <a:srgbClr val="1F3A5F"/>
      </a:accent1>
      <a:accent2>
        <a:srgbClr val="415A77"/>
      </a:accent2>
      <a:accent3>
        <a:srgbClr val="5A7D5A"/>
      </a:accent3>
      <a:accent4>
        <a:srgbClr val="A14B4B"/>
      </a:accent4>
      <a:accent5>
        <a:srgbClr val="6B7280"/>
      </a:accent5>
      <a:accent6>
        <a:srgbClr val="DCE3EC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D0A847C4-28CC-C945-9DD6-3BB18DDA25E7}">
  <we:reference id="wa200010001" version="1.0.0.1" store="en-US" storeType="OMEX"/>
  <we:alternateReferences>
    <we:reference id="WA200010001" version="1.0.0.1" store="" storeType="OMEX"/>
  </we:alternateReferences>
  <we:properties>
    <we:property name="claude.fileId" value="&quot;25027030-9bfe-4210-a54d-7b48122f9f27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1659</TotalTime>
  <Words>1537</Words>
  <Application>Microsoft Macintosh PowerPoint</Application>
  <PresentationFormat>On-screen Show (4:3)</PresentationFormat>
  <Paragraphs>227</Paragraphs>
  <Slides>28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3" baseType="lpstr">
      <vt:lpstr>Aptos</vt:lpstr>
      <vt:lpstr>Arial</vt:lpstr>
      <vt:lpstr>Calibri</vt:lpstr>
      <vt:lpstr>Consolas</vt:lpstr>
      <vt:lpstr>Office Theme [1781086286118]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Llewellyn Falco</cp:lastModifiedBy>
  <cp:revision>25</cp:revision>
  <dcterms:created xsi:type="dcterms:W3CDTF">2013-01-27T09:14:16Z</dcterms:created>
  <dcterms:modified xsi:type="dcterms:W3CDTF">2026-10-06T04:05:26Z</dcterms:modified>
  <cp:category/>
</cp:coreProperties>
</file>