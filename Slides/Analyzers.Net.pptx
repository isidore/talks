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4"/>
  </p:notesMasterIdLst>
  <p:sldIdLst>
    <p:sldId id="276" r:id="rId2"/>
    <p:sldId id="327" r:id="rId3"/>
    <p:sldId id="326" r:id="rId4"/>
    <p:sldId id="278" r:id="rId5"/>
    <p:sldId id="302" r:id="rId6"/>
    <p:sldId id="303" r:id="rId7"/>
    <p:sldId id="304" r:id="rId8"/>
    <p:sldId id="306" r:id="rId9"/>
    <p:sldId id="305" r:id="rId10"/>
    <p:sldId id="307" r:id="rId11"/>
    <p:sldId id="308" r:id="rId12"/>
    <p:sldId id="309" r:id="rId13"/>
    <p:sldId id="310" r:id="rId14"/>
    <p:sldId id="311" r:id="rId15"/>
    <p:sldId id="312" r:id="rId16"/>
    <p:sldId id="313" r:id="rId17"/>
    <p:sldId id="314" r:id="rId18"/>
    <p:sldId id="315" r:id="rId19"/>
    <p:sldId id="316" r:id="rId20"/>
    <p:sldId id="317" r:id="rId21"/>
    <p:sldId id="318" r:id="rId22"/>
    <p:sldId id="319" r:id="rId23"/>
    <p:sldId id="320" r:id="rId24"/>
    <p:sldId id="321" r:id="rId25"/>
    <p:sldId id="322" r:id="rId26"/>
    <p:sldId id="323" r:id="rId27"/>
    <p:sldId id="324" r:id="rId28"/>
    <p:sldId id="325" r:id="rId29"/>
    <p:sldId id="328" r:id="rId30"/>
    <p:sldId id="410" r:id="rId31"/>
    <p:sldId id="271" r:id="rId32"/>
    <p:sldId id="275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14D8F24-B5B1-FF42-BDED-C9E4E4C957F8}">
          <p14:sldIdLst>
            <p14:sldId id="276"/>
            <p14:sldId id="327"/>
            <p14:sldId id="326"/>
            <p14:sldId id="278"/>
            <p14:sldId id="302"/>
            <p14:sldId id="303"/>
            <p14:sldId id="304"/>
            <p14:sldId id="306"/>
            <p14:sldId id="305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8"/>
            <p14:sldId id="410"/>
          </p14:sldIdLst>
        </p14:section>
        <p14:section name="The Talk" id="{C3E73350-9999-4042-B46C-954DFBCF7697}">
          <p14:sldIdLst/>
        </p14:section>
        <p14:section name="Style Guide" id="{AD4C1F05-61C8-2841-B0A1-FC6B5B8B3C61}">
          <p14:sldIdLst>
            <p14:sldId id="271"/>
            <p14:sldId id="2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4BA1"/>
    <a:srgbClr val="417769"/>
    <a:srgbClr val="A173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90"/>
    <p:restoredTop sz="91179"/>
  </p:normalViewPr>
  <p:slideViewPr>
    <p:cSldViewPr snapToGrid="0" snapToObjects="1">
      <p:cViewPr>
        <p:scale>
          <a:sx n="141" d="100"/>
          <a:sy n="141" d="100"/>
        </p:scale>
        <p:origin x="3168" y="16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351BAA-7863-A845-95EE-E0917C9017C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35D2C9-2D07-354B-99FC-F9CD075E9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771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35D2C9-2D07-354B-99FC-F9CD075E994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960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37D396-1685-264D-85FB-49DF06B49884}"/>
              </a:ext>
            </a:extLst>
          </p:cNvPr>
          <p:cNvSpPr txBox="1"/>
          <p:nvPr/>
        </p:nvSpPr>
        <p:spPr>
          <a:xfrm>
            <a:off x="571500" y="2413000"/>
            <a:ext cx="8001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4800" b="1">
                <a:solidFill>
                  <a:srgbClr val="FFFFFF"/>
                </a:solidFill>
              </a:rPr>
              <a:t>Analyzers in .NET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4B2108-7582-5D44-84FD-8DD0EF8528A8}"/>
              </a:ext>
            </a:extLst>
          </p:cNvPr>
          <p:cNvSpPr txBox="1"/>
          <p:nvPr/>
        </p:nvSpPr>
        <p:spPr>
          <a:xfrm>
            <a:off x="571500" y="3327400"/>
            <a:ext cx="8001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DCE3EC"/>
                </a:solidFill>
              </a:rPr>
              <a:t>An overview of .NET analyzers, and how to create a custom one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176C54-3861-504B-AFD6-B82D54191117}"/>
              </a:ext>
            </a:extLst>
          </p:cNvPr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60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DC17A9A-1DC3-E073-1696-11CD04C39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99860"/>
            <a:ext cx="7772400" cy="445828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228006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BB3207-F822-6EFB-F69D-7E14B77ECC8D}"/>
              </a:ext>
            </a:extLst>
          </p:cNvPr>
          <p:cNvSpPr txBox="1"/>
          <p:nvPr/>
        </p:nvSpPr>
        <p:spPr>
          <a:xfrm>
            <a:off x="389299" y="6195330"/>
            <a:ext cx="79082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talks.ai</a:t>
            </a:r>
            <a:r>
              <a:rPr lang="en-US" dirty="0"/>
              <a:t>-coding-</a:t>
            </a:r>
            <a:r>
              <a:rPr lang="en-US" dirty="0" err="1"/>
              <a:t>patterns.dev</a:t>
            </a:r>
            <a:r>
              <a:rPr lang="en-US" dirty="0"/>
              <a:t>/socrates-2026/slides/#offload-deterministic/1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65017A-B78C-29FA-68F0-E5052FEE3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25962"/>
            <a:ext cx="7772400" cy="440607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68547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2438ED-838D-BA44-BFF1-5A22F7FDC4E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How analyzers plug into a .csproj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24C367C-97E1-4040-96C0-6456AABA4219}"/>
              </a:ext>
            </a:extLst>
          </p:cNvPr>
          <p:cNvSpPr/>
          <p:nvPr/>
        </p:nvSpPr>
        <p:spPr>
          <a:xfrm>
            <a:off x="571500" y="2095500"/>
            <a:ext cx="4953000" cy="20955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 cap="flat" cmpd="sng" algn="ctr">
            <a:solidFill>
              <a:srgbClr val="DCE3E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52400" rIns="177800" bIns="127000" rtlCol="0" anchor="t" anchorCtr="0">
            <a:noAutofit/>
          </a:bodyPr>
          <a:lstStyle/>
          <a:p>
            <a:r>
              <a:rPr lang="en-US" sz="1300" b="1">
                <a:solidFill>
                  <a:srgbClr val="415A77"/>
                </a:solidFill>
                <a:latin typeface="Calibri"/>
                <a:cs typeface="Calibri"/>
              </a:rPr>
              <a:t>MyApp.csproj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&lt;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ItemGroup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&gt;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&lt;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PackageReference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</a:t>
            </a:r>
            <a:r>
              <a:rPr lang="en-US" sz="1400">
                <a:solidFill>
                  <a:srgbClr val="E50000"/>
                </a:solidFill>
                <a:latin typeface="Consolas"/>
                <a:cs typeface="Consolas"/>
              </a:rPr>
              <a:t>Include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=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"StyleCop.Analyzers"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</a:t>
            </a:r>
            <a:r>
              <a:rPr lang="en-US" sz="1400">
                <a:solidFill>
                  <a:srgbClr val="E50000"/>
                </a:solidFill>
                <a:latin typeface="Consolas"/>
                <a:cs typeface="Consolas"/>
              </a:rPr>
              <a:t>Version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=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"1.1.118"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</a:t>
            </a:r>
            <a:r>
              <a:rPr lang="en-US" sz="1400">
                <a:solidFill>
                  <a:srgbClr val="E50000"/>
                </a:solidFill>
                <a:latin typeface="Consolas"/>
                <a:cs typeface="Consolas"/>
              </a:rPr>
              <a:t>PrivateAssets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=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"all"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/&gt;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&lt;/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ItemGroup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&gt;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71A89B1-C73B-F245-A9BE-99D29ACDE334}"/>
              </a:ext>
            </a:extLst>
          </p:cNvPr>
          <p:cNvSpPr/>
          <p:nvPr/>
        </p:nvSpPr>
        <p:spPr>
          <a:xfrm>
            <a:off x="571500" y="4533900"/>
            <a:ext cx="4953000" cy="13462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 cap="flat" cmpd="sng" algn="ctr">
            <a:solidFill>
              <a:srgbClr val="DCE3E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52400" rIns="177800" bIns="127000" rtlCol="0" anchor="t" anchorCtr="0">
            <a:noAutofit/>
          </a:bodyPr>
          <a:lstStyle/>
          <a:p>
            <a:r>
              <a:rPr lang="en-US" sz="1300" b="1">
                <a:solidFill>
                  <a:srgbClr val="415A77"/>
                </a:solidFill>
                <a:latin typeface="Calibri"/>
                <a:cs typeface="Calibri"/>
              </a:rPr>
              <a:t>.editorconfig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dotnet_diagnostic.SA1503.severity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error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9DD9562-F7AD-AA4B-BCAA-335C0D0014AF}"/>
              </a:ext>
            </a:extLst>
          </p:cNvPr>
          <p:cNvSpPr/>
          <p:nvPr/>
        </p:nvSpPr>
        <p:spPr>
          <a:xfrm>
            <a:off x="5905500" y="20955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Add the NuGet package</a:t>
            </a:r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DB4656E7-068C-FE45-9601-06876EB87FF3}"/>
              </a:ext>
            </a:extLst>
          </p:cNvPr>
          <p:cNvSpPr/>
          <p:nvPr/>
        </p:nvSpPr>
        <p:spPr>
          <a:xfrm>
            <a:off x="7112000" y="3162300"/>
            <a:ext cx="254000" cy="254000"/>
          </a:xfrm>
          <a:prstGeom prst="downArrow">
            <a:avLst/>
          </a:prstGeom>
          <a:solidFill>
            <a:srgbClr val="6B7280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EA5B49E-E351-C44E-A062-FC03F059B69E}"/>
              </a:ext>
            </a:extLst>
          </p:cNvPr>
          <p:cNvSpPr/>
          <p:nvPr/>
        </p:nvSpPr>
        <p:spPr>
          <a:xfrm>
            <a:off x="5905500" y="34671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Roslyn loads it at compile time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96960B50-EF0B-7940-961B-5070FB6389B6}"/>
              </a:ext>
            </a:extLst>
          </p:cNvPr>
          <p:cNvSpPr/>
          <p:nvPr/>
        </p:nvSpPr>
        <p:spPr>
          <a:xfrm>
            <a:off x="7112000" y="4533900"/>
            <a:ext cx="254000" cy="254000"/>
          </a:xfrm>
          <a:prstGeom prst="downArrow">
            <a:avLst/>
          </a:prstGeom>
          <a:solidFill>
            <a:srgbClr val="6B7280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495F54D-88EA-114E-B3B8-FFBE6D6F237B}"/>
              </a:ext>
            </a:extLst>
          </p:cNvPr>
          <p:cNvSpPr/>
          <p:nvPr/>
        </p:nvSpPr>
        <p:spPr>
          <a:xfrm>
            <a:off x="5905500" y="48387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5A7D5A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Squiggles in the IDE, warnings or errors in the build</a:t>
            </a:r>
          </a:p>
        </p:txBody>
      </p:sp>
    </p:spTree>
    <p:extLst>
      <p:ext uri="{BB962C8B-B14F-4D97-AF65-F5344CB8AC3E}">
        <p14:creationId xmlns:p14="http://schemas.microsoft.com/office/powerpoint/2010/main" val="3185146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D0BD2-EA5E-0A45-B0E4-89B89570693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AZURE_FUNCTIONS_0001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252252-069A-5E46-A6AE-A45BFCE3B9F2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AzureFunctionAnalyzers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F6E333-70F5-DA4B-869E-8386744D94F5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class names that drift from function names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4EA9EA-5908-5D40-910C-E423D7A3596F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056648-ED92-604C-B5A8-48C50B9B0050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{
    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Function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"GetOrder"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   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(...) { ... }
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428206-A1BC-F948-8CE1-A9C93F76ACC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0D1C25-8ED3-2543-8865-34F02B01E876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GetOrder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{
    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Function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"GetOrder"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   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(...) { ... }
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188630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0A56E2-18A9-C445-8649-5F7B33CCC100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STYLE  ·  SA1503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159F4-2B1C-BF4D-84D5-410CEE90B5A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StyleCop.Analyzers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93D8C3-A3A5-4640-BC6E-46F77834E4A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omitted braces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0BE498-EC0E-CF4B-BECA-2966938D10AE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EC3BBB-12B0-6546-9A93-C583729E9C4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(x)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return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6DF948-B999-064E-AE4D-725575D81A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84CE8D-C2C0-B744-AD13-69E179B32D0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(x) {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return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30396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2C5F48-AA6E-7E45-9335-22693E2DF9B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[Id]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18DCD-833E-6242-AAC1-F60967099670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StrongIdAnalyzer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78F74-92D8-6D48-BE76-8CE259DF9BCF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IDs crossed between domain 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712B15-EAA1-8147-9868-BF5B4EC265C1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4A3A78-3A66-9B4C-A6DB-C41760C7513D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orderId) { }
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"Customer"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customerId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(customerId);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Customer ID passed as Order ID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63B9C-FAEC-8B4E-92AA-A654A9194D7F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427E36-8D46-C147-B2E5-340EEB3F61D5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orderId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(orderId);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92966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B5AC7-B5E9-D80A-7417-743518F59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BAEFF0-149F-8482-E411-DB6F1D6686B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[Id]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A2E932-4AE8-5717-5663-5010208969E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StrongIdAnalyzer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BF15B0-B80B-5E3B-16D7-AE904000E342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IDs crossed between domain 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BBB153-2591-198F-55FC-B13E1D85ED96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1E0058-9146-BC37-5ED9-958865CDB8D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 dirty="0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 dirty="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 dirty="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orderId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) { }
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customerId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 dirty="0" err="1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 dirty="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customerId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);  </a:t>
            </a:r>
            <a:r>
              <a:rPr lang="en-US" sz="1400" dirty="0">
                <a:solidFill>
                  <a:srgbClr val="008000"/>
                </a:solidFill>
                <a:latin typeface="Consolas"/>
                <a:cs typeface="Consolas"/>
              </a:rPr>
              <a:t>// Customer ID passed as Order ID</a:t>
            </a:r>
            <a:endParaRPr lang="en-US" sz="1400" dirty="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666EAC-8795-A74D-A1FD-B6F80E1EB2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215DF3-73B7-64CA-A6E8-72BCB50CC402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 dirty="0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 dirty="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orderId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 dirty="0" err="1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 dirty="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orderId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);</a:t>
            </a:r>
            <a:endParaRPr lang="en-US" sz="1400" dirty="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31469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C072E3-93BF-3841-BC61-405DD872DF30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[StringSyntax]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EC275F-B4FC-0640-A922-AC5E8907C5F1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StringSyntaxAttributeAnalyzer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BFCA42-0FC4-2041-9F69-0FAB61811AF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strings passed to the wrong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827973-FA47-6D4F-BC9E-780C5DA19F1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762B8F-4E97-DD4E-8101-61736F5B8579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Match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
    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StringSyntaxAttribute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.Regex)]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pattern) { }
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StringSyntaxAttribute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.Json)]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json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"{}"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Match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(json);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Json passed where Regex expected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E012B0-48AD-9F4A-813E-DA35DD9E4ED3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6BB2A6-77F7-E845-B121-5927680AFE40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StringSyntaxAttribute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.Regex)]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pattern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@"^\d+$"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Match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(pattern);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75979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6A0FFF-A0BB-A546-9441-B7044D561C5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RCS1118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E2A6E3-B5DE-D542-8175-C425E52F548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Roslynator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9752DD-558F-704F-BC14-84F02839F633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locals that should be const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EB6B3-2962-2941-A629-30C9E0FC6676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7FB6A1-8047-3941-9669-9251042CC61C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max =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4A27-8CA2-684E-93E3-4F82F72D1AA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7D815A-F29F-8A40-80E0-9CBDD76306D9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const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max =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668713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21239A-5E78-5D4D-AE02-6EFB446F07D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MA0006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E868BA-DE3C-C441-BCF9-A80429B0F44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Meziantou.Analyzer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719E7-342A-9E41-85E9-475037428341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ambiguous string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76D4E0-1A4F-3D41-8092-E0F4F1B84CAD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9AF5D-5706-6A4B-945D-09687ED0ED9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(a == b) {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7CCEB3-29BC-CD4C-B7B5-456997CECEA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55781-7242-3044-BADB-E498728BADF7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Equals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(a, b,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StringComparison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.Ordinal)) {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03783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81DF7C-8BF1-5C49-B1A4-8B01659797E6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ERP022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A3B81F-9A16-B349-8E9B-F30A07B6692A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ErrorProne.NET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390497-D220-774A-BC2A-263792F91E27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swallowed exceptions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8326AF-E9CF-1D47-8DEE-2B1BBB79C1D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0C9B57-7A88-9444-A962-0056C8F0FEF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try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Save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 }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catch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8F3BDC-60C3-664F-83DB-51B6B676C02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C6BF29-305E-7743-BD18-D18FC05D916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try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Save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 }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catch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Exception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e)
{
    logger.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LogError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(e,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"Save failed"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
   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throw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
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961778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789A4F-7B19-8346-8C81-904198C2CE5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GU0011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9CF642-346D-A44E-9A5E-5A6DCA5EF856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Gu.Analyzers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A92930-79A0-9244-A009-B9C1C486407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ignored return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9C54AE-2FA2-2847-8A73-C5FC15461D50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13BE7A-7693-8C4A-870B-6327D1E80F08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name.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Trim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1B2E2C-0B50-CB48-BBEE-AC63C288D91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E08434-AD37-E04A-A664-E97FAB3D6D01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name = name.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Trim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77334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8765C5-16C4-7245-8D5A-FE8D63C1EF7F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7DABD-8B1E-8340-A06A-C09FA2784C1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Wintellect.Analyzers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847FB8-50C6-D14C-8990-FE107B9B6013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opaque objects in the debugger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D60223-0966-C246-A8FA-2E42E9EAE388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E9230C-5809-D54C-B03A-66CAC4726121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Name;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D7C1F1-1913-6C41-9294-F4BECF7DFE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7382A2-E709-E44D-93E5-B9C2C2F5CAC2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DebuggerDisplay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"{Id}: {Name}"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Name;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066723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DE3BC6-2651-FC4E-BFD9-729BACED690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CA1822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10DA8-F1CA-FB4F-A27E-08D0BDA766A0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Microsoft.CodeAnalysis.NetAnalyzers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17C0E2-C72E-EB47-832D-C3DE940BD76C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instance members that should be static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D1AF6-C90B-3341-B819-2CCDB865DC13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9EDB5-B8FB-B645-A880-C475B784CE83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a,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b) =&gt; a + b;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D12960-042B-614C-A648-9C1BC820187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C16BA3-65CA-8147-BE14-393EA450E504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a,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b) =&gt; a + b;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61604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D9C066-12A7-9246-9C3E-6F7D504029F8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CONCURRENCY  ·  AsyncFixer02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33313E-1DEB-B041-9F31-A7459EB184A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AsyncFixer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2FA48-4160-A043-B45B-707A3C2867A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blocking calls in async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FA6C9E-E5F5-544E-911E-509F88CC6360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C456C-D733-8442-9043-CEDA19EED884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async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{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Sleep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1000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01E517-8440-EB42-8328-F6C5DD87A06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A1FDA-C8BB-7A4F-A9A4-4FB40BF7549C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async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{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await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Delay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1000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056320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8E6174-CE9E-F848-9945-421836996169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CONCURRENCY  ·  IDISP001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654941-47AC-1E4F-8194-0ABD3A05F2A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IDisposableAnalyzers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8B1B05-0916-1A47-B1F1-A470F04C1715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leaked disposables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B4C194-B19E-184D-9283-F2896A11B2D7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4E341-B809-FF48-BC25-09FFD69856C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stream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File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OpenRead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(path);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AB57A0-61AF-294F-99C4-1F5493ADF7BB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144B6-D4EF-9849-9147-690E83E22AD8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using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stream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File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OpenRead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(path);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51042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4DBB57-6569-884B-AFDA-B0FFC10564C3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S2068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682790-9FE0-DC4C-B60B-62547279BAB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SonarAnalyzer for C#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085636-2092-474E-86CD-997B1CED6238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hard-coded credentials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AD74E1-A8F7-9D4F-BF69-F000EE84AFBF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2EC144-8625-0047-AE89-6B0AEFB9CAC4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password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"hunter2"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B653A5-1EF5-CB42-9508-E9562CAD2A96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D814FC-00CA-014C-BDE2-E20DD5A100DE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password = config[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"Db:Password"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254036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691911-7960-A747-873B-8CBF6A1B84FE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SCS0002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F5FE68-938B-824C-9194-C6672A783911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Security Code Scan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0C28C1-C74D-8A45-89AF-B8FF14DED581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SQL injection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1EB744-D6F7-2949-BDD4-C1CD5336F09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5CE55E-4BF8-BB4F-91D4-729D24218C12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SqlCommand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Id="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+ id, conn);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D0A7B9-ADFD-9240-B7EC-463F99E1F08B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54BBD7-F26A-0241-87E9-43DA66AF15C3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cmd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SqlCommand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Id=@id"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conn);
cmd.Parameters.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AddWithValue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"@id"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999281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215D06-D7C4-C64A-B5DD-9609042F48EB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DS126858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5D8F52-C5D6-8246-9403-AB82FD914F4B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 DevSkim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FB5977-D394-7E43-B69D-1FE267CF5F29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weak hash algorithms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26651A-F901-A948-AC97-931DAE089495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CBD61D-74CD-C340-AA50-77FB51F1A19B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hash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MD5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Create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5513C0-B52F-6A4C-A244-F825E7DD793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D97A9E-4CB1-FB43-8A18-87B01C931CC0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hash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SHA256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Create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93940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4CF559-BBC5-4446-AC25-5FBFF8F93AA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cs/sql-injection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FB95-5823-BE46-BEE2-96D4767542B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CodeQL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371991-DFCB-774F-A7F9-70AB0365C5E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SQL injection across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AFE4B-2D80-BB43-BF91-35DAD77FC7CB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72A424-0426-D94E-80FD-AC401537456E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id = Request.Query[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"id"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];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sql =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Build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(id); 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returns "... WHERE Id=" + 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db.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ExecuteSqlRaw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(sql);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1CCF63-6D27-2A46-8D9C-BB2DE7DF9867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BC00C6-254B-324B-A658-75323AC295FD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db.Users.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FromSqlInterpolated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$"SELECT * FROM Users WHERE Id={id}"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7632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85705E-4EA1-6E49-9303-3EB8D5B4F6AD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18F67E-C5FB-4646-B1E7-792290BD7534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Snyk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3490DD-59B5-A648-9986-0DFAAF4781D4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tainted input that crosses files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9C4B7-DA10-4745-B94A-908E14F885A8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0962AA-5569-F94F-81D6-99E5EDE7E79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sql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Name='"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    + Request.Query[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 +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"'"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18C5E9-2BE8-274C-81B3-E95080FE863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A43E34-96A7-E449-9758-0863747DE816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cmd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SqlCommand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Name=@name"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conn);
cmd.Parameters.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AddWithValue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"@name"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)Request.Query[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53672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78AC57-B2C7-D34D-ADFA-CCC8BF552EC2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TESTING  ·  xUnit2013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BF4634-9306-7C45-9BB2-AF376683D1FD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xUnit.net 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1336E-2F1B-A648-ABCA-6723BA096159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unclear collection-size asserts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23E75-240C-E742-A35C-A73203EA27B7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682F38-8CCB-5F40-9498-109B80BDA981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Assert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Equal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items.Count);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8650D2-41CD-F34A-BBB9-47B23629F958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206CFA-7FE1-024D-9D62-C4833D536028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Assert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Empty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(items);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19436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E375C2-4A17-E64D-8372-8B4FD7D1646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TESTING  ·  NS1000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A60BCD-2E86-0B42-AD61-8396D7A15C8A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NSubstitute.Analyzers.CSharp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EF53B-20A2-6F4D-9E26-B9EED530221D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mock setups that silently do nothing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9060F1-638D-2E4B-9A58-47B8259F13CA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65DBDD-DE80-9A4C-93E1-1011DC5DCDC8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Repo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=&gt;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}
sub.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Returns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non-virtual, setup does nothing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E2B66A-582C-2C4C-80C5-5F0A484E8F1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70CAC2-C038-A641-AE66-70085EB1DD59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Repo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virtual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=&gt;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}
sub.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Returns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55869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E67F75-0848-2047-9C61-F20E538507E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Serilog006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D4BD57-096F-DC40-9EFB-40180373C40B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SerilogAnalyzer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229639-FEAF-7F49-9513-858535079FD8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inconsistent log property names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7C84E-4BD9-AE4C-9861-6682D54BEF05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27688E-453A-B04A-BB3F-FB05F4443EF0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log.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Information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"Got {userId}"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24E517-2583-394C-9B0E-F985361C26D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A57695-4B1E-BE44-B8E6-22C8F14EAB5A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log.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Information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"Got {UserId}"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76227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5261B6-AD48-9047-BA49-063E1A7ABB9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API1000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33CBB2-E900-984A-B5DE-0A15585E78F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Microsoft.AspNetCore.Mvc.Api.Analyzers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84FB7-78D1-5A4F-A2B1-E56EFD49517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undocumented response codes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1DFCC3-87DF-3743-BB1D-F0294C00D281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0292C-5428-7547-A113-3834B445CE95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ProducesResponseType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200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IActionResult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Get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id) =&gt;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NotFound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A02956-1FAF-864A-A873-E6CF6A388CEC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3E75E4-2C6A-0847-99FA-306CBF16C48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ProducesResponseType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200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ProducesResponseType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404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IActionResult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Get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id) =&gt;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NotFound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65948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1C43EB-FC86-DE46-BB0C-903987B44752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ARCHITECTURE  ·  Loop can be converted to LINQ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F8B1C2-9958-B446-BD6E-4E2E731B7EBD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ReSharper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37E94-3ECB-6245-8C7E-6ADEA0205217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hand-written loops LINQ can replace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C02C0B-F421-0E48-80ED-2D0FC7613BA3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E0EF5A-EFAC-1241-9403-82E13395CA9B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result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List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&lt;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&gt;();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foreach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nums)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(n 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 result.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(n);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866E54-9270-D147-934A-AADF58C4CC4D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969D24-230B-6E42-9BD8-18ED107B6AB5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result = nums.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Where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(n =&gt; n 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ToList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85817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D62D35-2C1D-6247-A0B2-4031869E106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ARCHITECTURE  ·  CQLinq: namespaces mutually dependent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7E958-0B44-F745-A2A3-F51EC304A37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NDepend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FFBC85-CE9C-B944-AE1B-9997DBF0537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circular namespace dependencies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DD8E9-40A4-5647-901D-74E0BD2819E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9F42B3-C54E-C742-83CF-F61780A4857C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Orders 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  { Billing.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I; } }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Billing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Orders.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O; }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808EE9-0F89-CE4E-B195-B70B536E3DD8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3EC37-A54E-2548-9E9A-080C468A8023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Contracts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interface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}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interface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} }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Orders   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  :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  {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I; } }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Billing  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: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O; }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127818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17955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87A52-AA40-4516-227C-5D414151C90A}"/>
              </a:ext>
            </a:extLst>
          </p:cNvPr>
          <p:cNvSpPr txBox="1">
            <a:spLocks/>
          </p:cNvSpPr>
          <p:nvPr/>
        </p:nvSpPr>
        <p:spPr>
          <a:xfrm>
            <a:off x="415775" y="1399848"/>
            <a:ext cx="6858000" cy="17907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50" b="1" dirty="0">
                <a:solidFill>
                  <a:srgbClr val="1F3A5F"/>
                </a:solidFill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1CD058-0EB5-9087-F5EC-15E68C131B6C}"/>
              </a:ext>
            </a:extLst>
          </p:cNvPr>
          <p:cNvSpPr txBox="1"/>
          <p:nvPr/>
        </p:nvSpPr>
        <p:spPr>
          <a:xfrm>
            <a:off x="6239034" y="4868879"/>
            <a:ext cx="1905658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50" dirty="0">
                <a:solidFill>
                  <a:schemeClr val="bg1">
                    <a:lumMod val="65000"/>
                  </a:schemeClr>
                </a:solidFill>
              </a:rPr>
              <a:t>Llewellyn Falco</a:t>
            </a:r>
          </a:p>
        </p:txBody>
      </p:sp>
      <p:pic>
        <p:nvPicPr>
          <p:cNvPr id="4" name="Picture 3" descr="A person smiling at the camera&#10;&#10;AI-generated content may be incorrect.">
            <a:extLst>
              <a:ext uri="{FF2B5EF4-FFF2-40B4-BE49-F238E27FC236}">
                <a16:creationId xmlns:a16="http://schemas.microsoft.com/office/drawing/2014/main" id="{81E53284-40A4-F455-B0D7-1879BF653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51023"/>
            <a:ext cx="2267712" cy="2350215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45D3FC-DDD6-7C62-1607-215FD9FDE3E3}"/>
              </a:ext>
            </a:extLst>
          </p:cNvPr>
          <p:cNvSpPr txBox="1"/>
          <p:nvPr/>
        </p:nvSpPr>
        <p:spPr>
          <a:xfrm>
            <a:off x="415775" y="5467715"/>
            <a:ext cx="457043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 err="1"/>
              <a:t>github.com</a:t>
            </a:r>
            <a:r>
              <a:rPr lang="en-US" sz="1350" dirty="0"/>
              <a:t>/</a:t>
            </a:r>
            <a:r>
              <a:rPr lang="en-US" sz="1350" dirty="0" err="1"/>
              <a:t>isidore</a:t>
            </a:r>
            <a:r>
              <a:rPr lang="en-US" sz="1350" dirty="0"/>
              <a:t>/Talks/blob/master/</a:t>
            </a:r>
            <a:r>
              <a:rPr lang="en-US" sz="1350" dirty="0" err="1"/>
              <a:t>Analyzers.Net.md</a:t>
            </a:r>
            <a:endParaRPr lang="en-US" sz="1350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86414B4-2634-27CD-BC1C-000EA0E8BB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7902" y="2091377"/>
            <a:ext cx="3013225" cy="301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1214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848415-B9BD-815B-C7DA-B86917435D6E}"/>
              </a:ext>
            </a:extLst>
          </p:cNvPr>
          <p:cNvSpPr txBox="1"/>
          <p:nvPr/>
        </p:nvSpPr>
        <p:spPr>
          <a:xfrm>
            <a:off x="571500" y="1314450"/>
            <a:ext cx="2905125" cy="4616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Style Guide</a:t>
            </a:r>
          </a:p>
        </p:txBody>
      </p:sp>
      <p:sp>
        <p:nvSpPr>
          <p:cNvPr id="100" name="lbl"/>
          <p:cNvSpPr txBox="1"/>
          <p:nvPr/>
        </p:nvSpPr>
        <p:spPr>
          <a:xfrm>
            <a:off x="571500" y="1857375"/>
            <a:ext cx="28575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Color Palette</a:t>
            </a:r>
          </a:p>
        </p:txBody>
      </p:sp>
      <p:sp>
        <p:nvSpPr>
          <p:cNvPr id="101" name="div"/>
          <p:cNvSpPr/>
          <p:nvPr/>
        </p:nvSpPr>
        <p:spPr>
          <a:xfrm>
            <a:off x="571500" y="2114550"/>
            <a:ext cx="8001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02" name="sw"/>
          <p:cNvSpPr/>
          <p:nvPr/>
        </p:nvSpPr>
        <p:spPr>
          <a:xfrm>
            <a:off x="571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#1F3A5F</a:t>
            </a:r>
          </a:p>
        </p:txBody>
      </p:sp>
      <p:sp>
        <p:nvSpPr>
          <p:cNvPr id="103" name="swlbl"/>
          <p:cNvSpPr txBox="1"/>
          <p:nvPr/>
        </p:nvSpPr>
        <p:spPr>
          <a:xfrm>
            <a:off x="571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Navy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Primary</a:t>
            </a:r>
          </a:p>
        </p:txBody>
      </p:sp>
      <p:sp>
        <p:nvSpPr>
          <p:cNvPr id="104" name="sw"/>
          <p:cNvSpPr/>
          <p:nvPr/>
        </p:nvSpPr>
        <p:spPr>
          <a:xfrm>
            <a:off x="18669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#415A77</a:t>
            </a:r>
          </a:p>
        </p:txBody>
      </p:sp>
      <p:sp>
        <p:nvSpPr>
          <p:cNvPr id="105" name="swlbl"/>
          <p:cNvSpPr txBox="1"/>
          <p:nvPr/>
        </p:nvSpPr>
        <p:spPr>
          <a:xfrm>
            <a:off x="18669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Slate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Secondary</a:t>
            </a:r>
          </a:p>
        </p:txBody>
      </p:sp>
      <p:sp>
        <p:nvSpPr>
          <p:cNvPr id="106" name="sw"/>
          <p:cNvSpPr/>
          <p:nvPr/>
        </p:nvSpPr>
        <p:spPr>
          <a:xfrm>
            <a:off x="31623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5A7D5A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#5A7D5A</a:t>
            </a:r>
          </a:p>
        </p:txBody>
      </p:sp>
      <p:sp>
        <p:nvSpPr>
          <p:cNvPr id="107" name="swlbl"/>
          <p:cNvSpPr txBox="1"/>
          <p:nvPr/>
        </p:nvSpPr>
        <p:spPr>
          <a:xfrm>
            <a:off x="31623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Green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Accent</a:t>
            </a:r>
          </a:p>
        </p:txBody>
      </p:sp>
      <p:sp>
        <p:nvSpPr>
          <p:cNvPr id="108" name="sw"/>
          <p:cNvSpPr/>
          <p:nvPr/>
        </p:nvSpPr>
        <p:spPr>
          <a:xfrm>
            <a:off x="44577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A14B4B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#A14B4B</a:t>
            </a:r>
          </a:p>
        </p:txBody>
      </p:sp>
      <p:sp>
        <p:nvSpPr>
          <p:cNvPr id="109" name="swlbl"/>
          <p:cNvSpPr txBox="1"/>
          <p:nvPr/>
        </p:nvSpPr>
        <p:spPr>
          <a:xfrm>
            <a:off x="44577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Rust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Alert</a:t>
            </a:r>
          </a:p>
        </p:txBody>
      </p:sp>
      <p:sp>
        <p:nvSpPr>
          <p:cNvPr id="110" name="sw"/>
          <p:cNvSpPr/>
          <p:nvPr/>
        </p:nvSpPr>
        <p:spPr>
          <a:xfrm>
            <a:off x="57531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6B7280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#6B7280</a:t>
            </a:r>
          </a:p>
        </p:txBody>
      </p:sp>
      <p:sp>
        <p:nvSpPr>
          <p:cNvPr id="111" name="swlbl"/>
          <p:cNvSpPr txBox="1"/>
          <p:nvPr/>
        </p:nvSpPr>
        <p:spPr>
          <a:xfrm>
            <a:off x="57531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Gray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Neutral</a:t>
            </a:r>
          </a:p>
        </p:txBody>
      </p:sp>
      <p:sp>
        <p:nvSpPr>
          <p:cNvPr id="112" name="sw"/>
          <p:cNvSpPr/>
          <p:nvPr/>
        </p:nvSpPr>
        <p:spPr>
          <a:xfrm>
            <a:off x="7048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DCE3EC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1F3A5F"/>
                </a:solidFill>
              </a:rPr>
              <a:t>#DCE3EC</a:t>
            </a:r>
          </a:p>
        </p:txBody>
      </p:sp>
      <p:sp>
        <p:nvSpPr>
          <p:cNvPr id="113" name="swlbl"/>
          <p:cNvSpPr txBox="1"/>
          <p:nvPr/>
        </p:nvSpPr>
        <p:spPr>
          <a:xfrm>
            <a:off x="7048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Light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Text/BG</a:t>
            </a:r>
          </a:p>
        </p:txBody>
      </p:sp>
      <p:sp>
        <p:nvSpPr>
          <p:cNvPr id="114" name="lbl"/>
          <p:cNvSpPr txBox="1"/>
          <p:nvPr/>
        </p:nvSpPr>
        <p:spPr>
          <a:xfrm>
            <a:off x="571500" y="3619500"/>
            <a:ext cx="3429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Typography</a:t>
            </a:r>
          </a:p>
        </p:txBody>
      </p:sp>
      <p:sp>
        <p:nvSpPr>
          <p:cNvPr id="115" name="div"/>
          <p:cNvSpPr/>
          <p:nvPr/>
        </p:nvSpPr>
        <p:spPr>
          <a:xfrm>
            <a:off x="571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16" name="typo"/>
          <p:cNvSpPr txBox="1"/>
          <p:nvPr/>
        </p:nvSpPr>
        <p:spPr>
          <a:xfrm>
            <a:off x="571500" y="40005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b="1" dirty="0">
                <a:solidFill>
                  <a:srgbClr val="1F3A5F"/>
                </a:solidFill>
              </a:rPr>
              <a:t>Title — 32pt Bold</a:t>
            </a:r>
          </a:p>
        </p:txBody>
      </p:sp>
      <p:sp>
        <p:nvSpPr>
          <p:cNvPr id="117" name="typo"/>
          <p:cNvSpPr txBox="1"/>
          <p:nvPr/>
        </p:nvSpPr>
        <p:spPr>
          <a:xfrm>
            <a:off x="571500" y="440055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350" b="1" dirty="0">
                <a:solidFill>
                  <a:srgbClr val="415A77"/>
                </a:solidFill>
              </a:rPr>
              <a:t>Card Header — 18pt Bold</a:t>
            </a:r>
          </a:p>
        </p:txBody>
      </p:sp>
      <p:sp>
        <p:nvSpPr>
          <p:cNvPr id="118" name="typo"/>
          <p:cNvSpPr txBox="1"/>
          <p:nvPr/>
        </p:nvSpPr>
        <p:spPr>
          <a:xfrm>
            <a:off x="571500" y="48006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050" dirty="0">
                <a:solidFill>
                  <a:srgbClr val="6B7280"/>
                </a:solidFill>
              </a:rPr>
              <a:t>Body Text — 14pt Regular</a:t>
            </a:r>
          </a:p>
        </p:txBody>
      </p:sp>
      <p:sp>
        <p:nvSpPr>
          <p:cNvPr id="119" name="lbl"/>
          <p:cNvSpPr txBox="1"/>
          <p:nvPr/>
        </p:nvSpPr>
        <p:spPr>
          <a:xfrm>
            <a:off x="4762500" y="3619500"/>
            <a:ext cx="3810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Components</a:t>
            </a:r>
          </a:p>
        </p:txBody>
      </p:sp>
      <p:sp>
        <p:nvSpPr>
          <p:cNvPr id="120" name="div"/>
          <p:cNvSpPr/>
          <p:nvPr/>
        </p:nvSpPr>
        <p:spPr>
          <a:xfrm>
            <a:off x="4762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1" name="card"/>
          <p:cNvSpPr/>
          <p:nvPr/>
        </p:nvSpPr>
        <p:spPr>
          <a:xfrm>
            <a:off x="4762500" y="4019550"/>
            <a:ext cx="2047875" cy="12382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68580" rIns="68580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Card Title</a:t>
            </a:r>
          </a:p>
          <a:p>
            <a:pPr algn="ctr">
              <a:spcBef>
                <a:spcPts val="450"/>
              </a:spcBef>
            </a:pPr>
            <a:r>
              <a:rPr lang="en-US" sz="1050" dirty="0">
                <a:solidFill>
                  <a:srgbClr val="DCE3EC"/>
                </a:solidFill>
              </a:rPr>
              <a:t>Supporting body text with an </a:t>
            </a:r>
            <a:r>
              <a:rPr lang="en-US" sz="1050" b="1" dirty="0">
                <a:solidFill>
                  <a:srgbClr val="7FB280"/>
                </a:solidFill>
              </a:rPr>
              <a:t>accent</a:t>
            </a:r>
            <a:r>
              <a:rPr lang="en-US" sz="1050" dirty="0">
                <a:solidFill>
                  <a:srgbClr val="DCE3EC"/>
                </a:solidFill>
              </a:rPr>
              <a:t> highlight</a:t>
            </a:r>
          </a:p>
        </p:txBody>
      </p:sp>
      <p:sp>
        <p:nvSpPr>
          <p:cNvPr id="122" name="arrow"/>
          <p:cNvSpPr/>
          <p:nvPr/>
        </p:nvSpPr>
        <p:spPr>
          <a:xfrm>
            <a:off x="6934200" y="4562475"/>
            <a:ext cx="266700" cy="17145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3" name="card2"/>
          <p:cNvSpPr/>
          <p:nvPr/>
        </p:nvSpPr>
        <p:spPr>
          <a:xfrm>
            <a:off x="7315200" y="4019550"/>
            <a:ext cx="1257300" cy="12382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48006" rIns="48006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Step</a:t>
            </a:r>
          </a:p>
        </p:txBody>
      </p:sp>
    </p:spTree>
    <p:extLst>
      <p:ext uri="{BB962C8B-B14F-4D97-AF65-F5344CB8AC3E}">
        <p14:creationId xmlns:p14="http://schemas.microsoft.com/office/powerpoint/2010/main" val="32560494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Box 1"/>
          <p:cNvSpPr txBox="1"/>
          <p:nvPr/>
        </p:nvSpPr>
        <p:spPr>
          <a:xfrm>
            <a:off x="571500" y="1314450"/>
            <a:ext cx="4762500" cy="43815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Design Philosophy</a:t>
            </a:r>
          </a:p>
        </p:txBody>
      </p:sp>
      <p:sp>
        <p:nvSpPr>
          <p:cNvPr id="201" name="intro"/>
          <p:cNvSpPr txBox="1"/>
          <p:nvPr/>
        </p:nvSpPr>
        <p:spPr>
          <a:xfrm>
            <a:off x="571500" y="1885950"/>
            <a:ext cx="8001000" cy="4572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lang="en-US" sz="1200" dirty="0">
                <a:solidFill>
                  <a:srgbClr val="415A77"/>
                </a:solidFill>
              </a:rPr>
              <a:t>Every choice in this system serves one goal: making complex ideas </a:t>
            </a:r>
            <a:r>
              <a:rPr lang="en-US" sz="1200" b="1" dirty="0">
                <a:solidFill>
                  <a:srgbClr val="5A7D5A"/>
                </a:solidFill>
              </a:rPr>
              <a:t>clear</a:t>
            </a:r>
            <a:r>
              <a:rPr lang="en-US" sz="1200" dirty="0">
                <a:solidFill>
                  <a:srgbClr val="415A77"/>
                </a:solidFill>
              </a:rPr>
              <a:t>,</a:t>
            </a:r>
            <a:r>
              <a:rPr lang="en-US" sz="1200" b="1" dirty="0">
                <a:solidFill>
                  <a:srgbClr val="5A7D5A"/>
                </a:solidFill>
              </a:rPr>
              <a:t> easy</a:t>
            </a:r>
            <a:r>
              <a:rPr lang="en-US" sz="1200" dirty="0">
                <a:solidFill>
                  <a:srgbClr val="415A77"/>
                </a:solidFill>
              </a:rPr>
              <a:t> to </a:t>
            </a:r>
            <a:r>
              <a:rPr lang="en-US" sz="1200" b="1" dirty="0">
                <a:solidFill>
                  <a:srgbClr val="5A7D5A"/>
                </a:solidFill>
              </a:rPr>
              <a:t> visualize</a:t>
            </a:r>
            <a:r>
              <a:rPr lang="en-US" sz="1200" dirty="0">
                <a:solidFill>
                  <a:srgbClr val="415A77"/>
                </a:solidFill>
              </a:rPr>
              <a:t>, and easy to </a:t>
            </a:r>
            <a:r>
              <a:rPr lang="en-US" sz="1200" b="1" dirty="0">
                <a:solidFill>
                  <a:srgbClr val="5A7D5A"/>
                </a:solidFill>
              </a:rPr>
              <a:t>follow</a:t>
            </a:r>
            <a:endParaRPr lang="en-US" sz="1200" dirty="0">
              <a:solidFill>
                <a:srgbClr val="415A77"/>
              </a:solidFill>
            </a:endParaRPr>
          </a:p>
        </p:txBody>
      </p:sp>
      <p:sp>
        <p:nvSpPr>
          <p:cNvPr id="202" name="card"/>
          <p:cNvSpPr/>
          <p:nvPr/>
        </p:nvSpPr>
        <p:spPr>
          <a:xfrm>
            <a:off x="5715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01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Clarity over decoration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Structure carries the </a:t>
            </a:r>
            <a:r>
              <a:rPr lang="en-US" sz="1050" b="1" dirty="0">
                <a:solidFill>
                  <a:srgbClr val="DCE3EC"/>
                </a:solidFill>
              </a:rPr>
              <a:t>meaning</a:t>
            </a:r>
            <a:r>
              <a:rPr lang="en-US" sz="1050" dirty="0">
                <a:solidFill>
                  <a:srgbClr val="DCE3EC"/>
                </a:solidFill>
              </a:rPr>
              <a:t>.</a:t>
            </a:r>
          </a:p>
          <a:p>
            <a:pPr>
              <a:spcBef>
                <a:spcPts val="600"/>
              </a:spcBef>
            </a:pPr>
            <a:br>
              <a:rPr lang="en-US" sz="1050" dirty="0">
                <a:solidFill>
                  <a:srgbClr val="DCE3EC"/>
                </a:solidFill>
              </a:rPr>
            </a:br>
            <a:r>
              <a:rPr lang="en-US" sz="1050" dirty="0">
                <a:solidFill>
                  <a:srgbClr val="DCE3EC"/>
                </a:solidFill>
              </a:rPr>
              <a:t>Color and shape signal hierarchy and state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Never ornament for its own sake.</a:t>
            </a:r>
          </a:p>
        </p:txBody>
      </p:sp>
      <p:sp>
        <p:nvSpPr>
          <p:cNvPr id="203" name="card"/>
          <p:cNvSpPr/>
          <p:nvPr/>
        </p:nvSpPr>
        <p:spPr>
          <a:xfrm>
            <a:off x="26098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415A77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02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Calm, confident palette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Navy and slate set a steady tone.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Green and rust appear sparingly.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Color marks safe and risk — nothing more.</a:t>
            </a:r>
          </a:p>
        </p:txBody>
      </p:sp>
      <p:sp>
        <p:nvSpPr>
          <p:cNvPr id="204" name="card"/>
          <p:cNvSpPr/>
          <p:nvPr/>
        </p:nvSpPr>
        <p:spPr>
          <a:xfrm>
            <a:off x="46482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5A7D5A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03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Consistent components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Rounded cards and arrows repeat.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One visual grammar across slides.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Every new slide fits the system.</a:t>
            </a:r>
          </a:p>
        </p:txBody>
      </p:sp>
      <p:sp>
        <p:nvSpPr>
          <p:cNvPr id="205" name="card"/>
          <p:cNvSpPr/>
          <p:nvPr/>
        </p:nvSpPr>
        <p:spPr>
          <a:xfrm>
            <a:off x="66865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A14B4B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04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Scannable by design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Lead with the takeaway.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Short lines over dense paragraphs.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Limited attention is a constraint, not an afterthought.</a:t>
            </a:r>
          </a:p>
        </p:txBody>
      </p:sp>
    </p:spTree>
    <p:extLst>
      <p:ext uri="{BB962C8B-B14F-4D97-AF65-F5344CB8AC3E}">
        <p14:creationId xmlns:p14="http://schemas.microsoft.com/office/powerpoint/2010/main" val="1459494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086286118]">
  <a:themeElements>
    <a:clrScheme name="Office">
      <a:dk1>
        <a:srgbClr val="1F3A5F"/>
      </a:dk1>
      <a:lt1>
        <a:srgbClr val="FFFFFF"/>
      </a:lt1>
      <a:dk2>
        <a:srgbClr val="415A77"/>
      </a:dk2>
      <a:lt2>
        <a:srgbClr val="DCE3EC"/>
      </a:lt2>
      <a:accent1>
        <a:srgbClr val="1F3A5F"/>
      </a:accent1>
      <a:accent2>
        <a:srgbClr val="415A77"/>
      </a:accent2>
      <a:accent3>
        <a:srgbClr val="5A7D5A"/>
      </a:accent3>
      <a:accent4>
        <a:srgbClr val="A14B4B"/>
      </a:accent4>
      <a:accent5>
        <a:srgbClr val="6B7280"/>
      </a:accent5>
      <a:accent6>
        <a:srgbClr val="DCE3E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0A847C4-28CC-C945-9DD6-3BB18DDA25E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25027030-9bfe-4210-a54d-7b48122f9f2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2070</TotalTime>
  <Words>1573</Words>
  <Application>Microsoft Macintosh PowerPoint</Application>
  <PresentationFormat>On-screen Show (4:3)</PresentationFormat>
  <Paragraphs>231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Arial</vt:lpstr>
      <vt:lpstr>Calibri</vt:lpstr>
      <vt:lpstr>Consolas</vt:lpstr>
      <vt:lpstr>Office Theme [1781086286118]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Llewellyn Falco</cp:lastModifiedBy>
  <cp:revision>26</cp:revision>
  <dcterms:created xsi:type="dcterms:W3CDTF">2013-01-27T09:14:16Z</dcterms:created>
  <dcterms:modified xsi:type="dcterms:W3CDTF">2026-10-06T10:56:43Z</dcterms:modified>
  <cp:category/>
</cp:coreProperties>
</file>