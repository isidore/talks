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3"/>
  </p:notesMasterIdLst>
  <p:sldIdLst>
    <p:sldId id="296" r:id="rId2"/>
    <p:sldId id="423" r:id="rId3"/>
    <p:sldId id="412" r:id="rId4"/>
    <p:sldId id="370" r:id="rId5"/>
    <p:sldId id="373" r:id="rId6"/>
    <p:sldId id="299" r:id="rId7"/>
    <p:sldId id="302" r:id="rId8"/>
    <p:sldId id="307" r:id="rId9"/>
    <p:sldId id="315" r:id="rId10"/>
    <p:sldId id="316" r:id="rId11"/>
    <p:sldId id="317" r:id="rId12"/>
    <p:sldId id="309" r:id="rId13"/>
    <p:sldId id="318" r:id="rId14"/>
    <p:sldId id="319" r:id="rId15"/>
    <p:sldId id="330" r:id="rId16"/>
    <p:sldId id="325" r:id="rId17"/>
    <p:sldId id="328" r:id="rId18"/>
    <p:sldId id="329" r:id="rId19"/>
    <p:sldId id="334" r:id="rId20"/>
    <p:sldId id="331" r:id="rId21"/>
    <p:sldId id="332" r:id="rId22"/>
    <p:sldId id="335" r:id="rId23"/>
    <p:sldId id="336" r:id="rId24"/>
    <p:sldId id="337" r:id="rId25"/>
    <p:sldId id="339" r:id="rId26"/>
    <p:sldId id="340" r:id="rId27"/>
    <p:sldId id="342" r:id="rId28"/>
    <p:sldId id="343" r:id="rId29"/>
    <p:sldId id="422" r:id="rId30"/>
    <p:sldId id="345" r:id="rId31"/>
    <p:sldId id="347" r:id="rId32"/>
    <p:sldId id="333" r:id="rId33"/>
    <p:sldId id="349" r:id="rId34"/>
    <p:sldId id="350" r:id="rId35"/>
    <p:sldId id="352" r:id="rId36"/>
    <p:sldId id="353" r:id="rId37"/>
    <p:sldId id="354" r:id="rId38"/>
    <p:sldId id="355" r:id="rId39"/>
    <p:sldId id="356" r:id="rId40"/>
    <p:sldId id="357" r:id="rId41"/>
    <p:sldId id="358" r:id="rId42"/>
    <p:sldId id="359" r:id="rId43"/>
    <p:sldId id="361" r:id="rId44"/>
    <p:sldId id="351" r:id="rId45"/>
    <p:sldId id="362" r:id="rId46"/>
    <p:sldId id="364" r:id="rId47"/>
    <p:sldId id="375" r:id="rId48"/>
    <p:sldId id="366" r:id="rId49"/>
    <p:sldId id="367" r:id="rId50"/>
    <p:sldId id="369" r:id="rId51"/>
    <p:sldId id="376" r:id="rId52"/>
    <p:sldId id="377" r:id="rId53"/>
    <p:sldId id="368" r:id="rId54"/>
    <p:sldId id="378" r:id="rId55"/>
    <p:sldId id="379" r:id="rId56"/>
    <p:sldId id="385" r:id="rId57"/>
    <p:sldId id="380" r:id="rId58"/>
    <p:sldId id="381" r:id="rId59"/>
    <p:sldId id="384" r:id="rId60"/>
    <p:sldId id="382" r:id="rId61"/>
    <p:sldId id="383" r:id="rId62"/>
    <p:sldId id="386" r:id="rId63"/>
    <p:sldId id="388" r:id="rId64"/>
    <p:sldId id="389" r:id="rId65"/>
    <p:sldId id="392" r:id="rId66"/>
    <p:sldId id="390" r:id="rId67"/>
    <p:sldId id="391" r:id="rId68"/>
    <p:sldId id="406" r:id="rId69"/>
    <p:sldId id="394" r:id="rId70"/>
    <p:sldId id="395" r:id="rId71"/>
    <p:sldId id="397" r:id="rId72"/>
    <p:sldId id="399" r:id="rId73"/>
    <p:sldId id="424" r:id="rId74"/>
    <p:sldId id="431" r:id="rId75"/>
    <p:sldId id="438" r:id="rId76"/>
    <p:sldId id="439" r:id="rId77"/>
    <p:sldId id="400" r:id="rId78"/>
    <p:sldId id="401" r:id="rId79"/>
    <p:sldId id="402" r:id="rId80"/>
    <p:sldId id="403" r:id="rId81"/>
    <p:sldId id="404" r:id="rId82"/>
    <p:sldId id="405" r:id="rId83"/>
    <p:sldId id="408" r:id="rId84"/>
    <p:sldId id="409" r:id="rId85"/>
    <p:sldId id="387" r:id="rId86"/>
    <p:sldId id="419" r:id="rId87"/>
    <p:sldId id="420" r:id="rId88"/>
    <p:sldId id="410" r:id="rId89"/>
    <p:sldId id="293" r:id="rId90"/>
    <p:sldId id="294" r:id="rId91"/>
    <p:sldId id="295" r:id="rId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0DBB586-EF0C-7B40-8274-B381CD5E360F}">
          <p14:sldIdLst>
            <p14:sldId id="296"/>
            <p14:sldId id="423"/>
            <p14:sldId id="412"/>
            <p14:sldId id="370"/>
            <p14:sldId id="373"/>
          </p14:sldIdLst>
        </p14:section>
        <p14:section name="AI" id="{099F09F0-7A08-3940-9DAB-8640FBF51516}">
          <p14:sldIdLst>
            <p14:sldId id="299"/>
          </p14:sldIdLst>
        </p14:section>
        <p14:section name="Database" id="{9D08A1BE-A427-AC46-A116-5C8B0E179AD5}">
          <p14:sldIdLst>
            <p14:sldId id="302"/>
            <p14:sldId id="307"/>
            <p14:sldId id="315"/>
            <p14:sldId id="316"/>
            <p14:sldId id="317"/>
            <p14:sldId id="309"/>
            <p14:sldId id="318"/>
            <p14:sldId id="319"/>
            <p14:sldId id="330"/>
            <p14:sldId id="325"/>
            <p14:sldId id="328"/>
            <p14:sldId id="329"/>
            <p14:sldId id="334"/>
            <p14:sldId id="331"/>
            <p14:sldId id="332"/>
            <p14:sldId id="335"/>
            <p14:sldId id="336"/>
            <p14:sldId id="337"/>
            <p14:sldId id="339"/>
            <p14:sldId id="340"/>
            <p14:sldId id="342"/>
            <p14:sldId id="343"/>
            <p14:sldId id="422"/>
            <p14:sldId id="345"/>
            <p14:sldId id="347"/>
            <p14:sldId id="333"/>
            <p14:sldId id="349"/>
          </p14:sldIdLst>
        </p14:section>
        <p14:section name="Untitled Section" id="{6F8558E6-24F3-884F-A9B3-97A40C751095}">
          <p14:sldIdLst>
            <p14:sldId id="350"/>
            <p14:sldId id="352"/>
            <p14:sldId id="353"/>
            <p14:sldId id="354"/>
            <p14:sldId id="355"/>
            <p14:sldId id="356"/>
            <p14:sldId id="357"/>
            <p14:sldId id="358"/>
            <p14:sldId id="359"/>
            <p14:sldId id="361"/>
            <p14:sldId id="351"/>
            <p14:sldId id="362"/>
            <p14:sldId id="364"/>
            <p14:sldId id="375"/>
            <p14:sldId id="366"/>
            <p14:sldId id="367"/>
            <p14:sldId id="369"/>
            <p14:sldId id="376"/>
            <p14:sldId id="377"/>
            <p14:sldId id="368"/>
            <p14:sldId id="378"/>
            <p14:sldId id="379"/>
            <p14:sldId id="385"/>
            <p14:sldId id="380"/>
            <p14:sldId id="381"/>
            <p14:sldId id="384"/>
            <p14:sldId id="382"/>
            <p14:sldId id="383"/>
          </p14:sldIdLst>
        </p14:section>
        <p14:section name="Nullables" id="{2C07281E-1AF9-9C40-BA27-838C1D0FD4DD}">
          <p14:sldIdLst>
            <p14:sldId id="386"/>
            <p14:sldId id="388"/>
            <p14:sldId id="389"/>
            <p14:sldId id="392"/>
            <p14:sldId id="390"/>
            <p14:sldId id="391"/>
            <p14:sldId id="406"/>
            <p14:sldId id="394"/>
            <p14:sldId id="395"/>
            <p14:sldId id="397"/>
            <p14:sldId id="399"/>
            <p14:sldId id="424"/>
            <p14:sldId id="431"/>
            <p14:sldId id="438"/>
            <p14:sldId id="439"/>
            <p14:sldId id="400"/>
            <p14:sldId id="401"/>
            <p14:sldId id="402"/>
            <p14:sldId id="403"/>
            <p14:sldId id="404"/>
            <p14:sldId id="405"/>
            <p14:sldId id="408"/>
            <p14:sldId id="409"/>
            <p14:sldId id="387"/>
            <p14:sldId id="419"/>
          </p14:sldIdLst>
        </p14:section>
        <p14:section name="Untitled Section" id="{AD8D99BC-52F9-474E-9024-062C5EDBC176}">
          <p14:sldIdLst>
            <p14:sldId id="420"/>
            <p14:sldId id="410"/>
          </p14:sldIdLst>
        </p14:section>
        <p14:section name="Untitled Section" id="{9153832E-D368-C94D-B2B3-A5536DABC29E}">
          <p14:sldIdLst>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14B4B"/>
    <a:srgbClr val="F2F5F9"/>
    <a:srgbClr val="1735C9"/>
    <a:srgbClr val="1E3A5F"/>
    <a:srgbClr val="6B7280"/>
    <a:srgbClr val="FFFFFF"/>
    <a:srgbClr val="000000"/>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7894"/>
    <p:restoredTop sz="81643"/>
  </p:normalViewPr>
  <p:slideViewPr>
    <p:cSldViewPr snapToGrid="0">
      <p:cViewPr varScale="1">
        <p:scale>
          <a:sx n="189" d="100"/>
          <a:sy n="189" d="100"/>
        </p:scale>
        <p:origin x="176" y="488"/>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7800FC-36DB-5949-AC9F-7E2502C543B8}" type="datetimeFigureOut">
              <a:rPr lang="en-US" smtClean="0"/>
              <a:t>8/5/26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075DC1-1C15-494B-AA7C-AA41D7AEAB5F}" type="slidenum">
              <a:rPr lang="en-US" smtClean="0"/>
              <a:t>‹#›</a:t>
            </a:fld>
            <a:endParaRPr lang="en-US"/>
          </a:p>
        </p:txBody>
      </p:sp>
    </p:spTree>
    <p:extLst>
      <p:ext uri="{BB962C8B-B14F-4D97-AF65-F5344CB8AC3E}">
        <p14:creationId xmlns:p14="http://schemas.microsoft.com/office/powerpoint/2010/main" val="1736407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2</a:t>
            </a:fld>
            <a:endParaRPr lang="en-US"/>
          </a:p>
        </p:txBody>
      </p:sp>
    </p:spTree>
    <p:extLst>
      <p:ext uri="{BB962C8B-B14F-4D97-AF65-F5344CB8AC3E}">
        <p14:creationId xmlns:p14="http://schemas.microsoft.com/office/powerpoint/2010/main" val="21663360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12</a:t>
            </a:fld>
            <a:endParaRPr lang="en-US"/>
          </a:p>
        </p:txBody>
      </p:sp>
    </p:spTree>
    <p:extLst>
      <p:ext uri="{BB962C8B-B14F-4D97-AF65-F5344CB8AC3E}">
        <p14:creationId xmlns:p14="http://schemas.microsoft.com/office/powerpoint/2010/main" val="4267197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1075DC1-1C15-494B-AA7C-AA41D7AEAB5F}" type="slidenum">
              <a:rPr lang="en-US" smtClean="0"/>
              <a:t>28</a:t>
            </a:fld>
            <a:endParaRPr lang="en-US"/>
          </a:p>
        </p:txBody>
      </p:sp>
    </p:spTree>
    <p:extLst>
      <p:ext uri="{BB962C8B-B14F-4D97-AF65-F5344CB8AC3E}">
        <p14:creationId xmlns:p14="http://schemas.microsoft.com/office/powerpoint/2010/main" val="2336191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1075DC1-1C15-494B-AA7C-AA41D7AEAB5F}" type="slidenum">
              <a:rPr lang="en-US" smtClean="0"/>
              <a:t>29</a:t>
            </a:fld>
            <a:endParaRPr lang="en-US"/>
          </a:p>
        </p:txBody>
      </p:sp>
    </p:spTree>
    <p:extLst>
      <p:ext uri="{BB962C8B-B14F-4D97-AF65-F5344CB8AC3E}">
        <p14:creationId xmlns:p14="http://schemas.microsoft.com/office/powerpoint/2010/main" val="2336191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55</a:t>
            </a:fld>
            <a:endParaRPr lang="en-US"/>
          </a:p>
        </p:txBody>
      </p:sp>
    </p:spTree>
    <p:extLst>
      <p:ext uri="{BB962C8B-B14F-4D97-AF65-F5344CB8AC3E}">
        <p14:creationId xmlns:p14="http://schemas.microsoft.com/office/powerpoint/2010/main" val="1726632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68</a:t>
            </a:fld>
            <a:endParaRPr lang="en-US"/>
          </a:p>
        </p:txBody>
      </p:sp>
    </p:spTree>
    <p:extLst>
      <p:ext uri="{BB962C8B-B14F-4D97-AF65-F5344CB8AC3E}">
        <p14:creationId xmlns:p14="http://schemas.microsoft.com/office/powerpoint/2010/main" val="23866919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endParaRPr lang="en-US" sz="1200" dirty="0"/>
          </a:p>
          <a:p>
            <a:r>
              <a:rPr lang="en-US" sz="1200" dirty="0"/>
              <a:t>Always alter slides by making a copy directly after the slides and editing the copy I can see the differences. This also mean you can take bigger risks.</a:t>
            </a:r>
          </a:p>
          <a:p>
            <a:endParaRPr lang="en-US" sz="1200" dirty="0"/>
          </a:p>
          <a:p>
            <a:r>
              <a:rPr lang="en-US" sz="1200" dirty="0"/>
              <a:t>STYLE GUIDE (slides 13–14 ARE the spec — never edit them; match them):</a:t>
            </a:r>
          </a:p>
          <a:p>
            <a:r>
              <a:rPr lang="en-US" sz="1200" dirty="0"/>
              <a:t>• Palette: Navy #1F3A5F (primary), Slate #415A77 (secondary), Green #5A7D5A (safe/pass), Rust #A14B4B (risk/violation), Gray #6B7280 (neutral), Light #DCE3EC.</a:t>
            </a:r>
          </a:p>
          <a:p>
            <a:r>
              <a:rPr lang="en-US" sz="1200" dirty="0"/>
              <a:t>• Use green/rust ONLY to mark safe vs risk; navy/slate carry everything else.</a:t>
            </a:r>
          </a:p>
          <a:p>
            <a:r>
              <a:rPr lang="en-US" sz="1200" dirty="0"/>
              <a:t>• Type scale: Title 32pt Bold · Card Header 18pt Bold · Body 14pt. Cover hero larger.</a:t>
            </a:r>
          </a:p>
          <a:p>
            <a:r>
              <a:rPr lang="en-US" sz="1200" dirty="0"/>
              <a:t>• Fonts: Calibri for prose; Consolas for code, syntax-highlighted (keyword #93B8E6, string #BCE3BC, number/func #E6C77A, comment #9AA7B5, punctuation #C2CCD6, base #E8EDF3, JSON key #93B8E6).</a:t>
            </a:r>
          </a:p>
          <a:p>
            <a:r>
              <a:rPr lang="en-US" sz="1200" dirty="0"/>
              <a:t>• Components: rounded cards, ovals, arrow connectors — one visual grammar repeated on every slide.</a:t>
            </a:r>
          </a:p>
          <a:p>
            <a:r>
              <a:rPr lang="en-US" sz="1200" dirty="0"/>
              <a:t>• Philosophy: clarity over decoration; structure carries meaning; lead with the takeaway; short lines; scannable.</a:t>
            </a:r>
          </a:p>
          <a:p>
            <a:endParaRPr lang="en-US" sz="1200" dirty="0"/>
          </a:p>
          <a:p>
            <a:r>
              <a:rPr lang="en-US" sz="1200" dirty="0"/>
              <a:t>RULES FOR FUTURE EDITS: never touch the style-guide slides (13–14) or this Meta slide unless asked; keep one visual grammar; prefer more slides over dense ones; concrete examples win.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F3F3C-80DF-8BC4-1202-B68AB4D7DB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DA5CAA-C0AC-3C25-F291-842844C8B6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ED92C48-A0D5-DE10-7964-05604BBC16D5}"/>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83F4D36-F3DF-2276-4357-F1E69E56F2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B21E1-A55B-D4A4-20CD-DC26DEC1738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9810311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A72A9-AE12-5A5C-1C55-6DC9B50E85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D44DA4-A3B0-AD47-140F-648B4C00A32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BA3DF6-E775-8C20-7D15-AD565038069F}"/>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1D676828-5D3B-BEEF-CD94-F08934AD1B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7B6EC1-0A17-3CCE-7D79-35B11922E745}"/>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3380027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B5591-CE3D-3EED-7B07-9327E7CC5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688793-53CE-AB0F-C20F-4696CE69AA9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6B7A6BE-E6B2-26F1-A5A3-F40F750911E9}"/>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EE8295C-26AF-2ED6-3E47-5267FE38C4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8D566A-FB8F-2E82-A505-01E00A251C3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645546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25889-0CB2-EC25-9D16-8FB0327FE1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1B75D7-45E3-1913-F8F5-FA169E9002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A5052C-57AF-3C5C-0F94-520EACE318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E670096-5F30-BB14-BF3B-8EC038A88A49}"/>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7B12569D-755D-8429-B691-4D1C15327B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D91EA3-96CD-A334-9E43-242E7CEE9DC5}"/>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932432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69F80-6D1B-CEE1-B46A-37E9A7631FF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5487F5D-63E0-6077-2D69-B17EEC0D427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3901A33-072E-8AB9-A6BA-D69BD27BCF0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A63A75F-C726-1E37-BA17-4A812747B7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2895BB-1FFC-BDA1-D3CA-918EE17398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859D6D4-2A53-440D-29D1-34AD1F4E1445}"/>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8" name="Footer Placeholder 7">
            <a:extLst>
              <a:ext uri="{FF2B5EF4-FFF2-40B4-BE49-F238E27FC236}">
                <a16:creationId xmlns:a16="http://schemas.microsoft.com/office/drawing/2014/main" id="{EFE88898-CAB4-BED4-E831-74E553B106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4740EF8-FDAE-6D8A-B26F-E43CE21EA8C7}"/>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35677648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51B8B-3E9D-F7C0-69C4-723CE734695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0514FE4-CD8E-8801-69C8-41F381AD2B1E}"/>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4" name="Footer Placeholder 3">
            <a:extLst>
              <a:ext uri="{FF2B5EF4-FFF2-40B4-BE49-F238E27FC236}">
                <a16:creationId xmlns:a16="http://schemas.microsoft.com/office/drawing/2014/main" id="{2125A0FC-9DD2-C04D-C86C-80BFC350B1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B5D9D0-AD80-031A-3F84-A4544A6F3589}"/>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193108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5C408A0-99F4-3506-F590-FCDDEDCE9A47}"/>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3" name="Footer Placeholder 2">
            <a:extLst>
              <a:ext uri="{FF2B5EF4-FFF2-40B4-BE49-F238E27FC236}">
                <a16:creationId xmlns:a16="http://schemas.microsoft.com/office/drawing/2014/main" id="{81E2176E-06DE-D98E-F334-FAD241FC09C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5003E3-E115-305F-D988-5DFC61D5E97F}"/>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10852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2E6F9-A0FA-A900-B4FD-B312CEBE08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49B0A7-3DBF-BA6C-1571-ABC3D5FCF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954FF5C-54F1-96F3-972E-01CDC921AE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FB9215-A47A-C12F-67A6-F1DAC3063CC2}"/>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CAD7DA2F-D149-4B0A-6EE7-1EC50E33DC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4ADBBD-F13D-5953-AFD6-C9730E82CC59}"/>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343731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D69EC-FB0E-75F0-C439-364A99D660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28C6C78-90EC-0E45-C2FE-5588C2728C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3FC2B20-F3B5-5423-B52B-D94F86FD0B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5AFE83-18FD-B867-0E58-6E1B7991716D}"/>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7A5F87BB-5473-E8DD-3F68-D08CB0CD4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9D6810-D03C-05E5-5247-9FDEE795D848}"/>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81035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E7190-1915-3F04-08ED-8DA335B74B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C45793E-9CB9-3C85-E485-80E7BE105E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13C20F-4E58-2ABD-9E76-F51B2DC31361}"/>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DDF417C4-F9FD-4DB5-A4E6-5419E4B1C3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EBE4C2-18CF-1BDD-6CFF-9A47CDD80A7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17150810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432BFAC-5699-1648-21DA-68BAAD6BC7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151FE8-3E03-7D7D-6E19-9283EA3EA7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EBF500-9523-A6D6-2743-DE4708380D33}"/>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FBF13E07-425A-09A4-F9B8-DFE1B914CC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9D2DF78-0AF0-4163-E52B-C9B1899D25B4}"/>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6497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E93F4D-BEB1-6F18-B353-D39DE34DFF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7E79FC1-8D3D-6214-5F03-5E361DB1E3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F20582-E25D-B861-A004-81C794CDDA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7EB675C-AAE0-CDA2-61E4-0CA61AD4F4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1FC730F-D578-A875-17B4-2D14FC0D21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AF379A-09B2-FE42-A3A6-C0F294F91C72}" type="slidenum">
              <a:rPr lang="en-US" smtClean="0"/>
              <a:t>‹#›</a:t>
            </a:fld>
            <a:endParaRPr lang="en-US"/>
          </a:p>
        </p:txBody>
      </p:sp>
    </p:spTree>
    <p:extLst>
      <p:ext uri="{BB962C8B-B14F-4D97-AF65-F5344CB8AC3E}">
        <p14:creationId xmlns:p14="http://schemas.microsoft.com/office/powerpoint/2010/main" val="36157821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0528E-D730-3515-15C0-CAE26D471D86}"/>
              </a:ext>
            </a:extLst>
          </p:cNvPr>
          <p:cNvSpPr>
            <a:spLocks noGrp="1"/>
          </p:cNvSpPr>
          <p:nvPr>
            <p:ph type="ctrTitle"/>
          </p:nvPr>
        </p:nvSpPr>
        <p:spPr/>
        <p:txBody>
          <a:bodyPr/>
          <a:lstStyle/>
          <a:p>
            <a:pPr algn="ctr"/>
            <a:r>
              <a:rPr lang="en-US" sz="5400" b="1" dirty="0">
                <a:solidFill>
                  <a:srgbClr val="1F3A5F"/>
                </a:solidFill>
              </a:rPr>
              <a:t>Working with AI</a:t>
            </a:r>
          </a:p>
        </p:txBody>
      </p:sp>
      <p:sp>
        <p:nvSpPr>
          <p:cNvPr id="3" name="Subtitle 2">
            <a:extLst>
              <a:ext uri="{FF2B5EF4-FFF2-40B4-BE49-F238E27FC236}">
                <a16:creationId xmlns:a16="http://schemas.microsoft.com/office/drawing/2014/main" id="{C0298357-EB1B-AFBA-1E1F-BC25DA3B51B1}"/>
              </a:ext>
            </a:extLst>
          </p:cNvPr>
          <p:cNvSpPr>
            <a:spLocks noGrp="1"/>
          </p:cNvSpPr>
          <p:nvPr>
            <p:ph type="subTitle" idx="1"/>
          </p:nvPr>
        </p:nvSpPr>
        <p:spPr/>
        <p:txBody>
          <a:bodyPr/>
          <a:lstStyle/>
          <a:p>
            <a:pPr algn="ctr"/>
            <a:r>
              <a:rPr lang="en-US" sz="2000" dirty="0">
                <a:solidFill>
                  <a:srgbClr val="415A77"/>
                </a:solidFill>
              </a:rPr>
              <a:t>My first 4 weeks at a new company</a:t>
            </a:r>
          </a:p>
        </p:txBody>
      </p:sp>
    </p:spTree>
    <p:extLst>
      <p:ext uri="{BB962C8B-B14F-4D97-AF65-F5344CB8AC3E}">
        <p14:creationId xmlns:p14="http://schemas.microsoft.com/office/powerpoint/2010/main" val="3926923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3332050A-456B-87A0-AE01-875C88CC4E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6911" y="155097"/>
            <a:ext cx="5656979" cy="5656979"/>
          </a:xfrm>
          <a:prstGeom prst="rect">
            <a:avLst/>
          </a:prstGeom>
        </p:spPr>
      </p:pic>
      <p:sp>
        <p:nvSpPr>
          <p:cNvPr id="7" name="TextBox 6">
            <a:extLst>
              <a:ext uri="{FF2B5EF4-FFF2-40B4-BE49-F238E27FC236}">
                <a16:creationId xmlns:a16="http://schemas.microsoft.com/office/drawing/2014/main" id="{23C954BD-BBD6-2880-33A6-81B0B46E933E}"/>
              </a:ext>
            </a:extLst>
          </p:cNvPr>
          <p:cNvSpPr txBox="1"/>
          <p:nvPr/>
        </p:nvSpPr>
        <p:spPr>
          <a:xfrm>
            <a:off x="554367" y="6147287"/>
            <a:ext cx="6093912" cy="369332"/>
          </a:xfrm>
          <a:prstGeom prst="rect">
            <a:avLst/>
          </a:prstGeom>
          <a:noFill/>
        </p:spPr>
        <p:txBody>
          <a:bodyPr wrap="square">
            <a:spAutoFit/>
          </a:bodyPr>
          <a:lstStyle/>
          <a:p>
            <a:r>
              <a:rPr lang="en-US" dirty="0" err="1"/>
              <a:t>github.com</a:t>
            </a:r>
            <a:r>
              <a:rPr lang="en-US" dirty="0"/>
              <a:t>/</a:t>
            </a:r>
            <a:r>
              <a:rPr lang="en-US" dirty="0" err="1"/>
              <a:t>isidore</a:t>
            </a:r>
            <a:r>
              <a:rPr lang="en-US" dirty="0"/>
              <a:t>/Talks/blob/master/</a:t>
            </a:r>
            <a:r>
              <a:rPr lang="en-US" dirty="0" err="1"/>
              <a:t>WorkingWithAI.md</a:t>
            </a:r>
            <a:endParaRPr lang="en-US" dirty="0"/>
          </a:p>
        </p:txBody>
      </p:sp>
    </p:spTree>
    <p:extLst>
      <p:ext uri="{BB962C8B-B14F-4D97-AF65-F5344CB8AC3E}">
        <p14:creationId xmlns:p14="http://schemas.microsoft.com/office/powerpoint/2010/main" val="1534381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DF548A-D70E-1041-6BEC-8087E847AD5A}"/>
              </a:ext>
            </a:extLst>
          </p:cNvPr>
          <p:cNvPicPr>
            <a:picLocks noChangeAspect="1"/>
          </p:cNvPicPr>
          <p:nvPr/>
        </p:nvPicPr>
        <p:blipFill>
          <a:blip r:embed="rId2"/>
          <a:stretch>
            <a:fillRect/>
          </a:stretch>
        </p:blipFill>
        <p:spPr>
          <a:xfrm>
            <a:off x="318523" y="206225"/>
            <a:ext cx="4247340" cy="6371010"/>
          </a:xfrm>
          <a:prstGeom prst="rect">
            <a:avLst/>
          </a:prstGeom>
        </p:spPr>
      </p:pic>
    </p:spTree>
    <p:extLst>
      <p:ext uri="{BB962C8B-B14F-4D97-AF65-F5344CB8AC3E}">
        <p14:creationId xmlns:p14="http://schemas.microsoft.com/office/powerpoint/2010/main" val="2376592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FB7116C-BCA1-5DDE-6FBB-FFB9CD9C7AC0}"/>
              </a:ext>
            </a:extLst>
          </p:cNvPr>
          <p:cNvPicPr>
            <a:picLocks noChangeAspect="1"/>
          </p:cNvPicPr>
          <p:nvPr/>
        </p:nvPicPr>
        <p:blipFill>
          <a:blip r:embed="rId2"/>
          <a:stretch>
            <a:fillRect/>
          </a:stretch>
        </p:blipFill>
        <p:spPr>
          <a:xfrm>
            <a:off x="5176709" y="879674"/>
            <a:ext cx="6662029" cy="5416789"/>
          </a:xfrm>
          <a:prstGeom prst="rect">
            <a:avLst/>
          </a:prstGeom>
        </p:spPr>
      </p:pic>
      <p:sp>
        <p:nvSpPr>
          <p:cNvPr id="6" name="TextBox 5">
            <a:extLst>
              <a:ext uri="{FF2B5EF4-FFF2-40B4-BE49-F238E27FC236}">
                <a16:creationId xmlns:a16="http://schemas.microsoft.com/office/drawing/2014/main" id="{32C2A3D3-88A9-4751-8682-2AF18C230A91}"/>
              </a:ext>
            </a:extLst>
          </p:cNvPr>
          <p:cNvSpPr txBox="1"/>
          <p:nvPr/>
        </p:nvSpPr>
        <p:spPr>
          <a:xfrm>
            <a:off x="2583681" y="3075057"/>
            <a:ext cx="2302169" cy="707886"/>
          </a:xfrm>
          <a:prstGeom prst="rect">
            <a:avLst/>
          </a:prstGeom>
          <a:noFill/>
        </p:spPr>
        <p:txBody>
          <a:bodyPr wrap="none" rtlCol="0">
            <a:spAutoFit/>
          </a:bodyPr>
          <a:lstStyle/>
          <a:p>
            <a:pPr algn="ctr">
              <a:buNone/>
            </a:pPr>
            <a:r>
              <a:rPr lang="en-US" sz="4000" b="1" dirty="0">
                <a:solidFill>
                  <a:srgbClr val="1735C9"/>
                </a:solidFill>
              </a:rPr>
              <a:t>Jonathan</a:t>
            </a:r>
          </a:p>
        </p:txBody>
      </p:sp>
    </p:spTree>
    <p:extLst>
      <p:ext uri="{BB962C8B-B14F-4D97-AF65-F5344CB8AC3E}">
        <p14:creationId xmlns:p14="http://schemas.microsoft.com/office/powerpoint/2010/main" val="3492541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Graphic 18" descr="Wireframe globe representing web stack"/>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496" y="644324"/>
            <a:ext cx="6164162" cy="3810000"/>
          </a:xfrm>
          <a:prstGeom prst="rect">
            <a:avLst/>
          </a:prstGeom>
        </p:spPr>
      </p:pic>
      <p:sp>
        <p:nvSpPr>
          <p:cNvPr id="17" name="TextBand">
            <a:extLst>
              <a:ext uri="{FF2B5EF4-FFF2-40B4-BE49-F238E27FC236}">
                <a16:creationId xmlns:a16="http://schemas.microsoft.com/office/drawing/2014/main" id="{1DD96B41-94E8-5542-8AFE-6720DD3D709A}"/>
              </a:ext>
            </a:extLst>
          </p:cNvPr>
          <p:cNvSpPr/>
          <p:nvPr/>
        </p:nvSpPr>
        <p:spPr>
          <a:xfrm>
            <a:off x="2349190" y="2159000"/>
            <a:ext cx="4942862" cy="81280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5ABD5DC-351C-F0BD-9B51-DB1E891EE3F7}"/>
              </a:ext>
            </a:extLst>
          </p:cNvPr>
          <p:cNvSpPr txBox="1"/>
          <p:nvPr/>
        </p:nvSpPr>
        <p:spPr>
          <a:xfrm>
            <a:off x="1425048" y="2206957"/>
            <a:ext cx="6943448" cy="707886"/>
          </a:xfrm>
          <a:prstGeom prst="rect">
            <a:avLst/>
          </a:prstGeom>
          <a:noFill/>
        </p:spPr>
        <p:txBody>
          <a:bodyPr wrap="square" rtlCol="0">
            <a:spAutoFit/>
          </a:bodyPr>
          <a:lstStyle/>
          <a:p>
            <a:pPr algn="ctr"/>
            <a:r>
              <a:rPr lang="en-US" sz="4000" b="1" dirty="0">
                <a:solidFill>
                  <a:srgbClr val="1F3A5F"/>
                </a:solidFill>
              </a:rPr>
              <a:t>VUE.JS </a:t>
            </a:r>
            <a:r>
              <a:rPr lang="en-US" sz="4000" dirty="0"/>
              <a:t>•</a:t>
            </a:r>
            <a:r>
              <a:rPr lang="en-US" sz="4000" b="1" dirty="0">
                <a:solidFill>
                  <a:srgbClr val="1F3A5F"/>
                </a:solidFill>
              </a:rPr>
              <a:t> ASP.NET </a:t>
            </a:r>
            <a:r>
              <a:rPr lang="en-US" sz="4000" dirty="0"/>
              <a:t>•</a:t>
            </a:r>
            <a:r>
              <a:rPr lang="en-US" sz="4000" b="1" dirty="0">
                <a:solidFill>
                  <a:srgbClr val="1F3A5F"/>
                </a:solidFill>
              </a:rPr>
              <a:t> EF </a:t>
            </a:r>
          </a:p>
        </p:txBody>
      </p:sp>
      <p:pic>
        <p:nvPicPr>
          <p:cNvPr id="10" name="Graphic 8" descr="Database">
            <a:extLst>
              <a:ext uri="{FF2B5EF4-FFF2-40B4-BE49-F238E27FC236}">
                <a16:creationId xmlns:a16="http://schemas.microsoft.com/office/drawing/2014/main" id="{9653DA3F-053E-F7CB-79D6-4A8B7E70AC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31475" y="4622961"/>
            <a:ext cx="1416291" cy="1416291"/>
          </a:xfrm>
          <a:prstGeom prst="rect">
            <a:avLst/>
          </a:prstGeom>
        </p:spPr>
      </p:pic>
      <p:sp>
        <p:nvSpPr>
          <p:cNvPr id="11" name="TextBox 10">
            <a:extLst>
              <a:ext uri="{FF2B5EF4-FFF2-40B4-BE49-F238E27FC236}">
                <a16:creationId xmlns:a16="http://schemas.microsoft.com/office/drawing/2014/main" id="{F39DC042-89FD-3743-C9C8-1A34705902BC}"/>
              </a:ext>
            </a:extLst>
          </p:cNvPr>
          <p:cNvSpPr txBox="1"/>
          <p:nvPr/>
        </p:nvSpPr>
        <p:spPr>
          <a:xfrm>
            <a:off x="9073599" y="3915075"/>
            <a:ext cx="1132041" cy="707886"/>
          </a:xfrm>
          <a:prstGeom prst="rect">
            <a:avLst/>
          </a:prstGeom>
          <a:noFill/>
        </p:spPr>
        <p:txBody>
          <a:bodyPr wrap="none" rtlCol="0">
            <a:spAutoFit/>
          </a:bodyPr>
          <a:lstStyle/>
          <a:p>
            <a:pPr algn="ctr">
              <a:buNone/>
            </a:pPr>
            <a:r>
              <a:rPr lang="en-US" sz="4000" b="1" dirty="0">
                <a:solidFill>
                  <a:srgbClr val="1F3A5F"/>
                </a:solidFill>
              </a:rPr>
              <a:t>SQL</a:t>
            </a:r>
          </a:p>
        </p:txBody>
      </p:sp>
      <p:sp>
        <p:nvSpPr>
          <p:cNvPr id="2" name="TextBox 1">
            <a:extLst>
              <a:ext uri="{FF2B5EF4-FFF2-40B4-BE49-F238E27FC236}">
                <a16:creationId xmlns:a16="http://schemas.microsoft.com/office/drawing/2014/main" id="{FE388308-12E4-FD64-5C16-4C9F15BD42DA}"/>
              </a:ext>
            </a:extLst>
          </p:cNvPr>
          <p:cNvSpPr txBox="1"/>
          <p:nvPr/>
        </p:nvSpPr>
        <p:spPr>
          <a:xfrm>
            <a:off x="1425048" y="5309071"/>
            <a:ext cx="6943448" cy="707886"/>
          </a:xfrm>
          <a:prstGeom prst="rect">
            <a:avLst/>
          </a:prstGeom>
          <a:noFill/>
        </p:spPr>
        <p:txBody>
          <a:bodyPr wrap="square" rtlCol="0">
            <a:spAutoFit/>
          </a:bodyPr>
          <a:lstStyle/>
          <a:p>
            <a:pPr algn="ctr"/>
            <a:r>
              <a:rPr lang="en-US" sz="4000" b="1" dirty="0">
                <a:solidFill>
                  <a:srgbClr val="1F3A5F"/>
                </a:solidFill>
              </a:rPr>
              <a:t>50K Lines</a:t>
            </a:r>
          </a:p>
        </p:txBody>
      </p:sp>
    </p:spTree>
    <p:extLst>
      <p:ext uri="{BB962C8B-B14F-4D97-AF65-F5344CB8AC3E}">
        <p14:creationId xmlns:p14="http://schemas.microsoft.com/office/powerpoint/2010/main" val="1579275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8BE6FD46-DE10-90B1-BEE3-AF10B7640A04}"/>
              </a:ext>
            </a:extLst>
          </p:cNvPr>
          <p:cNvGrpSpPr/>
          <p:nvPr/>
        </p:nvGrpSpPr>
        <p:grpSpPr>
          <a:xfrm>
            <a:off x="6267199" y="2359901"/>
            <a:ext cx="918266" cy="461665"/>
            <a:chOff x="9249844" y="2055101"/>
            <a:chExt cx="918266" cy="461665"/>
          </a:xfrm>
        </p:grpSpPr>
        <p:sp>
          <p:nvSpPr>
            <p:cNvPr id="11" name="Rounded Rectangle 10">
              <a:extLst>
                <a:ext uri="{FF2B5EF4-FFF2-40B4-BE49-F238E27FC236}">
                  <a16:creationId xmlns:a16="http://schemas.microsoft.com/office/drawing/2014/main" id="{6DC12774-D71A-F807-92EF-F7E63B202675}"/>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9A768DF-2129-083F-B247-98092CF4E90D}"/>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7" name="TextBox 6">
            <a:extLst>
              <a:ext uri="{FF2B5EF4-FFF2-40B4-BE49-F238E27FC236}">
                <a16:creationId xmlns:a16="http://schemas.microsoft.com/office/drawing/2014/main" id="{7C134978-2F45-0D09-A7A4-A658C837DF0D}"/>
              </a:ext>
            </a:extLst>
          </p:cNvPr>
          <p:cNvSpPr txBox="1"/>
          <p:nvPr/>
        </p:nvSpPr>
        <p:spPr>
          <a:xfrm>
            <a:off x="5126214" y="4122750"/>
            <a:ext cx="2192331" cy="369332"/>
          </a:xfrm>
          <a:prstGeom prst="rect">
            <a:avLst/>
          </a:prstGeom>
          <a:noFill/>
        </p:spPr>
        <p:txBody>
          <a:bodyPr wrap="none" rtlCol="0">
            <a:spAutoFit/>
          </a:bodyPr>
          <a:lstStyle/>
          <a:p>
            <a:pPr algn="ctr"/>
            <a:r>
              <a:rPr lang="en-US" sz="1800" dirty="0">
                <a:solidFill>
                  <a:srgbClr val="415A77"/>
                </a:solidFill>
              </a:rPr>
              <a:t>Small Steps + Focus</a:t>
            </a:r>
          </a:p>
        </p:txBody>
      </p:sp>
      <p:grpSp>
        <p:nvGrpSpPr>
          <p:cNvPr id="14" name="Group 13">
            <a:extLst>
              <a:ext uri="{FF2B5EF4-FFF2-40B4-BE49-F238E27FC236}">
                <a16:creationId xmlns:a16="http://schemas.microsoft.com/office/drawing/2014/main" id="{45B6F71D-E060-7B00-0F7C-E52B3BFAC57A}"/>
              </a:ext>
            </a:extLst>
          </p:cNvPr>
          <p:cNvGrpSpPr/>
          <p:nvPr/>
        </p:nvGrpSpPr>
        <p:grpSpPr>
          <a:xfrm>
            <a:off x="3538618" y="2359901"/>
            <a:ext cx="1730731" cy="461665"/>
            <a:chOff x="3888023" y="2248422"/>
            <a:chExt cx="1730731" cy="461665"/>
          </a:xfrm>
        </p:grpSpPr>
        <p:sp>
          <p:nvSpPr>
            <p:cNvPr id="3" name="Rounded Rectangle 2">
              <a:extLst>
                <a:ext uri="{FF2B5EF4-FFF2-40B4-BE49-F238E27FC236}">
                  <a16:creationId xmlns:a16="http://schemas.microsoft.com/office/drawing/2014/main" id="{99198C5A-AE94-AB9F-51C7-1EEA5BAEF966}"/>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E393CDE-C178-EEB7-670B-8B2477A18477}"/>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5" name="Group 14">
            <a:extLst>
              <a:ext uri="{FF2B5EF4-FFF2-40B4-BE49-F238E27FC236}">
                <a16:creationId xmlns:a16="http://schemas.microsoft.com/office/drawing/2014/main" id="{5838E9E3-8D96-9034-7836-D35B1A275EC6}"/>
              </a:ext>
            </a:extLst>
          </p:cNvPr>
          <p:cNvGrpSpPr/>
          <p:nvPr/>
        </p:nvGrpSpPr>
        <p:grpSpPr>
          <a:xfrm>
            <a:off x="8547584" y="2359901"/>
            <a:ext cx="1665284" cy="461665"/>
            <a:chOff x="6359523" y="2343503"/>
            <a:chExt cx="1665284" cy="461665"/>
          </a:xfrm>
        </p:grpSpPr>
        <p:sp>
          <p:nvSpPr>
            <p:cNvPr id="10" name="Rounded Rectangle 9">
              <a:extLst>
                <a:ext uri="{FF2B5EF4-FFF2-40B4-BE49-F238E27FC236}">
                  <a16:creationId xmlns:a16="http://schemas.microsoft.com/office/drawing/2014/main" id="{75D547CE-C56D-EA33-5E94-0D96B60CA90B}"/>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CD38D4C-E179-30DE-EC13-43E648A82B6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460438D9-EFFE-883F-A3C0-4CB3FE28ED1A}"/>
              </a:ext>
            </a:extLst>
          </p:cNvPr>
          <p:cNvSpPr txBox="1"/>
          <p:nvPr/>
        </p:nvSpPr>
        <p:spPr>
          <a:xfrm>
            <a:off x="5405092" y="235990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12" name="TextBox 11">
            <a:extLst>
              <a:ext uri="{FF2B5EF4-FFF2-40B4-BE49-F238E27FC236}">
                <a16:creationId xmlns:a16="http://schemas.microsoft.com/office/drawing/2014/main" id="{34540F09-A06E-4A27-0483-A0DC6B9F1942}"/>
              </a:ext>
            </a:extLst>
          </p:cNvPr>
          <p:cNvSpPr txBox="1"/>
          <p:nvPr/>
        </p:nvSpPr>
        <p:spPr>
          <a:xfrm>
            <a:off x="7691637" y="235990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Tree>
    <p:extLst>
      <p:ext uri="{BB962C8B-B14F-4D97-AF65-F5344CB8AC3E}">
        <p14:creationId xmlns:p14="http://schemas.microsoft.com/office/powerpoint/2010/main" val="4244937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190A1-5375-3864-8CD1-5D28FD74006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F97CE99-C16E-83C3-F4C4-A0D1814943E6}"/>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40EAD6B7-7868-2C68-E158-A82DD335B969}"/>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D9B1B095-5B91-6E95-FD59-8EB107C8D512}"/>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5BEDB12B-2E74-934B-8DB7-FB691CEA9C16}"/>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FB4B2875-ED9A-7D42-971F-7D9752DCFB1A}"/>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1952484C-1C46-A822-625A-E4B18488EB4C}"/>
              </a:ext>
            </a:extLst>
          </p:cNvPr>
          <p:cNvSpPr/>
          <p:nvPr/>
        </p:nvSpPr>
        <p:spPr>
          <a:xfrm>
            <a:off x="1204693" y="1365337"/>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5B9DE12-90AB-6F86-A5FE-91C532BB49E8}"/>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215299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iv">
            <a:extLst>
              <a:ext uri="{FF2B5EF4-FFF2-40B4-BE49-F238E27FC236}">
                <a16:creationId xmlns:a16="http://schemas.microsoft.com/office/drawing/2014/main" id="{28F4D4C5-2316-5E43-863F-980667650AF3}"/>
              </a:ext>
            </a:extLst>
          </p:cNvPr>
          <p:cNvSpPr/>
          <p:nvPr/>
        </p:nvSpPr>
        <p:spPr>
          <a:xfrm>
            <a:off x="1041400" y="19050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card0">
            <a:extLst>
              <a:ext uri="{FF2B5EF4-FFF2-40B4-BE49-F238E27FC236}">
                <a16:creationId xmlns:a16="http://schemas.microsoft.com/office/drawing/2014/main" id="{670522A2-66D5-454F-B60D-07849151DE6B}"/>
              </a:ext>
            </a:extLst>
          </p:cNvPr>
          <p:cNvSpPr/>
          <p:nvPr/>
        </p:nvSpPr>
        <p:spPr>
          <a:xfrm>
            <a:off x="10414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1">
            <a:extLst>
              <a:ext uri="{FF2B5EF4-FFF2-40B4-BE49-F238E27FC236}">
                <a16:creationId xmlns:a16="http://schemas.microsoft.com/office/drawing/2014/main" id="{C831BC6F-06DC-F74D-B9BB-E7327330479B}"/>
              </a:ext>
            </a:extLst>
          </p:cNvPr>
          <p:cNvSpPr/>
          <p:nvPr/>
        </p:nvSpPr>
        <p:spPr>
          <a:xfrm>
            <a:off x="36195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2">
            <a:extLst>
              <a:ext uri="{FF2B5EF4-FFF2-40B4-BE49-F238E27FC236}">
                <a16:creationId xmlns:a16="http://schemas.microsoft.com/office/drawing/2014/main" id="{27C63F9C-BA02-0E4F-8621-C6F77697D748}"/>
              </a:ext>
            </a:extLst>
          </p:cNvPr>
          <p:cNvSpPr/>
          <p:nvPr/>
        </p:nvSpPr>
        <p:spPr>
          <a:xfrm>
            <a:off x="61976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card3">
            <a:extLst>
              <a:ext uri="{FF2B5EF4-FFF2-40B4-BE49-F238E27FC236}">
                <a16:creationId xmlns:a16="http://schemas.microsoft.com/office/drawing/2014/main" id="{B89F6ADE-A6F0-8547-A6A8-A3E7386546EA}"/>
              </a:ext>
            </a:extLst>
          </p:cNvPr>
          <p:cNvSpPr/>
          <p:nvPr/>
        </p:nvSpPr>
        <p:spPr>
          <a:xfrm>
            <a:off x="87757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F8AAD1A-EF4F-78B0-EE37-703AE6F4A624}"/>
              </a:ext>
            </a:extLst>
          </p:cNvPr>
          <p:cNvSpPr txBox="1"/>
          <p:nvPr/>
        </p:nvSpPr>
        <p:spPr>
          <a:xfrm>
            <a:off x="1651000" y="990600"/>
            <a:ext cx="1529393" cy="461665"/>
          </a:xfrm>
          <a:prstGeom prst="rect">
            <a:avLst/>
          </a:prstGeom>
          <a:noFill/>
        </p:spPr>
        <p:txBody>
          <a:bodyPr wrap="none" rtlCol="0">
            <a:spAutoFit/>
          </a:bodyPr>
          <a:lstStyle/>
          <a:p>
            <a:pPr algn="l"/>
            <a:r>
              <a:rPr lang="en-US" sz="2400" b="1" dirty="0">
                <a:solidFill>
                  <a:srgbClr val="1F3A5F"/>
                </a:solidFill>
              </a:rPr>
              <a:t>Database</a:t>
            </a:r>
          </a:p>
        </p:txBody>
      </p:sp>
      <p:sp>
        <p:nvSpPr>
          <p:cNvPr id="3" name="TextBox 2">
            <a:extLst>
              <a:ext uri="{FF2B5EF4-FFF2-40B4-BE49-F238E27FC236}">
                <a16:creationId xmlns:a16="http://schemas.microsoft.com/office/drawing/2014/main" id="{22D30BDB-DED9-7C94-5611-B8362EBD6AED}"/>
              </a:ext>
            </a:extLst>
          </p:cNvPr>
          <p:cNvSpPr txBox="1"/>
          <p:nvPr/>
        </p:nvSpPr>
        <p:spPr>
          <a:xfrm>
            <a:off x="1219200" y="3048000"/>
            <a:ext cx="2019300" cy="1524000"/>
          </a:xfrm>
          <a:prstGeom prst="rect">
            <a:avLst/>
          </a:prstGeom>
          <a:noFill/>
        </p:spPr>
        <p:txBody>
          <a:bodyPr wrap="square" rtlCol="0" anchor="t" anchorCtr="0">
            <a:noAutofit/>
          </a:bodyPr>
          <a:lstStyle/>
          <a:p>
            <a:pPr algn="l"/>
            <a:r>
              <a:rPr lang="en-US" sz="2400" b="1" dirty="0">
                <a:solidFill>
                  <a:srgbClr val="FFFFFF"/>
                </a:solidFill>
              </a:rPr>
              <a:t>150 MB</a:t>
            </a:r>
          </a:p>
          <a:p>
            <a:pPr algn="l">
              <a:spcBef>
                <a:spcPts val="500"/>
              </a:spcBef>
            </a:pPr>
            <a:r>
              <a:rPr lang="en-US" sz="1350" b="1" dirty="0">
                <a:solidFill>
                  <a:srgbClr val="DCE3EC"/>
                </a:solidFill>
              </a:rPr>
              <a:t>Backups</a:t>
            </a:r>
          </a:p>
          <a:p>
            <a:pPr algn="l">
              <a:spcBef>
                <a:spcPts val="400"/>
              </a:spcBef>
            </a:pPr>
            <a:r>
              <a:rPr lang="en-US" sz="1200" dirty="0">
                <a:solidFill>
                  <a:srgbClr val="DCE3EC"/>
                </a:solidFill>
              </a:rPr>
              <a:t>none → 1600 MB → 150 MB</a:t>
            </a:r>
          </a:p>
        </p:txBody>
      </p:sp>
      <p:sp>
        <p:nvSpPr>
          <p:cNvPr id="5" name="TextBox 4">
            <a:extLst>
              <a:ext uri="{FF2B5EF4-FFF2-40B4-BE49-F238E27FC236}">
                <a16:creationId xmlns:a16="http://schemas.microsoft.com/office/drawing/2014/main" id="{DE03C201-D502-BF51-0960-8F69C012903E}"/>
              </a:ext>
            </a:extLst>
          </p:cNvPr>
          <p:cNvSpPr txBox="1"/>
          <p:nvPr/>
        </p:nvSpPr>
        <p:spPr>
          <a:xfrm>
            <a:off x="3797300" y="3048000"/>
            <a:ext cx="2019300" cy="1524000"/>
          </a:xfrm>
          <a:prstGeom prst="rect">
            <a:avLst/>
          </a:prstGeom>
          <a:noFill/>
        </p:spPr>
        <p:txBody>
          <a:bodyPr wrap="square" rtlCol="0" anchor="t" anchorCtr="0">
            <a:noAutofit/>
          </a:bodyPr>
          <a:lstStyle/>
          <a:p>
            <a:pPr algn="l"/>
            <a:r>
              <a:rPr lang="en-US" sz="2400" b="1" dirty="0">
                <a:solidFill>
                  <a:srgbClr val="FFFFFF"/>
                </a:solidFill>
              </a:rPr>
              <a:t>94 → 65</a:t>
            </a:r>
          </a:p>
          <a:p>
            <a:pPr algn="l">
              <a:spcBef>
                <a:spcPts val="500"/>
              </a:spcBef>
            </a:pPr>
            <a:r>
              <a:rPr lang="en-US" sz="1350" b="1" dirty="0">
                <a:solidFill>
                  <a:srgbClr val="DCE3EC"/>
                </a:solidFill>
              </a:rPr>
              <a:t>Tables</a:t>
            </a:r>
          </a:p>
        </p:txBody>
      </p:sp>
      <p:sp>
        <p:nvSpPr>
          <p:cNvPr id="6" name="TextBox 5">
            <a:extLst>
              <a:ext uri="{FF2B5EF4-FFF2-40B4-BE49-F238E27FC236}">
                <a16:creationId xmlns:a16="http://schemas.microsoft.com/office/drawing/2014/main" id="{40930F6A-C22A-BFBC-0200-29D755109B44}"/>
              </a:ext>
            </a:extLst>
          </p:cNvPr>
          <p:cNvSpPr txBox="1"/>
          <p:nvPr/>
        </p:nvSpPr>
        <p:spPr>
          <a:xfrm>
            <a:off x="6375400" y="3048000"/>
            <a:ext cx="2019300" cy="1524000"/>
          </a:xfrm>
          <a:prstGeom prst="rect">
            <a:avLst/>
          </a:prstGeom>
          <a:noFill/>
        </p:spPr>
        <p:txBody>
          <a:bodyPr wrap="square" rtlCol="0" anchor="t" anchorCtr="0">
            <a:noAutofit/>
          </a:bodyPr>
          <a:lstStyle/>
          <a:p>
            <a:pPr algn="l"/>
            <a:r>
              <a:rPr lang="en-US" sz="2400" b="1" dirty="0">
                <a:solidFill>
                  <a:srgbClr val="FFFFFF"/>
                </a:solidFill>
              </a:rPr>
              <a:t>25</a:t>
            </a:r>
          </a:p>
          <a:p>
            <a:pPr algn="l">
              <a:spcBef>
                <a:spcPts val="500"/>
              </a:spcBef>
            </a:pPr>
            <a:r>
              <a:rPr lang="en-US" sz="1350" b="1" dirty="0">
                <a:solidFill>
                  <a:srgbClr val="DCE3EC"/>
                </a:solidFill>
              </a:rPr>
              <a:t>Schema Updates</a:t>
            </a:r>
          </a:p>
        </p:txBody>
      </p:sp>
      <p:sp>
        <p:nvSpPr>
          <p:cNvPr id="7" name="TextBox 6">
            <a:extLst>
              <a:ext uri="{FF2B5EF4-FFF2-40B4-BE49-F238E27FC236}">
                <a16:creationId xmlns:a16="http://schemas.microsoft.com/office/drawing/2014/main" id="{BACC0CCD-704D-7FFE-B013-5DF8883B5FBB}"/>
              </a:ext>
            </a:extLst>
          </p:cNvPr>
          <p:cNvSpPr txBox="1"/>
          <p:nvPr/>
        </p:nvSpPr>
        <p:spPr>
          <a:xfrm>
            <a:off x="8953500" y="3048000"/>
            <a:ext cx="2019300" cy="1524000"/>
          </a:xfrm>
          <a:prstGeom prst="rect">
            <a:avLst/>
          </a:prstGeom>
          <a:noFill/>
        </p:spPr>
        <p:txBody>
          <a:bodyPr wrap="square" rtlCol="0" anchor="t" anchorCtr="0">
            <a:noAutofit/>
          </a:bodyPr>
          <a:lstStyle/>
          <a:p>
            <a:pPr algn="l"/>
            <a:r>
              <a:rPr lang="en-US" sz="2400" b="1" dirty="0">
                <a:solidFill>
                  <a:srgbClr val="FFFFFF"/>
                </a:solidFill>
              </a:rPr>
              <a:t>54</a:t>
            </a:r>
          </a:p>
          <a:p>
            <a:pPr algn="l">
              <a:spcBef>
                <a:spcPts val="500"/>
              </a:spcBef>
            </a:pPr>
            <a:r>
              <a:rPr lang="en-US" sz="1350" b="1" dirty="0">
                <a:solidFill>
                  <a:srgbClr val="DCE3EC"/>
                </a:solidFill>
              </a:rPr>
              <a:t>Dead Columns Removed</a:t>
            </a:r>
          </a:p>
        </p:txBody>
      </p:sp>
      <p:pic>
        <p:nvPicPr>
          <p:cNvPr id="12" name="Copied Picture 12"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41400" y="965200"/>
            <a:ext cx="508000" cy="508000"/>
          </a:xfrm>
          <a:prstGeom prst="rect">
            <a:avLst/>
          </a:prstGeom>
        </p:spPr>
      </p:pic>
    </p:spTree>
    <p:extLst>
      <p:ext uri="{BB962C8B-B14F-4D97-AF65-F5344CB8AC3E}">
        <p14:creationId xmlns:p14="http://schemas.microsoft.com/office/powerpoint/2010/main" val="1072356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879E1-2BD1-0F94-1AE0-1F47366CFE8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75D76D-C293-9DD6-368F-A5A45007FE30}"/>
              </a:ext>
            </a:extLst>
          </p:cNvPr>
          <p:cNvSpPr txBox="1"/>
          <p:nvPr/>
        </p:nvSpPr>
        <p:spPr>
          <a:xfrm>
            <a:off x="3460214" y="2819400"/>
            <a:ext cx="5271571" cy="707886"/>
          </a:xfrm>
          <a:prstGeom prst="rect">
            <a:avLst/>
          </a:prstGeom>
          <a:noFill/>
        </p:spPr>
        <p:txBody>
          <a:bodyPr wrap="none" rtlCol="0">
            <a:spAutoFit/>
          </a:bodyPr>
          <a:lstStyle/>
          <a:p>
            <a:pPr algn="ctr">
              <a:buNone/>
            </a:pPr>
            <a:r>
              <a:rPr lang="en-US" sz="4000" b="1" dirty="0">
                <a:solidFill>
                  <a:srgbClr val="1F3A5F"/>
                </a:solidFill>
              </a:rPr>
              <a:t>How did we get there?</a:t>
            </a:r>
          </a:p>
        </p:txBody>
      </p:sp>
      <p:sp>
        <p:nvSpPr>
          <p:cNvPr id="50" name="accent"/>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704921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FCAD2-BEA2-68A1-BBCA-B44DECEED003}"/>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280D2D6A-595B-08DA-E355-400AF1FFD52F}"/>
              </a:ext>
            </a:extLst>
          </p:cNvPr>
          <p:cNvSpPr/>
          <p:nvPr/>
        </p:nvSpPr>
        <p:spPr>
          <a:xfrm>
            <a:off x="1719951" y="2014215"/>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7C69ADFA-A57C-A168-D701-37392EB47E8D}"/>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3FCEA669-1BA8-F631-9AA7-F9F1311DAFD3}"/>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AI can’t see the Database</a:t>
            </a:r>
          </a:p>
          <a:p>
            <a:pPr algn="l">
              <a:lnSpc>
                <a:spcPts val="4000"/>
              </a:lnSpc>
              <a:buNone/>
            </a:pPr>
            <a:r>
              <a:rPr lang="en-US" sz="2000" b="1" dirty="0">
                <a:solidFill>
                  <a:srgbClr val="415A77"/>
                </a:solidFill>
                <a:latin typeface="Consolas"/>
              </a:rPr>
              <a:t>[ ]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32849478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7FA13-C350-5DA3-39FB-5F701A8F27CF}"/>
            </a:ext>
          </a:extLst>
        </p:cNvPr>
        <p:cNvGrpSpPr/>
        <p:nvPr/>
      </p:nvGrpSpPr>
      <p:grpSpPr>
        <a:xfrm>
          <a:off x="0" y="0"/>
          <a:ext cx="0" cy="0"/>
          <a:chOff x="0" y="0"/>
          <a:chExt cx="0" cy="0"/>
        </a:xfrm>
      </p:grpSpPr>
      <p:sp>
        <p:nvSpPr>
          <p:cNvPr id="53" name="term"/>
          <p:cNvSpPr/>
          <p:nvPr/>
        </p:nvSpPr>
        <p:spPr>
          <a:xfrm>
            <a:off x="1041400" y="2743200"/>
            <a:ext cx="9652000" cy="157480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5A0B8765-3CD9-7A2F-8A80-6A375C784930}"/>
              </a:ext>
            </a:extLst>
          </p:cNvPr>
          <p:cNvSpPr txBox="1"/>
          <p:nvPr/>
        </p:nvSpPr>
        <p:spPr>
          <a:xfrm>
            <a:off x="1041400" y="508000"/>
            <a:ext cx="3243196" cy="461665"/>
          </a:xfrm>
          <a:prstGeom prst="rect">
            <a:avLst/>
          </a:prstGeom>
          <a:noFill/>
        </p:spPr>
        <p:txBody>
          <a:bodyPr wrap="none" rtlCol="0">
            <a:spAutoFit/>
          </a:bodyPr>
          <a:lstStyle/>
          <a:p>
            <a:pPr algn="l">
              <a:buNone/>
            </a:pPr>
            <a:r>
              <a:rPr lang="en-US" sz="2400" b="1" dirty="0">
                <a:solidFill>
                  <a:srgbClr val="1F3A5F"/>
                </a:solidFill>
                <a:latin typeface="Consolas"/>
              </a:rPr>
              <a:t>./query_staging.sh</a:t>
            </a:r>
          </a:p>
        </p:txBody>
      </p:sp>
      <p:grpSp>
        <p:nvGrpSpPr>
          <p:cNvPr id="3" name="Group 2">
            <a:extLst>
              <a:ext uri="{FF2B5EF4-FFF2-40B4-BE49-F238E27FC236}">
                <a16:creationId xmlns:a16="http://schemas.microsoft.com/office/drawing/2014/main" id="{2D7A5279-101A-B5CA-88EE-92EFC564A1E9}"/>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63F34128-9DE8-5ACC-8B33-114B34FAEB81}"/>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89A3E20-F268-B0EB-E6DF-1D20FCAE841F}"/>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51" name="head"/>
          <p:cNvSpPr/>
          <p:nvPr/>
        </p:nvSpPr>
        <p:spPr>
          <a:xfrm>
            <a:off x="1041400" y="1422400"/>
            <a:ext cx="7620000" cy="355600"/>
          </a:xfrm>
          <a:prstGeom prst="rect">
            <a:avLst/>
          </a:prstGeom>
          <a:noFill/>
          <a:ln>
            <a:noFill/>
          </a:ln>
        </p:spPr>
        <p:txBody>
          <a:bodyPr wrap="square" lIns="0" tIns="0" rIns="0" bIns="0"/>
          <a:lstStyle/>
          <a:p>
            <a:pPr algn="l">
              <a:buNone/>
            </a:pPr>
            <a:r>
              <a:rPr lang="en-US" sz="1800" b="1" dirty="0">
                <a:solidFill>
                  <a:srgbClr val="1F3A5F"/>
                </a:solidFill>
              </a:rPr>
              <a:t>Exploring Data</a:t>
            </a:r>
          </a:p>
        </p:txBody>
      </p:sp>
      <p:sp>
        <p:nvSpPr>
          <p:cNvPr id="4" name="TextBox 3">
            <a:extLst>
              <a:ext uri="{FF2B5EF4-FFF2-40B4-BE49-F238E27FC236}">
                <a16:creationId xmlns:a16="http://schemas.microsoft.com/office/drawing/2014/main" id="{8D21F756-84B0-5A7A-8A5B-BAEF22B7D134}"/>
              </a:ext>
            </a:extLst>
          </p:cNvPr>
          <p:cNvSpPr txBox="1"/>
          <p:nvPr/>
        </p:nvSpPr>
        <p:spPr>
          <a:xfrm>
            <a:off x="1270000" y="3022600"/>
            <a:ext cx="8890000" cy="808555"/>
          </a:xfrm>
          <a:prstGeom prst="rect">
            <a:avLst/>
          </a:prstGeom>
          <a:noFill/>
        </p:spPr>
        <p:txBody>
          <a:bodyPr wrap="square">
            <a:spAutoFit/>
          </a:bodyPr>
          <a:lstStyle/>
          <a:p>
            <a:pPr algn="l">
              <a:lnSpc>
                <a:spcPts val="1900"/>
              </a:lnSpc>
              <a:buNone/>
            </a:pPr>
            <a:r>
              <a:rPr lang="en-US" sz="1400" dirty="0">
                <a:solidFill>
                  <a:srgbClr val="FFFFFF"/>
                </a:solidFill>
                <a:latin typeface="Consolas"/>
              </a:rPr>
              <a:t>query_staging "select * from dbo.company"     </a:t>
            </a:r>
            <a:r>
              <a:rPr lang="en-US" sz="1400" dirty="0">
                <a:solidFill>
                  <a:srgbClr val="7FB280"/>
                </a:solidFill>
                <a:latin typeface="Consolas"/>
              </a:rPr>
              <a:t># inline query</a:t>
            </a:r>
          </a:p>
          <a:p>
            <a:pPr algn="l">
              <a:lnSpc>
                <a:spcPts val="1900"/>
              </a:lnSpc>
              <a:buNone/>
            </a:pPr>
            <a:r>
              <a:rPr lang="en-US" sz="1400" dirty="0">
                <a:solidFill>
                  <a:srgbClr val="FFFFFF"/>
                </a:solidFill>
                <a:latin typeface="Consolas"/>
              </a:rPr>
              <a:t>query_staging -f query.sql                    </a:t>
            </a:r>
            <a:r>
              <a:rPr lang="en-US" sz="1400" dirty="0">
                <a:solidFill>
                  <a:srgbClr val="7FB280"/>
                </a:solidFill>
                <a:latin typeface="Consolas"/>
              </a:rPr>
              <a:t># from file</a:t>
            </a:r>
          </a:p>
          <a:p>
            <a:pPr algn="l">
              <a:lnSpc>
                <a:spcPts val="1900"/>
              </a:lnSpc>
              <a:buNone/>
            </a:pPr>
            <a:r>
              <a:rPr lang="en-US" sz="1400" dirty="0">
                <a:solidFill>
                  <a:srgbClr val="FFFFFF"/>
                </a:solidFill>
                <a:latin typeface="Consolas"/>
              </a:rPr>
              <a:t>type query.sql | query_staging                </a:t>
            </a:r>
            <a:r>
              <a:rPr lang="en-US" sz="1400" dirty="0">
                <a:solidFill>
                  <a:srgbClr val="7FB280"/>
                </a:solidFill>
                <a:latin typeface="Consolas"/>
              </a:rPr>
              <a:t># piped stdin</a:t>
            </a:r>
          </a:p>
        </p:txBody>
      </p:sp>
    </p:spTree>
    <p:extLst>
      <p:ext uri="{BB962C8B-B14F-4D97-AF65-F5344CB8AC3E}">
        <p14:creationId xmlns:p14="http://schemas.microsoft.com/office/powerpoint/2010/main" val="78361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D8852-5505-B95C-8AFC-32D8DEFD8381}"/>
            </a:ext>
          </a:extLst>
        </p:cNvPr>
        <p:cNvGrpSpPr/>
        <p:nvPr/>
      </p:nvGrpSpPr>
      <p:grpSpPr>
        <a:xfrm>
          <a:off x="0" y="0"/>
          <a:ext cx="0" cy="0"/>
          <a:chOff x="0" y="0"/>
          <a:chExt cx="0" cy="0"/>
        </a:xfrm>
      </p:grpSpPr>
      <p:sp>
        <p:nvSpPr>
          <p:cNvPr id="202" name="term3"/>
          <p:cNvSpPr/>
          <p:nvPr/>
        </p:nvSpPr>
        <p:spPr>
          <a:xfrm>
            <a:off x="1041400" y="4676384"/>
            <a:ext cx="7848600" cy="1079500"/>
          </a:xfrm>
          <a:prstGeom prst="roundRect">
            <a:avLst>
              <a:gd name="adj" fmla="val 8000"/>
            </a:avLst>
          </a:prstGeom>
          <a:solidFill>
            <a:srgbClr val="1F3A5F"/>
          </a:solidFill>
          <a:ln>
            <a:noFill/>
          </a:ln>
        </p:spPr>
        <p:txBody>
          <a:bodyPr/>
          <a:lstStyle/>
          <a:p>
            <a:endParaRPr/>
          </a:p>
        </p:txBody>
      </p:sp>
      <p:sp>
        <p:nvSpPr>
          <p:cNvPr id="201" name="term2"/>
          <p:cNvSpPr/>
          <p:nvPr/>
        </p:nvSpPr>
        <p:spPr>
          <a:xfrm>
            <a:off x="1041400" y="3175000"/>
            <a:ext cx="7848600" cy="1079500"/>
          </a:xfrm>
          <a:prstGeom prst="roundRect">
            <a:avLst>
              <a:gd name="adj" fmla="val 8000"/>
            </a:avLst>
          </a:prstGeom>
          <a:solidFill>
            <a:srgbClr val="1F3A5F"/>
          </a:solidFill>
          <a:ln>
            <a:noFill/>
          </a:ln>
        </p:spPr>
        <p:txBody>
          <a:bodyPr/>
          <a:lstStyle/>
          <a:p>
            <a:endParaRPr/>
          </a:p>
        </p:txBody>
      </p:sp>
      <p:sp>
        <p:nvSpPr>
          <p:cNvPr id="200" name="term1"/>
          <p:cNvSpPr/>
          <p:nvPr/>
        </p:nvSpPr>
        <p:spPr>
          <a:xfrm>
            <a:off x="1041400" y="1422400"/>
            <a:ext cx="7848600" cy="1524000"/>
          </a:xfrm>
          <a:prstGeom prst="roundRect">
            <a:avLst>
              <a:gd name="adj" fmla="val 6000"/>
            </a:avLst>
          </a:prstGeom>
          <a:solidFill>
            <a:srgbClr val="1F3A5F"/>
          </a:solidFill>
          <a:ln>
            <a:noFill/>
          </a:ln>
        </p:spPr>
        <p:txBody>
          <a:bodyPr/>
          <a:lstStyle/>
          <a:p>
            <a:endParaRPr/>
          </a:p>
        </p:txBody>
      </p:sp>
      <p:sp>
        <p:nvSpPr>
          <p:cNvPr id="2" name="TextBox 1">
            <a:extLst>
              <a:ext uri="{FF2B5EF4-FFF2-40B4-BE49-F238E27FC236}">
                <a16:creationId xmlns:a16="http://schemas.microsoft.com/office/drawing/2014/main" id="{4D066B0B-345E-83C0-F209-B4D45E449A88}"/>
              </a:ext>
            </a:extLst>
          </p:cNvPr>
          <p:cNvSpPr txBox="1"/>
          <p:nvPr/>
        </p:nvSpPr>
        <p:spPr>
          <a:xfrm>
            <a:off x="1041400" y="482600"/>
            <a:ext cx="4064000" cy="457200"/>
          </a:xfrm>
          <a:prstGeom prst="rect">
            <a:avLst/>
          </a:prstGeom>
          <a:noFill/>
        </p:spPr>
        <p:txBody>
          <a:bodyPr wrap="none" rtlCol="0">
            <a:spAutoFit/>
          </a:bodyPr>
          <a:lstStyle/>
          <a:p>
            <a:pPr algn="l"/>
            <a:r>
              <a:rPr lang="en-US" sz="2400" b="1" dirty="0">
                <a:solidFill>
                  <a:srgbClr val="1F3A5F"/>
                </a:solidFill>
                <a:latin typeface="Consolas"/>
              </a:rPr>
              <a:t>./query_staging.sh</a:t>
            </a:r>
          </a:p>
        </p:txBody>
      </p:sp>
      <p:grpSp>
        <p:nvGrpSpPr>
          <p:cNvPr id="14" name="Group 13">
            <a:extLst>
              <a:ext uri="{FF2B5EF4-FFF2-40B4-BE49-F238E27FC236}">
                <a16:creationId xmlns:a16="http://schemas.microsoft.com/office/drawing/2014/main" id="{DAE51A8C-4042-B411-AA67-94238E773146}"/>
              </a:ext>
            </a:extLst>
          </p:cNvPr>
          <p:cNvGrpSpPr/>
          <p:nvPr/>
        </p:nvGrpSpPr>
        <p:grpSpPr>
          <a:xfrm>
            <a:off x="4597400" y="482600"/>
            <a:ext cx="918266" cy="461665"/>
            <a:chOff x="9249844" y="2055101"/>
            <a:chExt cx="918266" cy="461665"/>
          </a:xfrm>
        </p:grpSpPr>
        <p:sp>
          <p:nvSpPr>
            <p:cNvPr id="15" name="Rounded Rectangle 14">
              <a:extLst>
                <a:ext uri="{FF2B5EF4-FFF2-40B4-BE49-F238E27FC236}">
                  <a16:creationId xmlns:a16="http://schemas.microsoft.com/office/drawing/2014/main" id="{7425CAA0-BE24-BFA1-2349-E56926E101F1}"/>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3259F07-C9D2-F935-B615-66CFDBFDCB59}"/>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8" name="Group 17">
            <a:extLst>
              <a:ext uri="{FF2B5EF4-FFF2-40B4-BE49-F238E27FC236}">
                <a16:creationId xmlns:a16="http://schemas.microsoft.com/office/drawing/2014/main" id="{77BBC27F-30E1-F893-3A1E-EEAD6BAA2D0F}"/>
              </a:ext>
            </a:extLst>
          </p:cNvPr>
          <p:cNvGrpSpPr/>
          <p:nvPr/>
        </p:nvGrpSpPr>
        <p:grpSpPr>
          <a:xfrm>
            <a:off x="9615015" y="1957835"/>
            <a:ext cx="1730731" cy="461665"/>
            <a:chOff x="3888023" y="2248422"/>
            <a:chExt cx="1730731" cy="461665"/>
          </a:xfrm>
        </p:grpSpPr>
        <p:sp>
          <p:nvSpPr>
            <p:cNvPr id="19" name="Rounded Rectangle 18">
              <a:extLst>
                <a:ext uri="{FF2B5EF4-FFF2-40B4-BE49-F238E27FC236}">
                  <a16:creationId xmlns:a16="http://schemas.microsoft.com/office/drawing/2014/main" id="{4E35D1F8-69FF-2C0E-1A9F-82A2923D7F66}"/>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7AE8B8C-4924-CE76-DF1D-5FE38D722307}"/>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1" name="Group 20">
            <a:extLst>
              <a:ext uri="{FF2B5EF4-FFF2-40B4-BE49-F238E27FC236}">
                <a16:creationId xmlns:a16="http://schemas.microsoft.com/office/drawing/2014/main" id="{E4522248-8A19-5236-047A-C7EE5C804D6E}"/>
              </a:ext>
            </a:extLst>
          </p:cNvPr>
          <p:cNvGrpSpPr/>
          <p:nvPr/>
        </p:nvGrpSpPr>
        <p:grpSpPr>
          <a:xfrm>
            <a:off x="9615015" y="3481835"/>
            <a:ext cx="1665284" cy="461665"/>
            <a:chOff x="6359523" y="2343503"/>
            <a:chExt cx="1665284" cy="461665"/>
          </a:xfrm>
        </p:grpSpPr>
        <p:sp>
          <p:nvSpPr>
            <p:cNvPr id="22" name="Rounded Rectangle 21">
              <a:extLst>
                <a:ext uri="{FF2B5EF4-FFF2-40B4-BE49-F238E27FC236}">
                  <a16:creationId xmlns:a16="http://schemas.microsoft.com/office/drawing/2014/main" id="{BF50936A-2D91-611E-79F0-91A86EE1A1AC}"/>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C9D8212A-1826-92B3-002F-89884DD1FF1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grpSp>
        <p:nvGrpSpPr>
          <p:cNvPr id="24" name="Group 23">
            <a:extLst>
              <a:ext uri="{FF2B5EF4-FFF2-40B4-BE49-F238E27FC236}">
                <a16:creationId xmlns:a16="http://schemas.microsoft.com/office/drawing/2014/main" id="{901038F4-0D7A-0771-62C1-F53A4ABFD8B7}"/>
              </a:ext>
            </a:extLst>
          </p:cNvPr>
          <p:cNvGrpSpPr/>
          <p:nvPr/>
        </p:nvGrpSpPr>
        <p:grpSpPr>
          <a:xfrm>
            <a:off x="9615015" y="4483100"/>
            <a:ext cx="1730731" cy="461665"/>
            <a:chOff x="3888023" y="2248422"/>
            <a:chExt cx="1730731" cy="461665"/>
          </a:xfrm>
        </p:grpSpPr>
        <p:sp>
          <p:nvSpPr>
            <p:cNvPr id="25" name="Rounded Rectangle 24">
              <a:extLst>
                <a:ext uri="{FF2B5EF4-FFF2-40B4-BE49-F238E27FC236}">
                  <a16:creationId xmlns:a16="http://schemas.microsoft.com/office/drawing/2014/main" id="{7F493B11-8508-9035-39FB-69BF13CAF419}"/>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A3D50D0-89DD-89F6-54B5-528ED3FF3AA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7" name="Group 26">
            <a:extLst>
              <a:ext uri="{FF2B5EF4-FFF2-40B4-BE49-F238E27FC236}">
                <a16:creationId xmlns:a16="http://schemas.microsoft.com/office/drawing/2014/main" id="{913DA574-00AC-EB8E-F733-D30FBE94AE0B}"/>
              </a:ext>
            </a:extLst>
          </p:cNvPr>
          <p:cNvGrpSpPr/>
          <p:nvPr/>
        </p:nvGrpSpPr>
        <p:grpSpPr>
          <a:xfrm>
            <a:off x="9615015" y="4982171"/>
            <a:ext cx="1665284" cy="461665"/>
            <a:chOff x="6359523" y="2343503"/>
            <a:chExt cx="1665284" cy="461665"/>
          </a:xfrm>
        </p:grpSpPr>
        <p:sp>
          <p:nvSpPr>
            <p:cNvPr id="28" name="Rounded Rectangle 27">
              <a:extLst>
                <a:ext uri="{FF2B5EF4-FFF2-40B4-BE49-F238E27FC236}">
                  <a16:creationId xmlns:a16="http://schemas.microsoft.com/office/drawing/2014/main" id="{345363AE-ABA7-48BB-24A8-D4566FEFDE2A}"/>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1C619E99-9F87-EA92-4812-9858E36DF39F}"/>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30" name="TextBox 29">
            <a:extLst>
              <a:ext uri="{FF2B5EF4-FFF2-40B4-BE49-F238E27FC236}">
                <a16:creationId xmlns:a16="http://schemas.microsoft.com/office/drawing/2014/main" id="{F23AF3E8-3A54-1968-ACD5-C102DBF783A5}"/>
              </a:ext>
            </a:extLst>
          </p:cNvPr>
          <p:cNvSpPr txBox="1"/>
          <p:nvPr/>
        </p:nvSpPr>
        <p:spPr>
          <a:xfrm>
            <a:off x="9192851" y="4979702"/>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31" name="TextBox 30">
            <a:extLst>
              <a:ext uri="{FF2B5EF4-FFF2-40B4-BE49-F238E27FC236}">
                <a16:creationId xmlns:a16="http://schemas.microsoft.com/office/drawing/2014/main" id="{3F2BF37E-124F-1159-D3EF-6832577A7342}"/>
              </a:ext>
            </a:extLst>
          </p:cNvPr>
          <p:cNvSpPr txBox="1"/>
          <p:nvPr/>
        </p:nvSpPr>
        <p:spPr>
          <a:xfrm>
            <a:off x="9208615" y="5545435"/>
            <a:ext cx="349776"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6" name="TextBox 5">
            <a:extLst>
              <a:ext uri="{FF2B5EF4-FFF2-40B4-BE49-F238E27FC236}">
                <a16:creationId xmlns:a16="http://schemas.microsoft.com/office/drawing/2014/main" id="{D2AD6481-B70D-6DA7-02A2-7552A7B8EDE7}"/>
              </a:ext>
            </a:extLst>
          </p:cNvPr>
          <p:cNvSpPr txBox="1"/>
          <p:nvPr/>
        </p:nvSpPr>
        <p:spPr>
          <a:xfrm>
            <a:off x="1270000" y="1574800"/>
            <a:ext cx="7391400" cy="12192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"select * from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DCE3EC"/>
                </a:solidFill>
                <a:latin typeface="Consolas"/>
              </a:rPr>
              <a:t>| Id | Key            | Value |</a:t>
            </a:r>
          </a:p>
          <a:p>
            <a:pPr algn="l">
              <a:lnSpc>
                <a:spcPts val="1750"/>
              </a:lnSpc>
              <a:buNone/>
            </a:pPr>
            <a:r>
              <a:rPr lang="en-US" sz="1400" dirty="0">
                <a:solidFill>
                  <a:srgbClr val="DCE3EC"/>
                </a:solidFill>
                <a:latin typeface="Consolas"/>
              </a:rPr>
              <a:t>| -- | -------------- | ----- |</a:t>
            </a:r>
          </a:p>
          <a:p>
            <a:pPr algn="l">
              <a:lnSpc>
                <a:spcPts val="1750"/>
              </a:lnSpc>
              <a:buNone/>
            </a:pPr>
            <a:r>
              <a:rPr lang="en-US" sz="1400" dirty="0">
                <a:solidFill>
                  <a:srgbClr val="DCE3EC"/>
                </a:solidFill>
                <a:latin typeface="Consolas"/>
              </a:rPr>
              <a:t>|  1 | schema_version |    25 |</a:t>
            </a:r>
          </a:p>
        </p:txBody>
      </p:sp>
      <p:sp>
        <p:nvSpPr>
          <p:cNvPr id="8" name="TextBox 7">
            <a:extLst>
              <a:ext uri="{FF2B5EF4-FFF2-40B4-BE49-F238E27FC236}">
                <a16:creationId xmlns:a16="http://schemas.microsoft.com/office/drawing/2014/main" id="{EB7C88FA-F313-7BBE-906F-32A650ED5E2D}"/>
              </a:ext>
            </a:extLst>
          </p:cNvPr>
          <p:cNvSpPr txBox="1"/>
          <p:nvPr/>
        </p:nvSpPr>
        <p:spPr>
          <a:xfrm>
            <a:off x="1270000" y="3327400"/>
            <a:ext cx="7391400" cy="7747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"select schem from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F7C7B4"/>
                </a:solidFill>
                <a:latin typeface="Consolas"/>
              </a:rPr>
              <a:t>Exception: Invalid column name 'schem'.</a:t>
            </a:r>
          </a:p>
        </p:txBody>
      </p:sp>
      <p:sp>
        <p:nvSpPr>
          <p:cNvPr id="3" name="TextBox 2">
            <a:extLst>
              <a:ext uri="{FF2B5EF4-FFF2-40B4-BE49-F238E27FC236}">
                <a16:creationId xmlns:a16="http://schemas.microsoft.com/office/drawing/2014/main" id="{F7B5400F-0F10-17F6-261D-0511BC3E3D9B}"/>
              </a:ext>
            </a:extLst>
          </p:cNvPr>
          <p:cNvSpPr txBox="1"/>
          <p:nvPr/>
        </p:nvSpPr>
        <p:spPr>
          <a:xfrm>
            <a:off x="1270000" y="4828784"/>
            <a:ext cx="7391400" cy="7747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"drop table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F7C7B4"/>
                </a:solidFill>
                <a:latin typeface="Consolas"/>
              </a:rPr>
              <a:t>Exception: Read-Only Queries Only</a:t>
            </a:r>
          </a:p>
        </p:txBody>
      </p:sp>
      <p:grpSp>
        <p:nvGrpSpPr>
          <p:cNvPr id="4" name="Group 3">
            <a:extLst>
              <a:ext uri="{FF2B5EF4-FFF2-40B4-BE49-F238E27FC236}">
                <a16:creationId xmlns:a16="http://schemas.microsoft.com/office/drawing/2014/main" id="{051106B6-01AD-4D9B-0420-81A133D7F473}"/>
              </a:ext>
            </a:extLst>
          </p:cNvPr>
          <p:cNvGrpSpPr/>
          <p:nvPr/>
        </p:nvGrpSpPr>
        <p:grpSpPr>
          <a:xfrm>
            <a:off x="9615015" y="5545435"/>
            <a:ext cx="1638300" cy="457200"/>
            <a:chOff x="7531100" y="5969000"/>
            <a:chExt cx="1638300" cy="457200"/>
          </a:xfrm>
        </p:grpSpPr>
        <p:sp>
          <p:nvSpPr>
            <p:cNvPr id="203" name="guidechip"/>
            <p:cNvSpPr/>
            <p:nvPr/>
          </p:nvSpPr>
          <p:spPr>
            <a:xfrm>
              <a:off x="7531100" y="5969000"/>
              <a:ext cx="1638300" cy="457200"/>
            </a:xfrm>
            <a:prstGeom prst="roundRect">
              <a:avLst>
                <a:gd name="adj" fmla="val 25000"/>
              </a:avLst>
            </a:prstGeom>
            <a:solidFill>
              <a:srgbClr val="FBE49B"/>
            </a:solidFill>
            <a:ln>
              <a:noFill/>
            </a:ln>
          </p:spPr>
          <p:txBody>
            <a:bodyPr/>
            <a:lstStyle/>
            <a:p>
              <a:endParaRPr/>
            </a:p>
          </p:txBody>
        </p:sp>
        <p:sp>
          <p:nvSpPr>
            <p:cNvPr id="32" name="TextBox 31">
              <a:extLst>
                <a:ext uri="{FF2B5EF4-FFF2-40B4-BE49-F238E27FC236}">
                  <a16:creationId xmlns:a16="http://schemas.microsoft.com/office/drawing/2014/main" id="{422B34A0-9708-C710-1407-FB04C8147A34}"/>
                </a:ext>
              </a:extLst>
            </p:cNvPr>
            <p:cNvSpPr txBox="1"/>
            <p:nvPr/>
          </p:nvSpPr>
          <p:spPr>
            <a:xfrm>
              <a:off x="7531100" y="5969000"/>
              <a:ext cx="1638300" cy="457200"/>
            </a:xfrm>
            <a:prstGeom prst="rect">
              <a:avLst/>
            </a:prstGeom>
            <a:noFill/>
            <a:ln>
              <a:noFill/>
            </a:ln>
          </p:spPr>
          <p:txBody>
            <a:bodyPr wrap="none" rtlCol="0">
              <a:spAutoFit/>
            </a:bodyPr>
            <a:lstStyle/>
            <a:p>
              <a:pPr algn="ctr"/>
              <a:r>
                <a:rPr lang="en-US" sz="2400" b="1" dirty="0">
                  <a:solidFill>
                    <a:srgbClr val="1F3A5F"/>
                  </a:solidFill>
                </a:rPr>
                <a:t>Guidance</a:t>
              </a:r>
            </a:p>
          </p:txBody>
        </p:sp>
      </p:grpSp>
      <p:cxnSp>
        <p:nvCxnSpPr>
          <p:cNvPr id="10" name="Straight Connector 9">
            <a:extLst>
              <a:ext uri="{FF2B5EF4-FFF2-40B4-BE49-F238E27FC236}">
                <a16:creationId xmlns:a16="http://schemas.microsoft.com/office/drawing/2014/main" id="{999C0A3C-A819-266F-999B-96CC4324B976}"/>
              </a:ext>
            </a:extLst>
          </p:cNvPr>
          <p:cNvCxnSpPr/>
          <p:nvPr/>
        </p:nvCxnSpPr>
        <p:spPr>
          <a:xfrm>
            <a:off x="9151434" y="5495874"/>
            <a:ext cx="234919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50309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400"/>
                                        <p:tgtEl>
                                          <p:spTgt spid="2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1"/>
                                        </p:tgtEl>
                                        <p:attrNameLst>
                                          <p:attrName>style.visibility</p:attrName>
                                        </p:attrNameLst>
                                      </p:cBhvr>
                                      <p:to>
                                        <p:strVal val="visible"/>
                                      </p:to>
                                    </p:set>
                                    <p:animEffect transition="in" filter="fade">
                                      <p:cBhvr>
                                        <p:cTn id="18" dur="400"/>
                                        <p:tgtEl>
                                          <p:spTgt spid="2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400"/>
                                        <p:tgtEl>
                                          <p:spTgt spid="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02"/>
                                        </p:tgtEl>
                                        <p:attrNameLst>
                                          <p:attrName>style.visibility</p:attrName>
                                        </p:attrNameLst>
                                      </p:cBhvr>
                                      <p:to>
                                        <p:strVal val="visible"/>
                                      </p:to>
                                    </p:set>
                                    <p:animEffect transition="in" filter="fade">
                                      <p:cBhvr>
                                        <p:cTn id="29" dur="400"/>
                                        <p:tgtEl>
                                          <p:spTgt spid="20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400"/>
                                        <p:tgtEl>
                                          <p:spTgt spid="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400"/>
                                        <p:tgtEl>
                                          <p:spTgt spid="2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400"/>
                                        <p:tgtEl>
                                          <p:spTgt spid="27"/>
                                        </p:tgtEl>
                                      </p:cBhvr>
                                    </p:animEffect>
                                  </p:childTnLst>
                                </p:cTn>
                              </p:par>
                              <p:par>
                                <p:cTn id="42" presetID="1" presetClass="entr" presetSubtype="0" fill="hold"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par>
                                <p:cTn id="47" presetID="1" presetClass="entr" presetSubtype="0" fill="hold" nodeType="withEffect">
                                  <p:stCondLst>
                                    <p:cond delay="0"/>
                                  </p:stCondLst>
                                  <p:childTnLst>
                                    <p:set>
                                      <p:cBhvr>
                                        <p:cTn id="4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p:bldP spid="201" grpId="0" animBg="1"/>
      <p:bldP spid="200" grpId="0" animBg="1"/>
      <p:bldP spid="18" grpId="0"/>
      <p:bldP spid="21" grpId="0"/>
      <p:bldP spid="24" grpId="0"/>
      <p:bldP spid="27" grpId="0"/>
      <p:bldP spid="30" grpId="0"/>
      <p:bldP spid="31" grpId="0"/>
      <p:bldP spid="6" grpId="0"/>
      <p:bldP spid="8" grpId="0"/>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2CF4B-06F4-E085-6CD3-AD1DEAD72434}"/>
            </a:ext>
          </a:extLst>
        </p:cNvPr>
        <p:cNvGrpSpPr/>
        <p:nvPr/>
      </p:nvGrpSpPr>
      <p:grpSpPr>
        <a:xfrm>
          <a:off x="0" y="0"/>
          <a:ext cx="0" cy="0"/>
          <a:chOff x="0" y="0"/>
          <a:chExt cx="0" cy="0"/>
        </a:xfrm>
      </p:grpSpPr>
      <p:sp>
        <p:nvSpPr>
          <p:cNvPr id="5" name="guidechip">
            <a:extLst>
              <a:ext uri="{FF2B5EF4-FFF2-40B4-BE49-F238E27FC236}">
                <a16:creationId xmlns:a16="http://schemas.microsoft.com/office/drawing/2014/main" id="{77862EF1-E6A4-C62C-888E-6E22659C6756}"/>
              </a:ext>
            </a:extLst>
          </p:cNvPr>
          <p:cNvSpPr/>
          <p:nvPr/>
        </p:nvSpPr>
        <p:spPr>
          <a:xfrm>
            <a:off x="1724289" y="2421364"/>
            <a:ext cx="4572433" cy="457200"/>
          </a:xfrm>
          <a:prstGeom prst="roundRect">
            <a:avLst>
              <a:gd name="adj" fmla="val 25000"/>
            </a:avLst>
          </a:prstGeom>
          <a:solidFill>
            <a:srgbClr val="FBE49B"/>
          </a:solidFill>
          <a:ln>
            <a:noFill/>
          </a:ln>
        </p:spPr>
        <p:txBody>
          <a:bodyPr/>
          <a:lstStyle/>
          <a:p>
            <a:endParaRPr/>
          </a:p>
        </p:txBody>
      </p:sp>
      <p:sp>
        <p:nvSpPr>
          <p:cNvPr id="51" name="term"/>
          <p:cNvSpPr/>
          <p:nvPr/>
        </p:nvSpPr>
        <p:spPr>
          <a:xfrm>
            <a:off x="1041400" y="3810000"/>
            <a:ext cx="4064000" cy="1371600"/>
          </a:xfrm>
          <a:prstGeom prst="roundRect">
            <a:avLst>
              <a:gd name="adj" fmla="val 9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650E6FFF-CBE8-39BA-F245-F6AF0AAC372B}"/>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01A3910F-3080-C3C6-C9CB-FCFA265CDAD7}"/>
              </a:ext>
            </a:extLst>
          </p:cNvPr>
          <p:cNvSpPr txBox="1"/>
          <p:nvPr/>
        </p:nvSpPr>
        <p:spPr>
          <a:xfrm>
            <a:off x="1041400" y="1778000"/>
            <a:ext cx="9652000" cy="1572803"/>
          </a:xfrm>
          <a:prstGeom prst="rect">
            <a:avLst/>
          </a:prstGeom>
          <a:noFill/>
        </p:spPr>
        <p:txBody>
          <a:bodyPr wrap="square">
            <a:spAutoFit/>
          </a:bodyPr>
          <a:lstStyle/>
          <a:p>
            <a:pPr algn="l">
              <a:lnSpc>
                <a:spcPts val="4000"/>
              </a:lnSpc>
              <a:buNone/>
            </a:pPr>
            <a:r>
              <a:rPr lang="en-US" sz="2000" b="1" dirty="0">
                <a:solidFill>
                  <a:srgbClr val="5A7D5A"/>
                </a:solidFill>
                <a:latin typeface="Consolas"/>
              </a:rPr>
              <a:t>[X]  </a:t>
            </a:r>
            <a:r>
              <a:rPr lang="en-US" sz="2000" dirty="0">
                <a:solidFill>
                  <a:srgbClr val="1F3A5F"/>
                </a:solidFill>
              </a:rPr>
              <a:t>AI can’t see the Database</a:t>
            </a:r>
          </a:p>
          <a:p>
            <a:pPr algn="l">
              <a:lnSpc>
                <a:spcPts val="4000"/>
              </a:lnSpc>
              <a:buNone/>
            </a:pPr>
            <a:r>
              <a:rPr lang="en-US" sz="2000" b="1" dirty="0">
                <a:solidFill>
                  <a:srgbClr val="415A77"/>
                </a:solidFill>
                <a:latin typeface="Consolas"/>
              </a:rPr>
              <a:t>[ ]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3" name="TextBox 2">
            <a:extLst>
              <a:ext uri="{FF2B5EF4-FFF2-40B4-BE49-F238E27FC236}">
                <a16:creationId xmlns:a16="http://schemas.microsoft.com/office/drawing/2014/main" id="{972E2042-E463-952A-115E-84B9E9D53342}"/>
              </a:ext>
            </a:extLst>
          </p:cNvPr>
          <p:cNvSpPr txBox="1"/>
          <p:nvPr/>
        </p:nvSpPr>
        <p:spPr>
          <a:xfrm>
            <a:off x="1295400" y="4038600"/>
            <a:ext cx="3556000" cy="741806"/>
          </a:xfrm>
          <a:prstGeom prst="rect">
            <a:avLst/>
          </a:prstGeom>
          <a:noFill/>
        </p:spPr>
        <p:txBody>
          <a:bodyPr wrap="square">
            <a:spAutoFit/>
          </a:bodyPr>
          <a:lstStyle/>
          <a:p>
            <a:pPr algn="l">
              <a:lnSpc>
                <a:spcPts val="2600"/>
              </a:lnSpc>
              <a:buNone/>
            </a:pPr>
            <a:r>
              <a:rPr lang="en-US" sz="2000" dirty="0">
                <a:solidFill>
                  <a:srgbClr val="FFFFFF"/>
                </a:solidFill>
                <a:latin typeface="Consolas"/>
              </a:rPr>
              <a:t>"US "</a:t>
            </a:r>
          </a:p>
          <a:p>
            <a:pPr algn="l">
              <a:lnSpc>
                <a:spcPts val="2600"/>
              </a:lnSpc>
              <a:buNone/>
            </a:pPr>
            <a:r>
              <a:rPr lang="en-US" sz="2000" dirty="0">
                <a:solidFill>
                  <a:srgbClr val="FFFFFF"/>
                </a:solidFill>
                <a:latin typeface="Consolas"/>
              </a:rPr>
              <a:t>"CA "</a:t>
            </a:r>
          </a:p>
        </p:txBody>
      </p:sp>
    </p:spTree>
    <p:extLst>
      <p:ext uri="{BB962C8B-B14F-4D97-AF65-F5344CB8AC3E}">
        <p14:creationId xmlns:p14="http://schemas.microsoft.com/office/powerpoint/2010/main" val="13519735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card2"/>
          <p:cNvSpPr/>
          <p:nvPr/>
        </p:nvSpPr>
        <p:spPr>
          <a:xfrm>
            <a:off x="6273800" y="3175000"/>
            <a:ext cx="4876800" cy="2159000"/>
          </a:xfrm>
          <a:prstGeom prst="roundRect">
            <a:avLst>
              <a:gd name="adj" fmla="val 6000"/>
            </a:avLst>
          </a:prstGeom>
          <a:solidFill>
            <a:srgbClr val="415A77"/>
          </a:solidFill>
          <a:ln>
            <a:noFill/>
          </a:ln>
        </p:spPr>
        <p:txBody>
          <a:bodyPr wrap="square" lIns="0" tIns="0" rIns="0" bIns="0"/>
          <a:lstStyle/>
          <a:p>
            <a:endParaRPr/>
          </a:p>
        </p:txBody>
      </p:sp>
      <p:sp>
        <p:nvSpPr>
          <p:cNvPr id="51" name="card1"/>
          <p:cNvSpPr/>
          <p:nvPr/>
        </p:nvSpPr>
        <p:spPr>
          <a:xfrm>
            <a:off x="1041400" y="3175000"/>
            <a:ext cx="4876800" cy="2159000"/>
          </a:xfrm>
          <a:prstGeom prst="roundRect">
            <a:avLst>
              <a:gd name="adj" fmla="val 6000"/>
            </a:avLst>
          </a:prstGeom>
          <a:solidFill>
            <a:srgbClr val="415A77"/>
          </a:solidFill>
          <a:ln>
            <a:noFill/>
          </a:ln>
        </p:spPr>
        <p:txBody>
          <a:bodyPr wrap="square" lIns="0" tIns="0" rIns="0" bIns="0"/>
          <a:lstStyle/>
          <a:p>
            <a:endParaRPr/>
          </a:p>
        </p:txBody>
      </p:sp>
      <p:sp>
        <p:nvSpPr>
          <p:cNvPr id="50" name="chip"/>
          <p:cNvSpPr/>
          <p:nvPr/>
        </p:nvSpPr>
        <p:spPr>
          <a:xfrm>
            <a:off x="4953000" y="2362200"/>
            <a:ext cx="2286000" cy="558800"/>
          </a:xfrm>
          <a:prstGeom prst="roundRect">
            <a:avLst>
              <a:gd name="adj" fmla="val 25000"/>
            </a:avLst>
          </a:prstGeom>
          <a:solidFill>
            <a:srgbClr val="C7E8AE"/>
          </a:solidFill>
          <a:ln>
            <a:noFill/>
          </a:ln>
        </p:spPr>
        <p:txBody>
          <a:bodyPr wrap="square" lIns="0" tIns="0" rIns="0" bIns="0"/>
          <a:lstStyle/>
          <a:p>
            <a:endParaRPr/>
          </a:p>
        </p:txBody>
      </p:sp>
      <p:sp>
        <p:nvSpPr>
          <p:cNvPr id="5" name="TextBox 4">
            <a:extLst>
              <a:ext uri="{FF2B5EF4-FFF2-40B4-BE49-F238E27FC236}">
                <a16:creationId xmlns:a16="http://schemas.microsoft.com/office/drawing/2014/main" id="{C50D9D76-927E-278E-BCCD-DE5C5CD19CD0}"/>
              </a:ext>
            </a:extLst>
          </p:cNvPr>
          <p:cNvSpPr txBox="1"/>
          <p:nvPr/>
        </p:nvSpPr>
        <p:spPr>
          <a:xfrm>
            <a:off x="5359067" y="2489200"/>
            <a:ext cx="1473865" cy="400110"/>
          </a:xfrm>
          <a:prstGeom prst="rect">
            <a:avLst/>
          </a:prstGeom>
          <a:noFill/>
        </p:spPr>
        <p:txBody>
          <a:bodyPr wrap="none" rtlCol="0">
            <a:spAutoFit/>
          </a:bodyPr>
          <a:lstStyle/>
          <a:p>
            <a:pPr algn="ctr">
              <a:buNone/>
            </a:pPr>
            <a:r>
              <a:rPr lang="en-US" sz="2000" b="1" dirty="0">
                <a:solidFill>
                  <a:srgbClr val="1F3A5F"/>
                </a:solidFill>
              </a:rPr>
              <a:t>Knowledge</a:t>
            </a:r>
          </a:p>
        </p:txBody>
      </p:sp>
      <p:sp>
        <p:nvSpPr>
          <p:cNvPr id="6" name="TextBox 5">
            <a:extLst>
              <a:ext uri="{FF2B5EF4-FFF2-40B4-BE49-F238E27FC236}">
                <a16:creationId xmlns:a16="http://schemas.microsoft.com/office/drawing/2014/main" id="{41DE7030-C62B-BF94-9A85-4307C89FD214}"/>
              </a:ext>
            </a:extLst>
          </p:cNvPr>
          <p:cNvSpPr txBox="1"/>
          <p:nvPr/>
        </p:nvSpPr>
        <p:spPr>
          <a:xfrm>
            <a:off x="1447800" y="3175000"/>
            <a:ext cx="4064000" cy="2159000"/>
          </a:xfrm>
          <a:prstGeom prst="rect">
            <a:avLst/>
          </a:prstGeom>
          <a:noFill/>
        </p:spPr>
        <p:txBody>
          <a:bodyPr wrap="square" rtlCol="0" anchor="ctr" anchorCtr="0">
            <a:noAutofit/>
          </a:bodyPr>
          <a:lstStyle/>
          <a:p>
            <a:pPr algn="l">
              <a:lnSpc>
                <a:spcPts val="2600"/>
              </a:lnSpc>
              <a:buNone/>
            </a:pPr>
            <a:r>
              <a:rPr lang="en-US" sz="2000" b="1" dirty="0">
                <a:solidFill>
                  <a:srgbClr val="FFFFFF"/>
                </a:solidFill>
              </a:rPr>
              <a:t>What schema version is the Database?</a:t>
            </a:r>
          </a:p>
        </p:txBody>
      </p:sp>
      <p:sp>
        <p:nvSpPr>
          <p:cNvPr id="7" name="TextBox 6">
            <a:extLst>
              <a:ext uri="{FF2B5EF4-FFF2-40B4-BE49-F238E27FC236}">
                <a16:creationId xmlns:a16="http://schemas.microsoft.com/office/drawing/2014/main" id="{EBEE2191-DF29-677C-9C8B-C8DF10416E47}"/>
              </a:ext>
            </a:extLst>
          </p:cNvPr>
          <p:cNvSpPr txBox="1"/>
          <p:nvPr/>
        </p:nvSpPr>
        <p:spPr>
          <a:xfrm>
            <a:off x="6680200" y="3175000"/>
            <a:ext cx="4064000" cy="2159000"/>
          </a:xfrm>
          <a:prstGeom prst="rect">
            <a:avLst/>
          </a:prstGeom>
          <a:noFill/>
        </p:spPr>
        <p:txBody>
          <a:bodyPr wrap="square" rtlCol="0" anchor="ctr" anchorCtr="0">
            <a:noAutofit/>
          </a:bodyPr>
          <a:lstStyle/>
          <a:p>
            <a:pPr algn="l">
              <a:lnSpc>
                <a:spcPts val="2600"/>
              </a:lnSpc>
              <a:buNone/>
            </a:pPr>
            <a:r>
              <a:rPr lang="en-US" sz="2000" b="1" dirty="0">
                <a:solidFill>
                  <a:srgbClr val="FFFFFF"/>
                </a:solidFill>
              </a:rPr>
              <a:t>How do I update it?</a:t>
            </a:r>
          </a:p>
        </p:txBody>
      </p:sp>
    </p:spTree>
    <p:extLst>
      <p:ext uri="{BB962C8B-B14F-4D97-AF65-F5344CB8AC3E}">
        <p14:creationId xmlns:p14="http://schemas.microsoft.com/office/powerpoint/2010/main" val="14504130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A2D4015-04E0-D325-7CE5-9A2E1EC15845}"/>
              </a:ext>
            </a:extLst>
          </p:cNvPr>
          <p:cNvGraphicFramePr>
            <a:graphicFrameLocks noGrp="1"/>
          </p:cNvGraphicFramePr>
          <p:nvPr/>
        </p:nvGraphicFramePr>
        <p:xfrm>
          <a:off x="1041400" y="2057400"/>
          <a:ext cx="5842000" cy="1117600"/>
        </p:xfrm>
        <a:graphic>
          <a:graphicData uri="http://schemas.openxmlformats.org/drawingml/2006/table">
            <a:tbl>
              <a:tblPr/>
              <a:tblGrid>
                <a:gridCol w="647339">
                  <a:extLst>
                    <a:ext uri="{9D8B030D-6E8A-4147-A177-3AD203B41FA5}">
                      <a16:colId xmlns:a16="http://schemas.microsoft.com/office/drawing/2014/main" val="931990748"/>
                    </a:ext>
                  </a:extLst>
                </a:gridCol>
                <a:gridCol w="3279869">
                  <a:extLst>
                    <a:ext uri="{9D8B030D-6E8A-4147-A177-3AD203B41FA5}">
                      <a16:colId xmlns:a16="http://schemas.microsoft.com/office/drawing/2014/main" val="1265518354"/>
                    </a:ext>
                  </a:extLst>
                </a:gridCol>
                <a:gridCol w="1914792">
                  <a:extLst>
                    <a:ext uri="{9D8B030D-6E8A-4147-A177-3AD203B41FA5}">
                      <a16:colId xmlns:a16="http://schemas.microsoft.com/office/drawing/2014/main" val="3195642406"/>
                    </a:ext>
                  </a:extLst>
                </a:gridCol>
              </a:tblGrid>
              <a:tr h="558800">
                <a:tc>
                  <a:txBody>
                    <a:bodyPr/>
                    <a:lstStyle/>
                    <a:p>
                      <a:pPr algn="l">
                        <a:buNone/>
                      </a:pPr>
                      <a:r>
                        <a:rPr lang="en-US" sz="1600" b="1" i="0">
                          <a:solidFill>
                            <a:srgbClr val="FFFFFF"/>
                          </a:solidFill>
                          <a:effectLst/>
                          <a:latin typeface="-apple-system"/>
                        </a:rPr>
                        <a:t>Id</a:t>
                      </a:r>
                    </a:p>
                  </a:txBody>
                  <a:tcPr marL="95250" marR="95250" marT="47625" marB="47625" anchor="ctr">
                    <a:lnL>
                      <a:noFill/>
                    </a:lnL>
                    <a:lnR>
                      <a:noFill/>
                    </a:lnR>
                    <a:lnT>
                      <a:noFill/>
                    </a:lnT>
                    <a:lnB>
                      <a:noFill/>
                    </a:lnB>
                    <a:solidFill>
                      <a:srgbClr val="1F3A5F"/>
                    </a:solidFill>
                  </a:tcPr>
                </a:tc>
                <a:tc>
                  <a:txBody>
                    <a:bodyPr/>
                    <a:lstStyle/>
                    <a:p>
                      <a:pPr algn="l">
                        <a:buNone/>
                      </a:pPr>
                      <a:r>
                        <a:rPr lang="en-US" sz="1600" b="1" i="0" dirty="0">
                          <a:solidFill>
                            <a:srgbClr val="FFFFFF"/>
                          </a:solidFill>
                          <a:effectLst/>
                          <a:latin typeface="-apple-system"/>
                        </a:rPr>
                        <a:t>Key</a:t>
                      </a:r>
                    </a:p>
                  </a:txBody>
                  <a:tcPr marL="95250" marR="95250" marT="47625" marB="47625" anchor="ctr">
                    <a:lnL>
                      <a:noFill/>
                    </a:lnL>
                    <a:lnR>
                      <a:noFill/>
                    </a:lnR>
                    <a:lnT>
                      <a:noFill/>
                    </a:lnT>
                    <a:lnB>
                      <a:noFill/>
                    </a:lnB>
                    <a:solidFill>
                      <a:srgbClr val="1F3A5F"/>
                    </a:solidFill>
                  </a:tcPr>
                </a:tc>
                <a:tc>
                  <a:txBody>
                    <a:bodyPr/>
                    <a:lstStyle/>
                    <a:p>
                      <a:pPr algn="l">
                        <a:buNone/>
                      </a:pPr>
                      <a:r>
                        <a:rPr lang="en-US" sz="1600" b="1" i="0" dirty="0">
                          <a:solidFill>
                            <a:srgbClr val="FFFFFF"/>
                          </a:solidFill>
                          <a:effectLst/>
                          <a:latin typeface="-apple-system"/>
                        </a:rPr>
                        <a:t>Value</a:t>
                      </a:r>
                    </a:p>
                  </a:txBody>
                  <a:tcPr marL="95250" marR="95250" marT="47625" marB="47625" anchor="ctr">
                    <a:lnL>
                      <a:noFill/>
                    </a:lnL>
                    <a:lnR>
                      <a:noFill/>
                    </a:lnR>
                    <a:lnT>
                      <a:noFill/>
                    </a:lnT>
                    <a:lnB>
                      <a:noFill/>
                    </a:lnB>
                    <a:solidFill>
                      <a:srgbClr val="1F3A5F"/>
                    </a:solidFill>
                  </a:tcPr>
                </a:tc>
                <a:extLst>
                  <a:ext uri="{0D108BD9-81ED-4DB2-BD59-A6C34878D82A}">
                    <a16:rowId xmlns:a16="http://schemas.microsoft.com/office/drawing/2014/main" val="3791897744"/>
                  </a:ext>
                </a:extLst>
              </a:tr>
              <a:tr h="558800">
                <a:tc>
                  <a:txBody>
                    <a:bodyPr/>
                    <a:lstStyle/>
                    <a:p>
                      <a:pPr algn="l">
                        <a:buNone/>
                      </a:pPr>
                      <a:r>
                        <a:rPr lang="en-US" sz="1600" b="0" i="0">
                          <a:solidFill>
                            <a:srgbClr val="1F3A5F"/>
                          </a:solidFill>
                          <a:effectLst/>
                          <a:latin typeface="-apple-system"/>
                        </a:rPr>
                        <a:t>1</a:t>
                      </a:r>
                    </a:p>
                  </a:txBody>
                  <a:tcPr marL="95250" marR="95250" marT="47625" marB="47625" anchor="ctr">
                    <a:lnL>
                      <a:noFill/>
                    </a:lnL>
                    <a:lnR>
                      <a:noFill/>
                    </a:lnR>
                    <a:lnT>
                      <a:noFill/>
                    </a:lnT>
                    <a:lnB>
                      <a:noFill/>
                    </a:lnB>
                    <a:solidFill>
                      <a:srgbClr val="FFFFFF"/>
                    </a:solidFill>
                  </a:tcPr>
                </a:tc>
                <a:tc>
                  <a:txBody>
                    <a:bodyPr/>
                    <a:lstStyle/>
                    <a:p>
                      <a:pPr algn="l">
                        <a:buNone/>
                      </a:pPr>
                      <a:r>
                        <a:rPr lang="en-US" sz="1600" b="0" i="0" dirty="0" err="1">
                          <a:solidFill>
                            <a:srgbClr val="1F3A5F"/>
                          </a:solidFill>
                          <a:effectLst/>
                          <a:latin typeface="-apple-system"/>
                        </a:rPr>
                        <a:t>schema_version</a:t>
                      </a:r>
                      <a:endParaRPr lang="en-US" sz="1600" b="0" i="0" dirty="0">
                        <a:solidFill>
                          <a:srgbClr val="1F3A5F"/>
                        </a:solidFill>
                        <a:effectLst/>
                        <a:latin typeface="-apple-system"/>
                      </a:endParaRPr>
                    </a:p>
                  </a:txBody>
                  <a:tcPr marL="95250" marR="95250" marT="47625" marB="47625" anchor="ctr">
                    <a:lnL>
                      <a:noFill/>
                    </a:lnL>
                    <a:lnR>
                      <a:noFill/>
                    </a:lnR>
                    <a:lnT>
                      <a:noFill/>
                    </a:lnT>
                    <a:lnB>
                      <a:noFill/>
                    </a:lnB>
                    <a:solidFill>
                      <a:srgbClr val="FFFFFF"/>
                    </a:solidFill>
                  </a:tcPr>
                </a:tc>
                <a:tc>
                  <a:txBody>
                    <a:bodyPr/>
                    <a:lstStyle/>
                    <a:p>
                      <a:pPr algn="l">
                        <a:buNone/>
                      </a:pPr>
                      <a:r>
                        <a:rPr lang="en-US" sz="1600" b="0" i="0" dirty="0">
                          <a:solidFill>
                            <a:srgbClr val="1F3A5F"/>
                          </a:solidFill>
                          <a:effectLst/>
                          <a:latin typeface="-apple-system"/>
                        </a:rPr>
                        <a:t>1</a:t>
                      </a:r>
                    </a:p>
                  </a:txBody>
                  <a:tcPr marL="95250" marR="95250" marT="47625" marB="47625" anchor="ctr">
                    <a:lnL>
                      <a:noFill/>
                    </a:lnL>
                    <a:lnR>
                      <a:noFill/>
                    </a:lnR>
                    <a:lnT>
                      <a:noFill/>
                    </a:lnT>
                    <a:lnB>
                      <a:noFill/>
                    </a:lnB>
                    <a:solidFill>
                      <a:srgbClr val="FFFFFF"/>
                    </a:solidFill>
                  </a:tcPr>
                </a:tc>
                <a:extLst>
                  <a:ext uri="{0D108BD9-81ED-4DB2-BD59-A6C34878D82A}">
                    <a16:rowId xmlns:a16="http://schemas.microsoft.com/office/drawing/2014/main" val="423899131"/>
                  </a:ext>
                </a:extLst>
              </a:tr>
            </a:tbl>
          </a:graphicData>
        </a:graphic>
      </p:graphicFrame>
      <p:sp>
        <p:nvSpPr>
          <p:cNvPr id="4" name="TextBox 3">
            <a:extLst>
              <a:ext uri="{FF2B5EF4-FFF2-40B4-BE49-F238E27FC236}">
                <a16:creationId xmlns:a16="http://schemas.microsoft.com/office/drawing/2014/main" id="{A040FF86-E787-73B2-FFE2-6DB8F8A2D65E}"/>
              </a:ext>
            </a:extLst>
          </p:cNvPr>
          <p:cNvSpPr txBox="1"/>
          <p:nvPr/>
        </p:nvSpPr>
        <p:spPr>
          <a:xfrm>
            <a:off x="1041400" y="1498600"/>
            <a:ext cx="6350000" cy="369332"/>
          </a:xfrm>
          <a:prstGeom prst="rect">
            <a:avLst/>
          </a:prstGeom>
          <a:noFill/>
        </p:spPr>
        <p:txBody>
          <a:bodyPr wrap="square">
            <a:spAutoFit/>
          </a:bodyPr>
          <a:lstStyle/>
          <a:p>
            <a:pPr algn="l">
              <a:buNone/>
            </a:pPr>
            <a:r>
              <a:rPr lang="en-US" sz="1800" b="1" dirty="0">
                <a:solidFill>
                  <a:srgbClr val="415A77"/>
                </a:solidFill>
                <a:latin typeface="Consolas"/>
              </a:rPr>
              <a:t>dbo.MetaInformation</a:t>
            </a:r>
          </a:p>
        </p:txBody>
      </p:sp>
      <p:sp>
        <p:nvSpPr>
          <p:cNvPr id="5" name="TextBox 4">
            <a:extLst>
              <a:ext uri="{FF2B5EF4-FFF2-40B4-BE49-F238E27FC236}">
                <a16:creationId xmlns:a16="http://schemas.microsoft.com/office/drawing/2014/main" id="{82F43B39-F505-379C-9853-B2FD0E41F759}"/>
              </a:ext>
            </a:extLst>
          </p:cNvPr>
          <p:cNvSpPr txBox="1"/>
          <p:nvPr/>
        </p:nvSpPr>
        <p:spPr>
          <a:xfrm>
            <a:off x="1041400" y="508000"/>
            <a:ext cx="4397038" cy="461665"/>
          </a:xfrm>
          <a:prstGeom prst="rect">
            <a:avLst/>
          </a:prstGeom>
          <a:noFill/>
        </p:spPr>
        <p:txBody>
          <a:bodyPr wrap="none" rtlCol="0">
            <a:spAutoFit/>
          </a:bodyPr>
          <a:lstStyle/>
          <a:p>
            <a:pPr algn="l">
              <a:buNone/>
            </a:pPr>
            <a:r>
              <a:rPr lang="en-US" sz="2400" b="1" dirty="0">
                <a:solidFill>
                  <a:srgbClr val="1F3A5F"/>
                </a:solidFill>
              </a:rPr>
              <a:t>What version is the Database?</a:t>
            </a:r>
          </a:p>
        </p:txBody>
      </p:sp>
      <p:grpSp>
        <p:nvGrpSpPr>
          <p:cNvPr id="6" name="Group 5">
            <a:extLst>
              <a:ext uri="{FF2B5EF4-FFF2-40B4-BE49-F238E27FC236}">
                <a16:creationId xmlns:a16="http://schemas.microsoft.com/office/drawing/2014/main" id="{6B117527-C7F7-B4AF-98C4-7E43D05529DC}"/>
              </a:ext>
            </a:extLst>
          </p:cNvPr>
          <p:cNvGrpSpPr/>
          <p:nvPr/>
        </p:nvGrpSpPr>
        <p:grpSpPr>
          <a:xfrm>
            <a:off x="9419869" y="2057400"/>
            <a:ext cx="1730731" cy="461665"/>
            <a:chOff x="3888023" y="2248422"/>
            <a:chExt cx="1730731" cy="461665"/>
          </a:xfrm>
        </p:grpSpPr>
        <p:sp>
          <p:nvSpPr>
            <p:cNvPr id="7" name="Rounded Rectangle 6">
              <a:extLst>
                <a:ext uri="{FF2B5EF4-FFF2-40B4-BE49-F238E27FC236}">
                  <a16:creationId xmlns:a16="http://schemas.microsoft.com/office/drawing/2014/main" id="{AB810110-4DF3-AD8E-ECF3-DB303D07141F}"/>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E8BD93-057A-6E1C-F768-94AB7059C6BF}"/>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0" name="Group 9">
            <a:extLst>
              <a:ext uri="{FF2B5EF4-FFF2-40B4-BE49-F238E27FC236}">
                <a16:creationId xmlns:a16="http://schemas.microsoft.com/office/drawing/2014/main" id="{75B414FD-DAB1-1616-9580-14DC55774556}"/>
              </a:ext>
            </a:extLst>
          </p:cNvPr>
          <p:cNvGrpSpPr/>
          <p:nvPr/>
        </p:nvGrpSpPr>
        <p:grpSpPr>
          <a:xfrm>
            <a:off x="10232334" y="2667000"/>
            <a:ext cx="918266" cy="461665"/>
            <a:chOff x="9249844" y="2055101"/>
            <a:chExt cx="918266" cy="461665"/>
          </a:xfrm>
        </p:grpSpPr>
        <p:sp>
          <p:nvSpPr>
            <p:cNvPr id="11" name="Rounded Rectangle 10">
              <a:extLst>
                <a:ext uri="{FF2B5EF4-FFF2-40B4-BE49-F238E27FC236}">
                  <a16:creationId xmlns:a16="http://schemas.microsoft.com/office/drawing/2014/main" id="{84E18675-C112-FB91-9CE9-B7FDF50D1728}"/>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A47141A-8BFD-32DC-AAB2-F691BF39BFF9}"/>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
        <p:nvSpPr>
          <p:cNvPr id="9" name="TextBox 8">
            <a:extLst>
              <a:ext uri="{FF2B5EF4-FFF2-40B4-BE49-F238E27FC236}">
                <a16:creationId xmlns:a16="http://schemas.microsoft.com/office/drawing/2014/main" id="{F8C43631-1CA3-4226-A979-8581A831A777}"/>
              </a:ext>
            </a:extLst>
          </p:cNvPr>
          <p:cNvSpPr txBox="1"/>
          <p:nvPr/>
        </p:nvSpPr>
        <p:spPr>
          <a:xfrm>
            <a:off x="915444" y="4021900"/>
            <a:ext cx="6061553" cy="2191241"/>
          </a:xfrm>
          <a:prstGeom prst="rect">
            <a:avLst/>
          </a:prstGeom>
          <a:noFill/>
        </p:spPr>
        <p:txBody>
          <a:bodyPr wrap="square">
            <a:spAutoFit/>
          </a:bodyPr>
          <a:lstStyle/>
          <a:p>
            <a:pPr>
              <a:lnSpc>
                <a:spcPts val="1800"/>
              </a:lnSpc>
              <a:buNone/>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1</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2</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3</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4</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5</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6</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7</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8</a:t>
            </a:r>
            <a:r>
              <a:rPr lang="en-US" sz="2400" dirty="0">
                <a:solidFill>
                  <a:schemeClr val="bg1">
                    <a:lumMod val="50000"/>
                  </a:schemeClr>
                </a:solidFill>
                <a:latin typeface="Consolas"/>
                <a:cs typeface="Consolas"/>
              </a:rPr>
              <a:t>.sql</a:t>
            </a:r>
          </a:p>
          <a:p>
            <a:pPr>
              <a:lnSpc>
                <a:spcPts val="1800"/>
              </a:lnSpc>
              <a:buNone/>
            </a:pPr>
            <a:endParaRPr lang="en-US" sz="2400" dirty="0">
              <a:solidFill>
                <a:schemeClr val="bg1">
                  <a:lumMod val="50000"/>
                </a:schemeClr>
              </a:solidFill>
              <a:latin typeface="Consolas"/>
              <a:cs typeface="Consolas"/>
            </a:endParaRPr>
          </a:p>
        </p:txBody>
      </p:sp>
    </p:spTree>
    <p:extLst>
      <p:ext uri="{BB962C8B-B14F-4D97-AF65-F5344CB8AC3E}">
        <p14:creationId xmlns:p14="http://schemas.microsoft.com/office/powerpoint/2010/main" val="72823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docpanel"/>
          <p:cNvSpPr/>
          <p:nvPr/>
        </p:nvSpPr>
        <p:spPr>
          <a:xfrm>
            <a:off x="1041400" y="1498600"/>
            <a:ext cx="10109200" cy="5003800"/>
          </a:xfrm>
          <a:prstGeom prst="roundRect">
            <a:avLst>
              <a:gd name="adj" fmla="val 4000"/>
            </a:avLst>
          </a:prstGeom>
          <a:solidFill>
            <a:srgbClr val="F7F9F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716F77DD-7A64-1A3C-45EA-40C875C50CA9}"/>
              </a:ext>
            </a:extLst>
          </p:cNvPr>
          <p:cNvSpPr txBox="1"/>
          <p:nvPr/>
        </p:nvSpPr>
        <p:spPr>
          <a:xfrm>
            <a:off x="1041400" y="381000"/>
            <a:ext cx="6858000" cy="406400"/>
          </a:xfrm>
          <a:prstGeom prst="rect">
            <a:avLst/>
          </a:prstGeom>
          <a:noFill/>
        </p:spPr>
        <p:txBody>
          <a:bodyPr wrap="square">
            <a:spAutoFit/>
          </a:bodyPr>
          <a:lstStyle/>
          <a:p>
            <a:pPr algn="l">
              <a:buNone/>
            </a:pPr>
            <a:r>
              <a:rPr lang="en-US" sz="2000" b="1" dirty="0">
                <a:solidFill>
                  <a:srgbClr val="1F3A5F"/>
                </a:solidFill>
                <a:latin typeface="Consolas"/>
              </a:rPr>
              <a:t>update-database-schema</a:t>
            </a:r>
            <a:r>
              <a:rPr lang="en-US" sz="2000" b="1" dirty="0">
                <a:solidFill>
                  <a:srgbClr val="6B7280"/>
                </a:solidFill>
                <a:latin typeface="Consolas"/>
              </a:rPr>
              <a:t>.process.md</a:t>
            </a:r>
          </a:p>
        </p:txBody>
      </p:sp>
      <p:grpSp>
        <p:nvGrpSpPr>
          <p:cNvPr id="2" name="Group 1">
            <a:extLst>
              <a:ext uri="{FF2B5EF4-FFF2-40B4-BE49-F238E27FC236}">
                <a16:creationId xmlns:a16="http://schemas.microsoft.com/office/drawing/2014/main" id="{677FB32A-F261-4ABA-97B1-1D0938C970BD}"/>
              </a:ext>
            </a:extLst>
          </p:cNvPr>
          <p:cNvGrpSpPr/>
          <p:nvPr/>
        </p:nvGrpSpPr>
        <p:grpSpPr>
          <a:xfrm>
            <a:off x="9423400" y="355600"/>
            <a:ext cx="1730731" cy="461665"/>
            <a:chOff x="3888023" y="2248422"/>
            <a:chExt cx="1730731" cy="461665"/>
          </a:xfrm>
        </p:grpSpPr>
        <p:sp>
          <p:nvSpPr>
            <p:cNvPr id="3" name="Rounded Rectangle 2">
              <a:extLst>
                <a:ext uri="{FF2B5EF4-FFF2-40B4-BE49-F238E27FC236}">
                  <a16:creationId xmlns:a16="http://schemas.microsoft.com/office/drawing/2014/main" id="{D7CE86D2-7481-E3CD-52B4-C260D49627A4}"/>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C7DA3CE-8F60-A3C9-42E2-67F3AB9ADA3E}"/>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
        <p:nvSpPr>
          <p:cNvPr id="50" name="div"/>
          <p:cNvSpPr/>
          <p:nvPr/>
        </p:nvSpPr>
        <p:spPr>
          <a:xfrm>
            <a:off x="1041400" y="939800"/>
            <a:ext cx="10109200" cy="12700"/>
          </a:xfrm>
          <a:prstGeom prst="rect">
            <a:avLst/>
          </a:prstGeom>
          <a:solidFill>
            <a:srgbClr val="DCE3EC"/>
          </a:solidFill>
          <a:ln>
            <a:noFill/>
          </a:ln>
        </p:spPr>
        <p:txBody>
          <a:bodyPr wrap="square" lIns="0" tIns="0" rIns="0" bIns="0"/>
          <a:lstStyle/>
          <a:p>
            <a:endParaRPr/>
          </a:p>
        </p:txBody>
      </p:sp>
      <p:sp>
        <p:nvSpPr>
          <p:cNvPr id="7" name="TextBox 6">
            <a:extLst>
              <a:ext uri="{FF2B5EF4-FFF2-40B4-BE49-F238E27FC236}">
                <a16:creationId xmlns:a16="http://schemas.microsoft.com/office/drawing/2014/main" id="{D55B9FA9-429A-0870-EB59-4BF1FB35B6A1}"/>
              </a:ext>
            </a:extLst>
          </p:cNvPr>
          <p:cNvSpPr txBox="1"/>
          <p:nvPr/>
        </p:nvSpPr>
        <p:spPr>
          <a:xfrm>
            <a:off x="1270000" y="1600200"/>
            <a:ext cx="9652000" cy="4826000"/>
          </a:xfrm>
          <a:prstGeom prst="rect">
            <a:avLst/>
          </a:prstGeom>
          <a:noFill/>
          <a:ln>
            <a:solidFill>
              <a:schemeClr val="accent1"/>
            </a:solidFill>
          </a:ln>
        </p:spPr>
        <p:txBody>
          <a:bodyPr wrap="square" numCol="2" spcCol="254000">
            <a:noAutofit/>
          </a:bodyPr>
          <a:lstStyle/>
          <a:p>
            <a:pPr indent="0" algn="l">
              <a:lnSpc>
                <a:spcPct val="88000"/>
              </a:lnSpc>
              <a:spcAft>
                <a:spcPts val="1200"/>
              </a:spcAft>
              <a:buNone/>
            </a:pPr>
            <a:r>
              <a:rPr lang="en-US" sz="900" b="1" i="0" dirty="0">
                <a:solidFill>
                  <a:srgbClr val="415A77"/>
                </a:solidFill>
                <a:effectLst/>
                <a:latin typeface="Consolas"/>
                <a:cs typeface="Consolas"/>
              </a:rPr>
              <a:t>Updating the Database Schema</a:t>
            </a:r>
          </a:p>
          <a:p>
            <a:pPr indent="0" algn="l">
              <a:lnSpc>
                <a:spcPct val="88000"/>
              </a:lnSpc>
              <a:spcAft>
                <a:spcPts val="1200"/>
              </a:spcAft>
              <a:buNone/>
            </a:pPr>
            <a:r>
              <a:rPr lang="en-US" sz="900" b="0" i="0" dirty="0">
                <a:solidFill>
                  <a:srgbClr val="415A77"/>
                </a:solidFill>
                <a:effectLst/>
                <a:latin typeface="Consolas"/>
                <a:cs typeface="Consolas"/>
              </a:rPr>
              <a:t>This describes the process for updating the database schema and how it is done.</a:t>
            </a:r>
          </a:p>
          <a:p>
            <a:pPr indent="0" algn="l">
              <a:lnSpc>
                <a:spcPct val="88000"/>
              </a:lnSpc>
              <a:spcAft>
                <a:spcPts val="1200"/>
              </a:spcAft>
              <a:buNone/>
            </a:pPr>
            <a:r>
              <a:rPr lang="en-US" sz="900" b="1" i="0" dirty="0">
                <a:solidFill>
                  <a:srgbClr val="415A77"/>
                </a:solidFill>
                <a:effectLst/>
                <a:latin typeface="Consolas"/>
                <a:cs typeface="Consolas"/>
              </a:rPr>
              <a:t>Schema Aware Database</a:t>
            </a:r>
          </a:p>
          <a:p>
            <a:pPr indent="0" algn="l">
              <a:lnSpc>
                <a:spcPct val="88000"/>
              </a:lnSpc>
              <a:spcAft>
                <a:spcPts val="1200"/>
              </a:spcAft>
              <a:buNone/>
            </a:pPr>
            <a:r>
              <a:rPr lang="en-US" sz="900" b="0" i="0" dirty="0">
                <a:solidFill>
                  <a:srgbClr val="415A77"/>
                </a:solidFill>
                <a:effectLst/>
                <a:latin typeface="Consolas"/>
                <a:cs typeface="Consolas"/>
              </a:rPr>
              <a:t>The database has a table called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that contains a single row with the current schema version.</a:t>
            </a:r>
          </a:p>
          <a:p>
            <a:pPr indent="0" algn="l">
              <a:lnSpc>
                <a:spcPct val="88000"/>
              </a:lnSpc>
              <a:spcAft>
                <a:spcPts val="1200"/>
              </a:spcAft>
              <a:buNone/>
            </a:pPr>
            <a:r>
              <a:rPr lang="en-US" sz="900" b="1" i="0" dirty="0">
                <a:solidFill>
                  <a:srgbClr val="415A77"/>
                </a:solidFill>
                <a:effectLst/>
                <a:latin typeface="Consolas"/>
                <a:cs typeface="Consolas"/>
              </a:rPr>
              <a:t>Updates</a:t>
            </a:r>
          </a:p>
          <a:p>
            <a:pPr indent="0" algn="l">
              <a:lnSpc>
                <a:spcPct val="88000"/>
              </a:lnSpc>
              <a:spcAft>
                <a:spcPts val="1200"/>
              </a:spcAft>
              <a:buNone/>
            </a:pPr>
            <a:r>
              <a:rPr lang="en-US" sz="900" b="0" i="0" dirty="0">
                <a:solidFill>
                  <a:srgbClr val="415A77"/>
                </a:solidFill>
                <a:effectLst/>
                <a:latin typeface="Consolas"/>
                <a:cs typeface="Consolas"/>
              </a:rPr>
              <a:t>The directory </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contains all the SQL scripts that are used to update the database schema. Each script is named with the version number it updates to, for example: Schema_Update.1.sql These files are deployed to the backend server. The biggest number is the latest version. Each Schema Update:</a:t>
            </a:r>
          </a:p>
          <a:p>
            <a:pPr marL="342900" lvl="0" indent="-342900" algn="l">
              <a:lnSpc>
                <a:spcPct val="88000"/>
              </a:lnSpc>
              <a:buFont typeface="+mj-lt"/>
              <a:buAutoNum type="arabicPeriod"/>
            </a:pPr>
            <a:r>
              <a:rPr lang="en-US" sz="900" b="0" i="0" dirty="0">
                <a:solidFill>
                  <a:srgbClr val="415A77"/>
                </a:solidFill>
                <a:effectLst/>
                <a:latin typeface="Consolas"/>
                <a:cs typeface="Consolas"/>
              </a:rPr>
              <a:t>Validates it is on the previous Schema.</a:t>
            </a:r>
          </a:p>
          <a:p>
            <a:pPr marL="342900" lvl="0" indent="-342900" algn="l">
              <a:lnSpc>
                <a:spcPct val="88000"/>
              </a:lnSpc>
              <a:buFont typeface="+mj-lt"/>
              <a:buAutoNum type="arabicPeriod"/>
            </a:pPr>
            <a:r>
              <a:rPr lang="en-US" sz="900" b="0" i="0" dirty="0">
                <a:solidFill>
                  <a:srgbClr val="415A77"/>
                </a:solidFill>
                <a:effectLst/>
                <a:latin typeface="Consolas"/>
                <a:cs typeface="Consolas"/>
              </a:rPr>
              <a:t>Updates the database schema and any data cleanliness issues.</a:t>
            </a:r>
          </a:p>
          <a:p>
            <a:pPr marL="342900" lvl="0" indent="-342900" algn="l">
              <a:lnSpc>
                <a:spcPct val="88000"/>
              </a:lnSpc>
              <a:buFont typeface="+mj-lt"/>
              <a:buAutoNum type="arabicPeriod"/>
            </a:pPr>
            <a:r>
              <a:rPr lang="en-US" sz="900" b="0" i="0" dirty="0">
                <a:solidFill>
                  <a:srgbClr val="415A77"/>
                </a:solidFill>
                <a:effectLst/>
                <a:latin typeface="Consolas"/>
                <a:cs typeface="Consolas"/>
              </a:rPr>
              <a:t>Updates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with the new schema version.</a:t>
            </a:r>
          </a:p>
          <a:p>
            <a:pPr marL="342900" lvl="0" indent="-342900" algn="l">
              <a:lnSpc>
                <a:spcPct val="88000"/>
              </a:lnSpc>
              <a:buFont typeface="+mj-lt"/>
              <a:buAutoNum type="arabicPeriod"/>
            </a:pPr>
            <a:endParaRPr lang="en-US" sz="900" dirty="0">
              <a:solidFill>
                <a:srgbClr val="415A77"/>
              </a:solidFill>
              <a:latin typeface="Consolas"/>
              <a:cs typeface="Consolas"/>
            </a:endParaRPr>
          </a:p>
          <a:p>
            <a:pPr indent="0" algn="l">
              <a:lnSpc>
                <a:spcPct val="88000"/>
              </a:lnSpc>
              <a:spcBef>
                <a:spcPts val="1800"/>
              </a:spcBef>
              <a:spcAft>
                <a:spcPts val="1200"/>
              </a:spcAft>
              <a:buNone/>
            </a:pPr>
            <a:r>
              <a:rPr lang="en-US" sz="900" b="1" i="0" dirty="0">
                <a:solidFill>
                  <a:srgbClr val="415A77"/>
                </a:solidFill>
                <a:effectLst/>
                <a:latin typeface="Consolas"/>
                <a:cs typeface="Consolas"/>
              </a:rPr>
              <a:t>Mechanism</a:t>
            </a:r>
          </a:p>
          <a:p>
            <a:pPr indent="0" algn="l">
              <a:lnSpc>
                <a:spcPct val="88000"/>
              </a:lnSpc>
              <a:spcAft>
                <a:spcPts val="1200"/>
              </a:spcAft>
              <a:buNone/>
            </a:pPr>
            <a:r>
              <a:rPr lang="en-US" sz="900" b="0" i="0" dirty="0">
                <a:solidFill>
                  <a:srgbClr val="415A77"/>
                </a:solidFill>
                <a:effectLst/>
                <a:latin typeface="Consolas"/>
                <a:cs typeface="Consolas"/>
              </a:rPr>
              <a:t>When the backend server starts it checks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for the current schema version. If the current schema version is less than the latest schema version, it will run all the Schema Update scripts in order until it reaches the latest version.</a:t>
            </a:r>
          </a:p>
          <a:p>
            <a:pPr indent="0" algn="l">
              <a:lnSpc>
                <a:spcPct val="88000"/>
              </a:lnSpc>
              <a:spcAft>
                <a:spcPts val="1200"/>
              </a:spcAft>
              <a:buNone/>
            </a:pPr>
            <a:r>
              <a:rPr lang="en-US" sz="900" b="1" i="0" dirty="0">
                <a:solidFill>
                  <a:srgbClr val="415A77"/>
                </a:solidFill>
                <a:effectLst/>
                <a:latin typeface="Consolas"/>
                <a:cs typeface="Consolas"/>
              </a:rPr>
              <a:t>Step 0</a:t>
            </a:r>
          </a:p>
          <a:p>
            <a:pPr indent="0" algn="l">
              <a:lnSpc>
                <a:spcPct val="88000"/>
              </a:lnSpc>
              <a:spcAft>
                <a:spcPts val="1200"/>
              </a:spcAft>
              <a:buNone/>
            </a:pPr>
            <a:r>
              <a:rPr lang="en-US" sz="900" b="0" i="0" dirty="0">
                <a:solidFill>
                  <a:srgbClr val="415A77"/>
                </a:solidFill>
                <a:effectLst/>
                <a:latin typeface="Consolas"/>
                <a:cs typeface="Consolas"/>
              </a:rPr>
              <a:t>Schema Version 1 involves checking that the meta version does not exist and creating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with the initial schema version.</a:t>
            </a:r>
          </a:p>
          <a:p>
            <a:pPr indent="0" algn="l">
              <a:lnSpc>
                <a:spcPct val="88000"/>
              </a:lnSpc>
              <a:spcAft>
                <a:spcPts val="1200"/>
              </a:spcAft>
              <a:buNone/>
            </a:pPr>
            <a:r>
              <a:rPr lang="en-US" sz="900" b="1" i="0" dirty="0">
                <a:solidFill>
                  <a:srgbClr val="415A77"/>
                </a:solidFill>
                <a:effectLst/>
                <a:latin typeface="Consolas"/>
                <a:cs typeface="Consolas"/>
              </a:rPr>
              <a:t>Skill: Adding a New Schema Update</a:t>
            </a:r>
          </a:p>
          <a:p>
            <a:pPr indent="0" algn="l">
              <a:lnSpc>
                <a:spcPct val="88000"/>
              </a:lnSpc>
              <a:spcAft>
                <a:spcPts val="1200"/>
              </a:spcAft>
              <a:buNone/>
            </a:pPr>
            <a:r>
              <a:rPr lang="en-US" sz="900" b="0" i="0" dirty="0">
                <a:solidFill>
                  <a:srgbClr val="415A77"/>
                </a:solidFill>
                <a:effectLst/>
                <a:latin typeface="Consolas"/>
                <a:cs typeface="Consolas"/>
              </a:rPr>
              <a:t>Follow these steps when you need to make a schema/data change:</a:t>
            </a:r>
          </a:p>
          <a:p>
            <a:pPr marL="342900" lvl="0" indent="-342900" algn="l">
              <a:lnSpc>
                <a:spcPct val="88000"/>
              </a:lnSpc>
              <a:buFont typeface="+mj-lt"/>
              <a:buAutoNum type="arabicPeriod"/>
            </a:pPr>
            <a:r>
              <a:rPr lang="en-US" sz="900" b="0" i="0" dirty="0">
                <a:solidFill>
                  <a:srgbClr val="415A77"/>
                </a:solidFill>
                <a:effectLst/>
                <a:latin typeface="Consolas"/>
                <a:cs typeface="Consolas"/>
              </a:rPr>
              <a:t>Find the current latest version by looking at the highest-numbered file in backend/</a:t>
            </a:r>
            <a:r>
              <a:rPr lang="en-US" sz="900" b="0" i="0" dirty="0" err="1">
                <a:solidFill>
                  <a:srgbClr val="415A77"/>
                </a:solidFill>
                <a:effectLst/>
                <a:latin typeface="Consolas"/>
                <a:cs typeface="Consolas"/>
              </a:rPr>
              <a:t>MemberPortal</a:t>
            </a:r>
            <a:r>
              <a:rPr lang="en-US" sz="900" b="0" i="0" dirty="0">
                <a:solidFill>
                  <a:srgbClr val="415A77"/>
                </a:solidFill>
                <a:effectLst/>
                <a:latin typeface="Consolas"/>
                <a:cs typeface="Consolas"/>
              </a:rPr>
              <a:t>/Backend/</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(e.g. Schema_Update.1.sql means the latest version is 1).</a:t>
            </a:r>
          </a:p>
          <a:p>
            <a:pPr marL="342900" lvl="0" indent="-342900" algn="l">
              <a:lnSpc>
                <a:spcPct val="88000"/>
              </a:lnSpc>
              <a:buFont typeface="+mj-lt"/>
              <a:buAutoNum type="arabicPeriod"/>
            </a:pPr>
            <a:r>
              <a:rPr lang="en-US" sz="900" b="0" i="0" dirty="0">
                <a:solidFill>
                  <a:srgbClr val="415A77"/>
                </a:solidFill>
                <a:effectLst/>
                <a:latin typeface="Consolas"/>
                <a:cs typeface="Consolas"/>
              </a:rPr>
              <a:t>Create a new file named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in that same directory, where &lt;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 is the latest version + 1.</a:t>
            </a:r>
          </a:p>
          <a:p>
            <a:pPr marL="342900" lvl="0" indent="-342900" algn="l">
              <a:lnSpc>
                <a:spcPct val="88000"/>
              </a:lnSpc>
              <a:buFont typeface="+mj-lt"/>
              <a:buAutoNum type="arabicPeriod"/>
            </a:pPr>
            <a:r>
              <a:rPr lang="en-US" sz="900" b="0" i="0" dirty="0">
                <a:solidFill>
                  <a:srgbClr val="415A77"/>
                </a:solidFill>
                <a:effectLst/>
                <a:latin typeface="Consolas"/>
                <a:cs typeface="Consolas"/>
              </a:rPr>
              <a:t>Write the script so it:</a:t>
            </a:r>
          </a:p>
          <a:p>
            <a:pPr marL="742950" lvl="1" indent="-285750" algn="l">
              <a:lnSpc>
                <a:spcPct val="88000"/>
              </a:lnSpc>
              <a:buFont typeface="+mj-lt"/>
              <a:buAutoNum type="arabicPeriod"/>
            </a:pPr>
            <a:r>
              <a:rPr lang="en-US" sz="900" b="0" i="0" dirty="0">
                <a:solidFill>
                  <a:srgbClr val="415A77"/>
                </a:solidFill>
                <a:effectLst/>
                <a:latin typeface="Consolas"/>
                <a:cs typeface="Consolas"/>
              </a:rPr>
              <a:t>Validates the database is on the expected previous version (e.g. check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for </a:t>
            </a:r>
            <a:r>
              <a:rPr lang="en-US" sz="900" b="0" i="0" dirty="0" err="1">
                <a:solidFill>
                  <a:srgbClr val="415A77"/>
                </a:solidFill>
                <a:effectLst/>
                <a:latin typeface="Consolas"/>
                <a:cs typeface="Consolas"/>
              </a:rPr>
              <a:t>schema_version</a:t>
            </a:r>
            <a:r>
              <a:rPr lang="en-US" sz="900" b="0" i="0" dirty="0">
                <a:solidFill>
                  <a:srgbClr val="415A77"/>
                </a:solidFill>
                <a:effectLst/>
                <a:latin typeface="Consolas"/>
                <a:cs typeface="Consolas"/>
              </a:rPr>
              <a:t> = &lt;</a:t>
            </a:r>
            <a:r>
              <a:rPr lang="en-US" sz="900" b="0" i="0" dirty="0" err="1">
                <a:solidFill>
                  <a:srgbClr val="415A77"/>
                </a:solidFill>
                <a:effectLst/>
                <a:latin typeface="Consolas"/>
                <a:cs typeface="Consolas"/>
              </a:rPr>
              <a:t>previous_version</a:t>
            </a:r>
            <a:r>
              <a:rPr lang="en-US" sz="900" b="0" i="0" dirty="0">
                <a:solidFill>
                  <a:srgbClr val="415A77"/>
                </a:solidFill>
                <a:effectLst/>
                <a:latin typeface="Consolas"/>
                <a:cs typeface="Consolas"/>
              </a:rPr>
              <a:t>&gt;, and abort/raise an error if not).</a:t>
            </a:r>
          </a:p>
          <a:p>
            <a:pPr marL="742950" lvl="1" indent="-285750" algn="l">
              <a:lnSpc>
                <a:spcPct val="88000"/>
              </a:lnSpc>
              <a:buFont typeface="+mj-lt"/>
              <a:buAutoNum type="arabicPeriod"/>
            </a:pPr>
            <a:r>
              <a:rPr lang="en-US" sz="900" b="0" i="0" dirty="0">
                <a:solidFill>
                  <a:srgbClr val="415A77"/>
                </a:solidFill>
                <a:effectLst/>
                <a:latin typeface="Consolas"/>
                <a:cs typeface="Consolas"/>
              </a:rPr>
              <a:t>Makes the schema and/or data changes for this update.</a:t>
            </a:r>
          </a:p>
          <a:p>
            <a:pPr marL="742950" lvl="1" indent="-285750" algn="l">
              <a:lnSpc>
                <a:spcPct val="88000"/>
              </a:lnSpc>
              <a:buFont typeface="+mj-lt"/>
              <a:buAutoNum type="arabicPeriod"/>
            </a:pPr>
            <a:r>
              <a:rPr lang="en-US" sz="900" b="0" i="0" dirty="0">
                <a:solidFill>
                  <a:srgbClr val="415A77"/>
                </a:solidFill>
                <a:effectLst/>
                <a:latin typeface="Consolas"/>
                <a:cs typeface="Consolas"/>
              </a:rPr>
              <a:t>Updates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row to set Value = '&lt;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 where Key = '</a:t>
            </a:r>
            <a:r>
              <a:rPr lang="en-US" sz="900" b="0" i="0" dirty="0" err="1">
                <a:solidFill>
                  <a:srgbClr val="415A77"/>
                </a:solidFill>
                <a:effectLst/>
                <a:latin typeface="Consolas"/>
                <a:cs typeface="Consolas"/>
              </a:rPr>
              <a:t>schema_version</a:t>
            </a:r>
            <a:r>
              <a:rPr lang="en-US" sz="900" b="0" i="0" dirty="0">
                <a:solidFill>
                  <a:srgbClr val="415A77"/>
                </a:solidFill>
                <a:effectLst/>
                <a:latin typeface="Consolas"/>
                <a:cs typeface="Consolas"/>
              </a:rPr>
              <a:t>'.</a:t>
            </a:r>
          </a:p>
          <a:p>
            <a:pPr marL="742950" lvl="1" indent="-285750" algn="l">
              <a:lnSpc>
                <a:spcPct val="88000"/>
              </a:lnSpc>
              <a:buFont typeface="+mj-lt"/>
              <a:buAutoNum type="arabicPeriod"/>
            </a:pPr>
            <a:r>
              <a:rPr lang="en-US" sz="900" b="0" i="0" dirty="0">
                <a:solidFill>
                  <a:srgbClr val="415A77"/>
                </a:solidFill>
                <a:effectLst/>
                <a:latin typeface="Consolas"/>
                <a:cs typeface="Consolas"/>
              </a:rPr>
              <a:t>Prefer plain, explicit statements (e.g. one ALTER TABLE ... DROP COLUMN per line) over loops/cursors/dynamic SQL, even if more verbose — readability over cleverness.</a:t>
            </a:r>
          </a:p>
          <a:p>
            <a:pPr marL="342900" lvl="0" indent="-342900" algn="l">
              <a:lnSpc>
                <a:spcPct val="88000"/>
              </a:lnSpc>
              <a:buFont typeface="+mj-lt"/>
              <a:buAutoNum type="arabicPeriod"/>
            </a:pPr>
            <a:r>
              <a:rPr lang="en-US" sz="900" b="0" i="0" dirty="0">
                <a:solidFill>
                  <a:srgbClr val="415A77"/>
                </a:solidFill>
                <a:effectLst/>
                <a:latin typeface="Consolas"/>
                <a:cs typeface="Consolas"/>
              </a:rPr>
              <a:t>Do not modify any existing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files — each one is an immutable step in history. If you got something wrong, add a new script to fix it forward.</a:t>
            </a:r>
          </a:p>
          <a:p>
            <a:pPr marL="342900" lvl="0" indent="-342900" algn="l">
              <a:lnSpc>
                <a:spcPct val="88000"/>
              </a:lnSpc>
              <a:buFont typeface="+mj-lt"/>
              <a:buAutoNum type="arabicPeriod"/>
            </a:pPr>
            <a:r>
              <a:rPr lang="en-US" sz="900" b="0" i="0" dirty="0">
                <a:solidFill>
                  <a:srgbClr val="415A77"/>
                </a:solidFill>
                <a:effectLst/>
                <a:latin typeface="Consolas"/>
                <a:cs typeface="Consolas"/>
              </a:rPr>
              <a:t>No backend code changes are needed for a normal update — </a:t>
            </a:r>
            <a:r>
              <a:rPr lang="en-US" sz="900" b="0" i="0" dirty="0" err="1">
                <a:solidFill>
                  <a:srgbClr val="415A77"/>
                </a:solidFill>
                <a:effectLst/>
                <a:latin typeface="Consolas"/>
                <a:cs typeface="Consolas"/>
              </a:rPr>
              <a:t>SchemaUpdateService</a:t>
            </a:r>
            <a:r>
              <a:rPr lang="en-US" sz="900" b="0" i="0" dirty="0">
                <a:solidFill>
                  <a:srgbClr val="415A77"/>
                </a:solidFill>
                <a:effectLst/>
                <a:latin typeface="Consolas"/>
                <a:cs typeface="Consolas"/>
              </a:rPr>
              <a:t> (backend/</a:t>
            </a:r>
            <a:r>
              <a:rPr lang="en-US" sz="900" b="0" i="0" dirty="0" err="1">
                <a:solidFill>
                  <a:srgbClr val="415A77"/>
                </a:solidFill>
                <a:effectLst/>
                <a:latin typeface="Consolas"/>
                <a:cs typeface="Consolas"/>
              </a:rPr>
              <a:t>MemberPortal</a:t>
            </a:r>
            <a:r>
              <a:rPr lang="en-US" sz="900" b="0" i="0" dirty="0">
                <a:solidFill>
                  <a:srgbClr val="415A77"/>
                </a:solidFill>
                <a:effectLst/>
                <a:latin typeface="Consolas"/>
                <a:cs typeface="Consolas"/>
              </a:rPr>
              <a:t>/Backend/Services/</a:t>
            </a:r>
            <a:r>
              <a:rPr lang="en-US" sz="900" b="0" i="0" dirty="0" err="1">
                <a:solidFill>
                  <a:srgbClr val="415A77"/>
                </a:solidFill>
                <a:effectLst/>
                <a:latin typeface="Consolas"/>
                <a:cs typeface="Consolas"/>
              </a:rPr>
              <a:t>Impl</a:t>
            </a:r>
            <a:r>
              <a:rPr lang="en-US" sz="900" b="0" i="0" dirty="0">
                <a:solidFill>
                  <a:srgbClr val="415A77"/>
                </a:solidFill>
                <a:effectLst/>
                <a:latin typeface="Consolas"/>
                <a:cs typeface="Consolas"/>
              </a:rPr>
              <a:t>/</a:t>
            </a:r>
            <a:r>
              <a:rPr lang="en-US" sz="900" b="0" i="0" dirty="0" err="1">
                <a:solidFill>
                  <a:srgbClr val="415A77"/>
                </a:solidFill>
                <a:effectLst/>
                <a:latin typeface="Consolas"/>
                <a:cs typeface="Consolas"/>
              </a:rPr>
              <a:t>SchemaUpdateService.cs</a:t>
            </a:r>
            <a:r>
              <a:rPr lang="en-US" sz="900" b="0" i="0" dirty="0">
                <a:solidFill>
                  <a:srgbClr val="415A77"/>
                </a:solidFill>
                <a:effectLst/>
                <a:latin typeface="Consolas"/>
                <a:cs typeface="Consolas"/>
              </a:rPr>
              <a:t>) automatically discovers and runs any pending scripts in order at startup.</a:t>
            </a:r>
          </a:p>
          <a:p>
            <a:pPr marL="342900" lvl="0" indent="-342900" algn="l">
              <a:lnSpc>
                <a:spcPct val="88000"/>
              </a:lnSpc>
              <a:buFont typeface="+mj-lt"/>
              <a:buAutoNum type="arabicPeriod"/>
            </a:pPr>
            <a:r>
              <a:rPr lang="en-US" sz="900" b="0" i="0" dirty="0">
                <a:solidFill>
                  <a:srgbClr val="415A77"/>
                </a:solidFill>
                <a:effectLst/>
                <a:latin typeface="Consolas"/>
                <a:cs typeface="Consolas"/>
              </a:rPr>
              <a:t>The .</a:t>
            </a:r>
            <a:r>
              <a:rPr lang="en-US" sz="900" b="0" i="0" dirty="0" err="1">
                <a:solidFill>
                  <a:srgbClr val="415A77"/>
                </a:solidFill>
                <a:effectLst/>
                <a:latin typeface="Consolas"/>
                <a:cs typeface="Consolas"/>
              </a:rPr>
              <a:t>csproj</a:t>
            </a:r>
            <a:r>
              <a:rPr lang="en-US" sz="900" b="0" i="0" dirty="0">
                <a:solidFill>
                  <a:srgbClr val="415A77"/>
                </a:solidFill>
                <a:effectLst/>
                <a:latin typeface="Consolas"/>
                <a:cs typeface="Consolas"/>
              </a:rPr>
              <a:t> already copies everything in </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to the output directory, so a new script is deployed automatically — no project file changes needed.</a:t>
            </a:r>
          </a:p>
          <a:p>
            <a:pPr marL="342900" lvl="0" indent="-342900" algn="l">
              <a:lnSpc>
                <a:spcPct val="88000"/>
              </a:lnSpc>
              <a:buFont typeface="+mj-lt"/>
              <a:buAutoNum type="arabicPeriod"/>
            </a:pPr>
            <a:r>
              <a:rPr lang="en-US" sz="900" b="0" i="0" dirty="0">
                <a:solidFill>
                  <a:srgbClr val="415A77"/>
                </a:solidFill>
                <a:effectLst/>
                <a:latin typeface="Consolas"/>
                <a:cs typeface="Consolas"/>
              </a:rPr>
              <a:t>Before committing, test the script against staging with test-database-</a:t>
            </a:r>
            <a:r>
              <a:rPr lang="en-US" sz="900" b="0" i="0" dirty="0" err="1">
                <a:solidFill>
                  <a:srgbClr val="415A77"/>
                </a:solidFill>
                <a:effectLst/>
                <a:latin typeface="Consolas"/>
                <a:cs typeface="Consolas"/>
              </a:rPr>
              <a:t>update.cmd</a:t>
            </a:r>
            <a:r>
              <a:rPr lang="en-US" sz="900" b="0" i="0" dirty="0">
                <a:solidFill>
                  <a:srgbClr val="415A77"/>
                </a:solidFill>
                <a:effectLst/>
                <a:latin typeface="Consolas"/>
                <a:cs typeface="Consolas"/>
              </a:rPr>
              <a:t> &lt;version&gt; (see below) to confirm it applies cleanly. Never modify the script afterward to fix a failure it reveals — fix forward with a new script per rule 4.</a:t>
            </a:r>
          </a:p>
          <a:p>
            <a:pPr indent="0" algn="l">
              <a:lnSpc>
                <a:spcPct val="88000"/>
              </a:lnSpc>
              <a:spcBef>
                <a:spcPts val="1800"/>
              </a:spcBef>
              <a:spcAft>
                <a:spcPts val="1200"/>
              </a:spcAft>
              <a:buNone/>
            </a:pPr>
            <a:r>
              <a:rPr lang="en-US" sz="900" b="1" i="0" dirty="0">
                <a:solidFill>
                  <a:srgbClr val="415A77"/>
                </a:solidFill>
                <a:effectLst/>
                <a:latin typeface="Consolas"/>
                <a:cs typeface="Consolas"/>
              </a:rPr>
              <a:t>Testing a Schema Update</a:t>
            </a:r>
          </a:p>
          <a:p>
            <a:pPr indent="0" algn="l">
              <a:lnSpc>
                <a:spcPct val="88000"/>
              </a:lnSpc>
              <a:spcAft>
                <a:spcPts val="1200"/>
              </a:spcAft>
              <a:buNone/>
            </a:pPr>
            <a:r>
              <a:rPr lang="en-US" sz="900" b="0" i="0" dirty="0">
                <a:solidFill>
                  <a:srgbClr val="415A77"/>
                </a:solidFill>
                <a:effectLst/>
                <a:latin typeface="Consolas"/>
                <a:cs typeface="Consolas"/>
              </a:rPr>
              <a:t>test-database-</a:t>
            </a:r>
            <a:r>
              <a:rPr lang="en-US" sz="900" b="0" i="0" dirty="0" err="1">
                <a:solidFill>
                  <a:srgbClr val="415A77"/>
                </a:solidFill>
                <a:effectLst/>
                <a:latin typeface="Consolas"/>
                <a:cs typeface="Consolas"/>
              </a:rPr>
              <a:t>update.cmd</a:t>
            </a:r>
            <a:r>
              <a:rPr lang="en-US" sz="900" b="0" i="0" dirty="0">
                <a:solidFill>
                  <a:srgbClr val="415A77"/>
                </a:solidFill>
                <a:effectLst/>
                <a:latin typeface="Consolas"/>
                <a:cs typeface="Consolas"/>
              </a:rPr>
              <a:t> &lt;version&gt; runs a single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.&lt;version&gt;.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script against staging inside a transaction that is always rolled back, then reports success or failure.</a:t>
            </a:r>
          </a:p>
        </p:txBody>
      </p:sp>
    </p:spTree>
    <p:extLst>
      <p:ext uri="{BB962C8B-B14F-4D97-AF65-F5344CB8AC3E}">
        <p14:creationId xmlns:p14="http://schemas.microsoft.com/office/powerpoint/2010/main" val="85652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44E4414-128E-53FC-C7B5-9803BF588DCE}"/>
              </a:ext>
            </a:extLst>
          </p:cNvPr>
          <p:cNvSpPr/>
          <p:nvPr/>
        </p:nvSpPr>
        <p:spPr>
          <a:xfrm>
            <a:off x="457200" y="4615540"/>
            <a:ext cx="8890000" cy="914400"/>
          </a:xfrm>
          <a:prstGeom prst="rect">
            <a:avLst/>
          </a:prstGeom>
          <a:noFill/>
          <a:ln w="28575" cap="flat" cmpd="sng" algn="ctr">
            <a:solidFill>
              <a:srgbClr val="5A7D5A"/>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0B7447D-CEFF-C8A3-75DD-9F8F5FC58D9E}"/>
              </a:ext>
            </a:extLst>
          </p:cNvPr>
          <p:cNvSpPr/>
          <p:nvPr/>
        </p:nvSpPr>
        <p:spPr>
          <a:xfrm>
            <a:off x="457200" y="3018309"/>
            <a:ext cx="8890000" cy="1514104"/>
          </a:xfrm>
          <a:prstGeom prst="rect">
            <a:avLst/>
          </a:prstGeom>
          <a:noFill/>
          <a:ln w="28575" cap="flat" cmpd="sng" algn="ctr">
            <a:solidFill>
              <a:srgbClr val="A14B4B"/>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F56BFB7-5015-D99A-4248-9E8DBB39CC48}"/>
              </a:ext>
            </a:extLst>
          </p:cNvPr>
          <p:cNvSpPr/>
          <p:nvPr/>
        </p:nvSpPr>
        <p:spPr>
          <a:xfrm>
            <a:off x="457200" y="1421079"/>
            <a:ext cx="8890000" cy="1514104"/>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7346542-AAEA-87AC-A04F-5844CC2FF756}"/>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Schema_Update.1.sql</a:t>
            </a:r>
          </a:p>
        </p:txBody>
      </p:sp>
      <p:sp>
        <p:nvSpPr>
          <p:cNvPr id="10" name="TextBox 9">
            <a:extLst>
              <a:ext uri="{FF2B5EF4-FFF2-40B4-BE49-F238E27FC236}">
                <a16:creationId xmlns:a16="http://schemas.microsoft.com/office/drawing/2014/main" id="{27237F14-A1E2-8B2C-4EC3-1A80D49FDD22}"/>
              </a:ext>
            </a:extLst>
          </p:cNvPr>
          <p:cNvSpPr txBox="1"/>
          <p:nvPr/>
        </p:nvSpPr>
        <p:spPr>
          <a:xfrm>
            <a:off x="9601200" y="1993900"/>
            <a:ext cx="1524392" cy="338554"/>
          </a:xfrm>
          <a:prstGeom prst="rect">
            <a:avLst/>
          </a:prstGeom>
          <a:noFill/>
        </p:spPr>
        <p:txBody>
          <a:bodyPr wrap="none" rtlCol="0">
            <a:spAutoFit/>
          </a:bodyPr>
          <a:lstStyle/>
          <a:p>
            <a:pPr algn="l">
              <a:buNone/>
            </a:pPr>
            <a:r>
              <a:rPr lang="en-US" sz="1600" b="1" dirty="0">
                <a:solidFill>
                  <a:srgbClr val="415A77"/>
                </a:solidFill>
              </a:rPr>
              <a:t>Check Version</a:t>
            </a:r>
          </a:p>
        </p:txBody>
      </p:sp>
      <p:sp>
        <p:nvSpPr>
          <p:cNvPr id="11" name="TextBox 10">
            <a:extLst>
              <a:ext uri="{FF2B5EF4-FFF2-40B4-BE49-F238E27FC236}">
                <a16:creationId xmlns:a16="http://schemas.microsoft.com/office/drawing/2014/main" id="{A32E6D71-590B-ED59-8A94-B68D69CD3B13}"/>
              </a:ext>
            </a:extLst>
          </p:cNvPr>
          <p:cNvSpPr txBox="1"/>
          <p:nvPr/>
        </p:nvSpPr>
        <p:spPr>
          <a:xfrm>
            <a:off x="9601200" y="3594100"/>
            <a:ext cx="1701813" cy="338554"/>
          </a:xfrm>
          <a:prstGeom prst="rect">
            <a:avLst/>
          </a:prstGeom>
          <a:noFill/>
        </p:spPr>
        <p:txBody>
          <a:bodyPr wrap="none" rtlCol="0">
            <a:spAutoFit/>
          </a:bodyPr>
          <a:lstStyle/>
          <a:p>
            <a:pPr algn="l">
              <a:buNone/>
            </a:pPr>
            <a:r>
              <a:rPr lang="en-US" sz="1600" b="1" dirty="0">
                <a:solidFill>
                  <a:srgbClr val="A14B4B"/>
                </a:solidFill>
              </a:rPr>
              <a:t>Change Schema</a:t>
            </a:r>
          </a:p>
        </p:txBody>
      </p:sp>
      <p:sp>
        <p:nvSpPr>
          <p:cNvPr id="12" name="TextBox 11">
            <a:extLst>
              <a:ext uri="{FF2B5EF4-FFF2-40B4-BE49-F238E27FC236}">
                <a16:creationId xmlns:a16="http://schemas.microsoft.com/office/drawing/2014/main" id="{B486012B-B3D3-D7B1-BA21-F69FFE52D065}"/>
              </a:ext>
            </a:extLst>
          </p:cNvPr>
          <p:cNvSpPr txBox="1"/>
          <p:nvPr/>
        </p:nvSpPr>
        <p:spPr>
          <a:xfrm>
            <a:off x="9601200" y="4889500"/>
            <a:ext cx="1608646" cy="338554"/>
          </a:xfrm>
          <a:prstGeom prst="rect">
            <a:avLst/>
          </a:prstGeom>
          <a:noFill/>
        </p:spPr>
        <p:txBody>
          <a:bodyPr wrap="none" rtlCol="0">
            <a:spAutoFit/>
          </a:bodyPr>
          <a:lstStyle/>
          <a:p>
            <a:pPr algn="l">
              <a:buNone/>
            </a:pPr>
            <a:r>
              <a:rPr lang="en-US" sz="1600" b="1" dirty="0">
                <a:solidFill>
                  <a:srgbClr val="5A7D5A"/>
                </a:solidFill>
              </a:rPr>
              <a:t>Update Version</a:t>
            </a:r>
          </a:p>
        </p:txBody>
      </p:sp>
      <p:sp>
        <p:nvSpPr>
          <p:cNvPr id="50" name="div"/>
          <p:cNvSpPr/>
          <p:nvPr/>
        </p:nvSpPr>
        <p:spPr>
          <a:xfrm>
            <a:off x="457200" y="889000"/>
            <a:ext cx="10718800" cy="12700"/>
          </a:xfrm>
          <a:prstGeom prst="rect">
            <a:avLst/>
          </a:prstGeom>
          <a:solidFill>
            <a:srgbClr val="DCE3EC"/>
          </a:solidFill>
          <a:ln>
            <a:noFill/>
          </a:ln>
        </p:spPr>
        <p:txBody>
          <a:bodyPr/>
          <a:lstStyle/>
          <a:p>
            <a:endParaRPr/>
          </a:p>
        </p:txBody>
      </p:sp>
      <p:sp>
        <p:nvSpPr>
          <p:cNvPr id="3" name="TextBox 2">
            <a:extLst>
              <a:ext uri="{FF2B5EF4-FFF2-40B4-BE49-F238E27FC236}">
                <a16:creationId xmlns:a16="http://schemas.microsoft.com/office/drawing/2014/main" id="{F29252B5-F39A-D2DB-B974-E7353B78E345}"/>
              </a:ext>
            </a:extLst>
          </p:cNvPr>
          <p:cNvSpPr txBox="1"/>
          <p:nvPr/>
        </p:nvSpPr>
        <p:spPr>
          <a:xfrm>
            <a:off x="762000" y="1524000"/>
            <a:ext cx="8445500" cy="3765390"/>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EXISTS (SELECT 1 FROM INFORMATION_SCHEMA.TABLES WHERE TABLE_NAME = '</a:t>
            </a:r>
            <a:r>
              <a:rPr lang="en-US" sz="1100" b="0" dirty="0" err="1">
                <a:solidFill>
                  <a:srgbClr val="1F3A5F"/>
                </a:solidFill>
                <a:effectLst/>
                <a:latin typeface="Consolas"/>
                <a:cs typeface="Consolas"/>
              </a:rPr>
              <a:t>MetaInformation</a:t>
            </a:r>
            <a:r>
              <a:rPr lang="en-US" sz="1100" b="0" dirty="0">
                <a:solidFill>
                  <a:srgbClr val="1F3A5F"/>
                </a:solidFill>
                <a:effectLst/>
                <a:latin typeface="Consolas"/>
                <a:cs typeface="Consolas"/>
              </a:rPr>
              <a:t>')</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RAISERROR('Schema_Update.1.sql: </a:t>
            </a:r>
            <a:r>
              <a:rPr lang="en-US" sz="1100" b="0" dirty="0" err="1">
                <a:solidFill>
                  <a:srgbClr val="1F3A5F"/>
                </a:solidFill>
                <a:effectLst/>
                <a:latin typeface="Consolas"/>
                <a:cs typeface="Consolas"/>
              </a:rPr>
              <a:t>MetaInformation</a:t>
            </a:r>
            <a:r>
              <a:rPr lang="en-US" sz="1100" b="0" dirty="0">
                <a:solidFill>
                  <a:srgbClr val="1F3A5F"/>
                </a:solidFill>
                <a:effectLst/>
                <a:latin typeface="Consolas"/>
                <a:cs typeface="Consolas"/>
              </a:rPr>
              <a:t> already exists; expected no prior schema.',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CREATE TABLE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a:t>
            </a:r>
          </a:p>
          <a:p>
            <a:pPr>
              <a:lnSpc>
                <a:spcPts val="1800"/>
              </a:lnSpc>
              <a:buNone/>
            </a:pPr>
            <a:r>
              <a:rPr lang="en-US" sz="1100" b="0" dirty="0">
                <a:solidFill>
                  <a:srgbClr val="1F3A5F"/>
                </a:solidFill>
                <a:effectLst/>
                <a:latin typeface="Consolas"/>
                <a:cs typeface="Consolas"/>
              </a:rPr>
              <a:t>Id INT NOT NULL IDENTITY(1,1) PRIMARY KEY,</a:t>
            </a:r>
          </a:p>
          <a:p>
            <a:pPr>
              <a:lnSpc>
                <a:spcPts val="1800"/>
              </a:lnSpc>
              <a:buNone/>
            </a:pPr>
            <a:r>
              <a:rPr lang="en-US" sz="1100" b="0" dirty="0">
                <a:solidFill>
                  <a:srgbClr val="1F3A5F"/>
                </a:solidFill>
                <a:effectLst/>
                <a:latin typeface="Consolas"/>
                <a:cs typeface="Consolas"/>
              </a:rPr>
              <a:t>[Key] NVARCHAR(100) NOT NULL,</a:t>
            </a:r>
          </a:p>
          <a:p>
            <a:pPr>
              <a:lnSpc>
                <a:spcPts val="1800"/>
              </a:lnSpc>
              <a:buNone/>
            </a:pPr>
            <a:r>
              <a:rPr lang="en-US" sz="1100" b="0" dirty="0">
                <a:solidFill>
                  <a:srgbClr val="1F3A5F"/>
                </a:solidFill>
                <a:effectLst/>
                <a:latin typeface="Consolas"/>
                <a:cs typeface="Consolas"/>
              </a:rPr>
              <a:t>[Value] NVARCHAR(MAX) NOT NULL</a:t>
            </a:r>
          </a:p>
          <a:p>
            <a:pPr>
              <a:lnSpc>
                <a:spcPts val="1800"/>
              </a:lnSpc>
              <a:buNone/>
            </a:pPr>
            <a:r>
              <a:rPr lang="en-US" sz="1100" b="0" dirty="0">
                <a:solidFill>
                  <a:srgbClr val="1F3A5F"/>
                </a:solidFill>
                <a:effectLst/>
                <a:latin typeface="Consolas"/>
                <a:cs typeface="Consolas"/>
              </a:rPr>
              <a:t>);</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INSERT INTO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([Key], [Value])</a:t>
            </a:r>
          </a:p>
          <a:p>
            <a:pPr>
              <a:lnSpc>
                <a:spcPts val="1800"/>
              </a:lnSpc>
              <a:buNone/>
            </a:pPr>
            <a:r>
              <a:rPr lang="en-US" sz="1100" b="0" dirty="0">
                <a:solidFill>
                  <a:srgbClr val="1F3A5F"/>
                </a:solidFill>
                <a:effectLst/>
                <a:latin typeface="Consolas"/>
                <a:cs typeface="Consolas"/>
              </a:rPr>
              <a:t>VALUES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a:t>
            </a:r>
          </a:p>
        </p:txBody>
      </p:sp>
    </p:spTree>
    <p:extLst>
      <p:ext uri="{BB962C8B-B14F-4D97-AF65-F5344CB8AC3E}">
        <p14:creationId xmlns:p14="http://schemas.microsoft.com/office/powerpoint/2010/main" val="1535576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left)">
                                      <p:cBhvr>
                                        <p:cTn id="11" dur="500"/>
                                        <p:tgtEl>
                                          <p:spTgt spid="10"/>
                                        </p:tgtEl>
                                      </p:cBhvr>
                                    </p:animEffect>
                                  </p:childTnLst>
                                </p:cTn>
                              </p:par>
                            </p:childTnLst>
                          </p:cTn>
                        </p:par>
                      </p:childTnLst>
                    </p:cTn>
                  </p:par>
                  <p:par>
                    <p:cTn id="12" fill="hold">
                      <p:stCondLst>
                        <p:cond delay="indefinite"/>
                      </p:stCondLst>
                      <p:childTnLst>
                        <p:par>
                          <p:cTn id="13" fill="hold">
                            <p:stCondLst>
                              <p:cond delay="0"/>
                            </p:stCondLst>
                            <p:childTnLst>
                              <p:par>
                                <p:cTn id="14" presetID="21" presetClass="entr" presetSubtype="1"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heel(1)">
                                      <p:cBhvr>
                                        <p:cTn id="16" dur="500"/>
                                        <p:tgtEl>
                                          <p:spTgt spid="8"/>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5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21" presetClass="entr" presetSubtype="1"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heel(1)">
                                      <p:cBhvr>
                                        <p:cTn id="25" dur="500"/>
                                        <p:tgtEl>
                                          <p:spTgt spid="9"/>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wipe(left)">
                                      <p:cBhvr>
                                        <p:cTn id="2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animBg="1"/>
      <p:bldP spid="6" grpId="0" animBg="1"/>
      <p:bldP spid="10" grpId="0"/>
      <p:bldP spid="11" grpId="0"/>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11F80-9D27-5D70-A885-85AA7713293D}"/>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1EA6D3E-2B29-FB56-0FC6-BBED96372F71}"/>
              </a:ext>
            </a:extLst>
          </p:cNvPr>
          <p:cNvSpPr/>
          <p:nvPr/>
        </p:nvSpPr>
        <p:spPr>
          <a:xfrm>
            <a:off x="457200" y="4622800"/>
            <a:ext cx="8890000" cy="914400"/>
          </a:xfrm>
          <a:prstGeom prst="rect">
            <a:avLst/>
          </a:prstGeom>
          <a:noFill/>
          <a:ln w="28575" cap="flat" cmpd="sng" algn="ctr">
            <a:solidFill>
              <a:srgbClr val="5A7D5A"/>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91AAE8B9-CCB1-45AC-8C32-F8AE0286F627}"/>
              </a:ext>
            </a:extLst>
          </p:cNvPr>
          <p:cNvSpPr/>
          <p:nvPr/>
        </p:nvSpPr>
        <p:spPr>
          <a:xfrm>
            <a:off x="457200" y="3048000"/>
            <a:ext cx="8890000" cy="1473200"/>
          </a:xfrm>
          <a:prstGeom prst="rect">
            <a:avLst/>
          </a:prstGeom>
          <a:noFill/>
          <a:ln w="28575" cap="flat" cmpd="sng" algn="ctr">
            <a:solidFill>
              <a:srgbClr val="A14B4B"/>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B4FC4BD-8109-5998-5145-98002C215519}"/>
              </a:ext>
            </a:extLst>
          </p:cNvPr>
          <p:cNvSpPr/>
          <p:nvPr/>
        </p:nvSpPr>
        <p:spPr>
          <a:xfrm>
            <a:off x="457200" y="1473200"/>
            <a:ext cx="8890000" cy="1473200"/>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7ACF99-6E2C-CE7A-F393-FD2A857EBA2D}"/>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Schema_Update.2.sql</a:t>
            </a:r>
          </a:p>
        </p:txBody>
      </p:sp>
      <p:sp>
        <p:nvSpPr>
          <p:cNvPr id="9" name="TextBox 8">
            <a:extLst>
              <a:ext uri="{FF2B5EF4-FFF2-40B4-BE49-F238E27FC236}">
                <a16:creationId xmlns:a16="http://schemas.microsoft.com/office/drawing/2014/main" id="{8454A4A7-CAFC-8425-74D3-97BFA2B8D742}"/>
              </a:ext>
            </a:extLst>
          </p:cNvPr>
          <p:cNvSpPr txBox="1"/>
          <p:nvPr/>
        </p:nvSpPr>
        <p:spPr>
          <a:xfrm>
            <a:off x="9601200" y="2044700"/>
            <a:ext cx="1778000" cy="368300"/>
          </a:xfrm>
          <a:prstGeom prst="rect">
            <a:avLst/>
          </a:prstGeom>
          <a:noFill/>
        </p:spPr>
        <p:txBody>
          <a:bodyPr wrap="none" rtlCol="0">
            <a:spAutoFit/>
          </a:bodyPr>
          <a:lstStyle/>
          <a:p>
            <a:pPr algn="l">
              <a:buNone/>
            </a:pPr>
            <a:r>
              <a:rPr lang="en-US" sz="1600" b="1" dirty="0">
                <a:solidFill>
                  <a:srgbClr val="415A77"/>
                </a:solidFill>
              </a:rPr>
              <a:t>Check</a:t>
            </a:r>
          </a:p>
        </p:txBody>
      </p:sp>
      <p:sp>
        <p:nvSpPr>
          <p:cNvPr id="10" name="TextBox 9">
            <a:extLst>
              <a:ext uri="{FF2B5EF4-FFF2-40B4-BE49-F238E27FC236}">
                <a16:creationId xmlns:a16="http://schemas.microsoft.com/office/drawing/2014/main" id="{69A2A7A0-696A-0057-8E21-2060412F34D1}"/>
              </a:ext>
            </a:extLst>
          </p:cNvPr>
          <p:cNvSpPr txBox="1"/>
          <p:nvPr/>
        </p:nvSpPr>
        <p:spPr>
          <a:xfrm>
            <a:off x="9601200" y="3619500"/>
            <a:ext cx="1778000" cy="368300"/>
          </a:xfrm>
          <a:prstGeom prst="rect">
            <a:avLst/>
          </a:prstGeom>
          <a:noFill/>
        </p:spPr>
        <p:txBody>
          <a:bodyPr wrap="none" rtlCol="0">
            <a:spAutoFit/>
          </a:bodyPr>
          <a:lstStyle/>
          <a:p>
            <a:pPr algn="l">
              <a:buNone/>
            </a:pPr>
            <a:r>
              <a:rPr lang="en-US" sz="1600" b="1" dirty="0">
                <a:solidFill>
                  <a:srgbClr val="A14B4B"/>
                </a:solidFill>
              </a:rPr>
              <a:t>Change</a:t>
            </a:r>
          </a:p>
        </p:txBody>
      </p:sp>
      <p:sp>
        <p:nvSpPr>
          <p:cNvPr id="11" name="TextBox 10">
            <a:extLst>
              <a:ext uri="{FF2B5EF4-FFF2-40B4-BE49-F238E27FC236}">
                <a16:creationId xmlns:a16="http://schemas.microsoft.com/office/drawing/2014/main" id="{98F79CB5-5AB7-3398-B570-215186820C9F}"/>
              </a:ext>
            </a:extLst>
          </p:cNvPr>
          <p:cNvSpPr txBox="1"/>
          <p:nvPr/>
        </p:nvSpPr>
        <p:spPr>
          <a:xfrm>
            <a:off x="9601200" y="4902200"/>
            <a:ext cx="1778000" cy="368300"/>
          </a:xfrm>
          <a:prstGeom prst="rect">
            <a:avLst/>
          </a:prstGeom>
          <a:noFill/>
        </p:spPr>
        <p:txBody>
          <a:bodyPr wrap="none" rtlCol="0">
            <a:spAutoFit/>
          </a:bodyPr>
          <a:lstStyle/>
          <a:p>
            <a:pPr algn="l">
              <a:buNone/>
            </a:pPr>
            <a:r>
              <a:rPr lang="en-US" sz="1600" b="1" dirty="0">
                <a:solidFill>
                  <a:srgbClr val="5A7D5A"/>
                </a:solidFill>
              </a:rPr>
              <a:t>Schema Version</a:t>
            </a:r>
          </a:p>
        </p:txBody>
      </p:sp>
      <p:sp>
        <p:nvSpPr>
          <p:cNvPr id="50" name="div"/>
          <p:cNvSpPr/>
          <p:nvPr/>
        </p:nvSpPr>
        <p:spPr>
          <a:xfrm>
            <a:off x="457200" y="889000"/>
            <a:ext cx="107188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731915C3-FEDD-2683-6395-D98FA3645EF2}"/>
              </a:ext>
            </a:extLst>
          </p:cNvPr>
          <p:cNvSpPr txBox="1"/>
          <p:nvPr/>
        </p:nvSpPr>
        <p:spPr>
          <a:xfrm>
            <a:off x="762000" y="1574800"/>
            <a:ext cx="8445500" cy="39962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NOT EXISTS (SELECT 1 FROM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AND [Value] = '1')</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RAISERROR('Schema_Update.2.sql: expected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TABLE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COLUMN Abbreviation NVARCHAR(3) NULL;</a:t>
            </a: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Abbreviation = RTRIM(Abbreviation);</a:t>
            </a:r>
          </a:p>
          <a:p>
            <a:pPr>
              <a:lnSpc>
                <a:spcPts val="1800"/>
              </a:lnSpc>
              <a:buNone/>
            </a:pPr>
            <a:endParaRPr lang="en-US" sz="1100" b="0" dirty="0">
              <a:solidFill>
                <a:srgbClr val="1F3A5F"/>
              </a:solidFill>
              <a:effectLst/>
              <a:latin typeface="Consolas"/>
              <a:cs typeface="Consolas"/>
            </a:endParaRP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dbo.MetaInformation</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[Value] = '2'</a:t>
            </a:r>
          </a:p>
          <a:p>
            <a:pPr>
              <a:lnSpc>
                <a:spcPts val="1800"/>
              </a:lnSpc>
              <a:buNone/>
            </a:pPr>
            <a:r>
              <a:rPr lang="en-US" sz="1100" b="0" dirty="0">
                <a:solidFill>
                  <a:srgbClr val="1F3A5F"/>
                </a:solidFill>
                <a:effectLst/>
                <a:latin typeface="Consolas"/>
                <a:cs typeface="Consolas"/>
              </a:rPr>
              <a:t>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a:t>
            </a:r>
          </a:p>
        </p:txBody>
      </p:sp>
    </p:spTree>
    <p:extLst>
      <p:ext uri="{BB962C8B-B14F-4D97-AF65-F5344CB8AC3E}">
        <p14:creationId xmlns:p14="http://schemas.microsoft.com/office/powerpoint/2010/main" val="2456586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xit" presetSubtype="0" fill="hold" grpId="1" nodeType="clickEffect">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presetID="1" presetClass="exit" presetSubtype="0" fill="hold" grpId="1" nodeType="withEffect">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presetID="21" presetClass="entr" presetSubtype="1"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heel(1)">
                                      <p:cBhvr>
                                        <p:cTn id="20" dur="500"/>
                                        <p:tgtEl>
                                          <p:spTgt spid="7"/>
                                        </p:tgtEl>
                                      </p:cBhvr>
                                    </p:animEffect>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7"/>
                                        </p:tgtEl>
                                        <p:attrNameLst>
                                          <p:attrName>style.visibility</p:attrName>
                                        </p:attrNameLst>
                                      </p:cBhvr>
                                      <p:to>
                                        <p:strVal val="hidden"/>
                                      </p:to>
                                    </p:set>
                                  </p:childTnLst>
                                </p:cTn>
                              </p:par>
                            </p:childTnLst>
                          </p:cTn>
                        </p:par>
                        <p:par>
                          <p:cTn id="31" fill="hold">
                            <p:stCondLst>
                              <p:cond delay="0"/>
                            </p:stCondLst>
                            <p:childTnLst>
                              <p:par>
                                <p:cTn id="32" presetID="21" presetClass="entr" presetSubtype="1"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heel(1)">
                                      <p:cBhvr>
                                        <p:cTn id="34" dur="500"/>
                                        <p:tgtEl>
                                          <p:spTgt spid="8"/>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8"/>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7" grpId="0" animBg="1"/>
      <p:bldP spid="7" grpId="1" animBg="1"/>
      <p:bldP spid="6" grpId="0" animBg="1"/>
      <p:bldP spid="6" grpId="1" animBg="1"/>
      <p:bldP spid="9" grpId="0"/>
      <p:bldP spid="9" grpId="1"/>
      <p:bldP spid="10" grpId="0"/>
      <p:bldP spid="10" grpId="1"/>
      <p:bldP spid="11" grpId="0"/>
      <p:bldP spid="11" grpId="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63194-6851-A0C8-2C37-9938A22269D0}"/>
            </a:ext>
          </a:extLst>
        </p:cNvPr>
        <p:cNvGrpSpPr/>
        <p:nvPr/>
      </p:nvGrpSpPr>
      <p:grpSpPr>
        <a:xfrm>
          <a:off x="0" y="0"/>
          <a:ext cx="0" cy="0"/>
          <a:chOff x="0" y="0"/>
          <a:chExt cx="0" cy="0"/>
        </a:xfrm>
      </p:grpSpPr>
      <p:sp>
        <p:nvSpPr>
          <p:cNvPr id="51" name="panel"/>
          <p:cNvSpPr/>
          <p:nvPr/>
        </p:nvSpPr>
        <p:spPr>
          <a:xfrm>
            <a:off x="1041400" y="1778000"/>
            <a:ext cx="10109200" cy="1397000"/>
          </a:xfrm>
          <a:prstGeom prst="roundRect">
            <a:avLst>
              <a:gd name="adj" fmla="val 4000"/>
            </a:avLst>
          </a:prstGeom>
          <a:solidFill>
            <a:srgbClr val="F2F5F9"/>
          </a:solidFill>
          <a:ln>
            <a:noFill/>
          </a:ln>
        </p:spPr>
        <p:txBody>
          <a:bodyPr/>
          <a:lstStyle/>
          <a:p>
            <a:endParaRPr/>
          </a:p>
        </p:txBody>
      </p:sp>
      <p:sp>
        <p:nvSpPr>
          <p:cNvPr id="2" name="TextBox 1">
            <a:extLst>
              <a:ext uri="{FF2B5EF4-FFF2-40B4-BE49-F238E27FC236}">
                <a16:creationId xmlns:a16="http://schemas.microsoft.com/office/drawing/2014/main" id="{5D2C0A10-E39B-F200-1CB8-FC739F3618BE}"/>
              </a:ext>
            </a:extLst>
          </p:cNvPr>
          <p:cNvSpPr txBox="1"/>
          <p:nvPr/>
        </p:nvSpPr>
        <p:spPr>
          <a:xfrm>
            <a:off x="1041400" y="508000"/>
            <a:ext cx="1172116" cy="400110"/>
          </a:xfrm>
          <a:prstGeom prst="rect">
            <a:avLst/>
          </a:prstGeom>
          <a:noFill/>
        </p:spPr>
        <p:txBody>
          <a:bodyPr wrap="none" rtlCol="0">
            <a:spAutoFit/>
          </a:bodyPr>
          <a:lstStyle/>
          <a:p>
            <a:r>
              <a:rPr lang="en-US" sz="2000" dirty="0">
                <a:solidFill>
                  <a:srgbClr val="1F3A5F"/>
                </a:solidFill>
                <a:latin typeface="Consolas"/>
              </a:rPr>
              <a:t>prompt:</a:t>
            </a:r>
          </a:p>
        </p:txBody>
      </p:sp>
      <p:sp>
        <p:nvSpPr>
          <p:cNvPr id="50" name="div"/>
          <p:cNvSpPr/>
          <p:nvPr/>
        </p:nvSpPr>
        <p:spPr>
          <a:xfrm>
            <a:off x="1041400" y="1066800"/>
            <a:ext cx="10109200" cy="12700"/>
          </a:xfrm>
          <a:prstGeom prst="rect">
            <a:avLst/>
          </a:prstGeom>
          <a:solidFill>
            <a:srgbClr val="DCE3EC"/>
          </a:solidFill>
          <a:ln>
            <a:noFill/>
          </a:ln>
        </p:spPr>
        <p:txBody>
          <a:bodyPr/>
          <a:lstStyle/>
          <a:p>
            <a:endParaRPr/>
          </a:p>
        </p:txBody>
      </p:sp>
      <p:sp>
        <p:nvSpPr>
          <p:cNvPr id="52" name="bar"/>
          <p:cNvSpPr/>
          <p:nvPr/>
        </p:nvSpPr>
        <p:spPr>
          <a:xfrm>
            <a:off x="1041400" y="1778000"/>
            <a:ext cx="63500" cy="1397000"/>
          </a:xfrm>
          <a:prstGeom prst="rect">
            <a:avLst/>
          </a:prstGeom>
          <a:solidFill>
            <a:srgbClr val="415A77"/>
          </a:solidFill>
          <a:ln>
            <a:noFill/>
          </a:ln>
        </p:spPr>
        <p:txBody>
          <a:bodyPr/>
          <a:lstStyle/>
          <a:p>
            <a:endParaRPr/>
          </a:p>
        </p:txBody>
      </p:sp>
      <p:sp>
        <p:nvSpPr>
          <p:cNvPr id="4" name="TextBox 3">
            <a:extLst>
              <a:ext uri="{FF2B5EF4-FFF2-40B4-BE49-F238E27FC236}">
                <a16:creationId xmlns:a16="http://schemas.microsoft.com/office/drawing/2014/main" id="{F99BB987-26E2-683E-4B4B-219EB22FA2CB}"/>
              </a:ext>
            </a:extLst>
          </p:cNvPr>
          <p:cNvSpPr txBox="1"/>
          <p:nvPr/>
        </p:nvSpPr>
        <p:spPr>
          <a:xfrm>
            <a:off x="1473200" y="1905000"/>
            <a:ext cx="9144000" cy="1143000"/>
          </a:xfrm>
          <a:prstGeom prst="rect">
            <a:avLst/>
          </a:prstGeom>
          <a:noFill/>
        </p:spPr>
        <p:txBody>
          <a:bodyPr wrap="square" anchor="ctr" anchorCtr="0">
            <a:noAutofit/>
          </a:bodyPr>
          <a:lstStyle/>
          <a:p>
            <a:pPr>
              <a:lnSpc>
                <a:spcPts val="1800"/>
              </a:lnSpc>
              <a:buNone/>
            </a:pPr>
            <a:r>
              <a:rPr lang="en-US" sz="1800" b="0" dirty="0">
                <a:effectLst/>
                <a:latin typeface="Consolas"/>
              </a:rPr>
              <a:t>Please read @</a:t>
            </a:r>
            <a:r>
              <a:rPr lang="en-US" sz="1800" dirty="0">
                <a:solidFill>
                  <a:srgbClr val="1F3A5F"/>
                </a:solidFill>
                <a:latin typeface="Consolas"/>
              </a:rPr>
              <a:t>update-database-</a:t>
            </a:r>
            <a:r>
              <a:rPr lang="en-US" sz="1800" dirty="0" err="1">
                <a:solidFill>
                  <a:srgbClr val="1F3A5F"/>
                </a:solidFill>
                <a:latin typeface="Consolas"/>
              </a:rPr>
              <a:t>schema.process.md</a:t>
            </a:r>
            <a:endParaRPr lang="en-US" sz="1200" dirty="0">
              <a:solidFill>
                <a:srgbClr val="800000"/>
              </a:solidFill>
              <a:latin typeface="Menlo" panose="020B0609030804020204" pitchFamily="49" charset="0"/>
            </a:endParaRPr>
          </a:p>
          <a:p>
            <a:pPr>
              <a:lnSpc>
                <a:spcPts val="1800"/>
              </a:lnSpc>
              <a:buNone/>
            </a:pPr>
            <a:r>
              <a:rPr lang="en-US" sz="1800" b="0" dirty="0">
                <a:effectLst/>
                <a:latin typeface="Consolas"/>
              </a:rPr>
              <a:t>The country table returns spaces in </a:t>
            </a:r>
            <a:r>
              <a:rPr lang="en-US" sz="1800" dirty="0">
                <a:solidFill>
                  <a:srgbClr val="1F3A5F"/>
                </a:solidFill>
                <a:latin typeface="Consolas"/>
              </a:rPr>
              <a:t>the Abbreviation. Please fix this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304554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404C3-F753-1CF7-C203-A04E8C77EA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D29CA29-E080-AAD4-21CE-7CA91049176C}"/>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Testing Schema Updates</a:t>
            </a:r>
          </a:p>
        </p:txBody>
      </p:sp>
      <p:sp>
        <p:nvSpPr>
          <p:cNvPr id="50" name="div">
            <a:extLst>
              <a:ext uri="{FF2B5EF4-FFF2-40B4-BE49-F238E27FC236}">
                <a16:creationId xmlns:a16="http://schemas.microsoft.com/office/drawing/2014/main" id="{88C5697F-B209-4E2A-8040-AEBB6FCF4B72}"/>
              </a:ext>
            </a:extLst>
          </p:cNvPr>
          <p:cNvSpPr/>
          <p:nvPr/>
        </p:nvSpPr>
        <p:spPr>
          <a:xfrm>
            <a:off x="457200" y="889000"/>
            <a:ext cx="107188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38044018-81AD-8746-E146-8A7BBA71907C}"/>
              </a:ext>
            </a:extLst>
          </p:cNvPr>
          <p:cNvSpPr txBox="1"/>
          <p:nvPr/>
        </p:nvSpPr>
        <p:spPr>
          <a:xfrm>
            <a:off x="762000" y="1574800"/>
            <a:ext cx="8445500" cy="39962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NOT EXISTS (SELECT 1 FROM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AND [Value] = '1')</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RAISERROR('Schema_Update.2.sql: expected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TABLE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COLUMN Abbreviation NVARCHAR(3) NULL;</a:t>
            </a: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Abbreviation = RTRIM(Abbreviation);</a:t>
            </a:r>
          </a:p>
          <a:p>
            <a:pPr>
              <a:lnSpc>
                <a:spcPts val="1800"/>
              </a:lnSpc>
              <a:buNone/>
            </a:pPr>
            <a:endParaRPr lang="en-US" sz="1100" b="0" dirty="0">
              <a:solidFill>
                <a:srgbClr val="1F3A5F"/>
              </a:solidFill>
              <a:effectLst/>
              <a:latin typeface="Consolas"/>
              <a:cs typeface="Consolas"/>
            </a:endParaRP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dbo.MetaInformation</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[Value] = '2'</a:t>
            </a:r>
          </a:p>
          <a:p>
            <a:pPr>
              <a:lnSpc>
                <a:spcPts val="1800"/>
              </a:lnSpc>
              <a:buNone/>
            </a:pPr>
            <a:r>
              <a:rPr lang="en-US" sz="1100" b="0" dirty="0">
                <a:solidFill>
                  <a:srgbClr val="1F3A5F"/>
                </a:solidFill>
                <a:effectLst/>
                <a:latin typeface="Consolas"/>
                <a:cs typeface="Consolas"/>
              </a:rPr>
              <a:t>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a:t>
            </a:r>
          </a:p>
        </p:txBody>
      </p:sp>
      <p:sp>
        <p:nvSpPr>
          <p:cNvPr id="2" name="TextBox 1">
            <a:extLst>
              <a:ext uri="{FF2B5EF4-FFF2-40B4-BE49-F238E27FC236}">
                <a16:creationId xmlns:a16="http://schemas.microsoft.com/office/drawing/2014/main" id="{7485B0C5-08E6-A3CD-546F-2C61293A70B4}"/>
              </a:ext>
            </a:extLst>
          </p:cNvPr>
          <p:cNvSpPr txBox="1"/>
          <p:nvPr/>
        </p:nvSpPr>
        <p:spPr>
          <a:xfrm>
            <a:off x="762000" y="1221678"/>
            <a:ext cx="8445500" cy="3531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BEGIN TRANSACTION;</a:t>
            </a:r>
          </a:p>
        </p:txBody>
      </p:sp>
      <p:sp>
        <p:nvSpPr>
          <p:cNvPr id="3" name="TextBox 2">
            <a:extLst>
              <a:ext uri="{FF2B5EF4-FFF2-40B4-BE49-F238E27FC236}">
                <a16:creationId xmlns:a16="http://schemas.microsoft.com/office/drawing/2014/main" id="{807FE276-E652-6912-9E01-E6BC95ED3DF0}"/>
              </a:ext>
            </a:extLst>
          </p:cNvPr>
          <p:cNvSpPr txBox="1"/>
          <p:nvPr/>
        </p:nvSpPr>
        <p:spPr>
          <a:xfrm>
            <a:off x="762000" y="5571022"/>
            <a:ext cx="8445500" cy="353122"/>
          </a:xfrm>
          <a:prstGeom prst="rect">
            <a:avLst/>
          </a:prstGeom>
          <a:noFill/>
        </p:spPr>
        <p:txBody>
          <a:bodyPr wrap="square">
            <a:noAutofit/>
          </a:bodyPr>
          <a:lstStyle/>
          <a:p>
            <a:pPr>
              <a:lnSpc>
                <a:spcPts val="1800"/>
              </a:lnSpc>
              <a:buNone/>
            </a:pPr>
            <a:r>
              <a:rPr lang="en-US" sz="1100" dirty="0">
                <a:solidFill>
                  <a:srgbClr val="1F3A5F"/>
                </a:solidFill>
                <a:latin typeface="Consolas"/>
                <a:cs typeface="Consolas"/>
              </a:rPr>
              <a:t>ROLLBACK</a:t>
            </a:r>
            <a:r>
              <a:rPr lang="en-US" sz="1100" b="0" dirty="0">
                <a:solidFill>
                  <a:srgbClr val="1F3A5F"/>
                </a:solidFill>
                <a:effectLst/>
                <a:latin typeface="Consolas"/>
                <a:cs typeface="Consolas"/>
              </a:rPr>
              <a:t> TRANSACTION;</a:t>
            </a:r>
          </a:p>
        </p:txBody>
      </p:sp>
      <p:sp>
        <p:nvSpPr>
          <p:cNvPr id="12" name="Triangle 11">
            <a:extLst>
              <a:ext uri="{FF2B5EF4-FFF2-40B4-BE49-F238E27FC236}">
                <a16:creationId xmlns:a16="http://schemas.microsoft.com/office/drawing/2014/main" id="{724ACAA6-CECD-BE42-BFF1-D4BFB1EA90D4}"/>
              </a:ext>
            </a:extLst>
          </p:cNvPr>
          <p:cNvSpPr/>
          <p:nvPr/>
        </p:nvSpPr>
        <p:spPr>
          <a:xfrm rot="5400000">
            <a:off x="9809666" y="552450"/>
            <a:ext cx="427228" cy="368300"/>
          </a:xfrm>
          <a:prstGeom prst="triangle">
            <a:avLst/>
          </a:prstGeom>
          <a:solidFill>
            <a:srgbClr val="5A7D5A"/>
          </a:solidFill>
          <a:ln>
            <a:noFill/>
          </a:ln>
        </p:spPr>
        <p:txBody>
          <a:bodyPr lIns="102870" tIns="102870" rIns="102870" bIns="102870" anchor="t"/>
          <a:lstStyle/>
          <a:p>
            <a:endParaRPr lang="en-US" sz="825" b="1">
              <a:solidFill>
                <a:srgbClr val="7FB280"/>
              </a:solidFill>
            </a:endParaRPr>
          </a:p>
        </p:txBody>
      </p:sp>
    </p:spTree>
    <p:extLst>
      <p:ext uri="{BB962C8B-B14F-4D97-AF65-F5344CB8AC3E}">
        <p14:creationId xmlns:p14="http://schemas.microsoft.com/office/powerpoint/2010/main" val="2991111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 calcmode="lin" valueType="num">
                                      <p:cBhvr>
                                        <p:cTn id="17" dur="500" fill="hold"/>
                                        <p:tgtEl>
                                          <p:spTgt spid="12"/>
                                        </p:tgtEl>
                                        <p:attrNameLst>
                                          <p:attrName>ppt_w</p:attrName>
                                        </p:attrNameLst>
                                      </p:cBhvr>
                                      <p:tavLst>
                                        <p:tav tm="0">
                                          <p:val>
                                            <p:fltVal val="0"/>
                                          </p:val>
                                        </p:tav>
                                        <p:tav tm="100000">
                                          <p:val>
                                            <p:strVal val="#ppt_w"/>
                                          </p:val>
                                        </p:tav>
                                      </p:tavLst>
                                    </p:anim>
                                    <p:anim calcmode="lin" valueType="num">
                                      <p:cBhvr>
                                        <p:cTn id="18" dur="500" fill="hold"/>
                                        <p:tgtEl>
                                          <p:spTgt spid="12"/>
                                        </p:tgtEl>
                                        <p:attrNameLst>
                                          <p:attrName>ppt_h</p:attrName>
                                        </p:attrNameLst>
                                      </p:cBhvr>
                                      <p:tavLst>
                                        <p:tav tm="0">
                                          <p:val>
                                            <p:fltVal val="0"/>
                                          </p:val>
                                        </p:tav>
                                        <p:tav tm="100000">
                                          <p:val>
                                            <p:strVal val="#ppt_h"/>
                                          </p:val>
                                        </p:tav>
                                      </p:tavLst>
                                    </p:anim>
                                    <p:animEffect transition="in" filter="fade">
                                      <p:cBhvr>
                                        <p:cTn id="1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EEA09-34DC-11E3-C1E8-FE0E2A447E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855C249-9A60-A0CE-B665-2CB4F8E26604}"/>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Testing Schema Updates</a:t>
            </a:r>
          </a:p>
        </p:txBody>
      </p:sp>
      <p:sp>
        <p:nvSpPr>
          <p:cNvPr id="50" name="div">
            <a:extLst>
              <a:ext uri="{FF2B5EF4-FFF2-40B4-BE49-F238E27FC236}">
                <a16:creationId xmlns:a16="http://schemas.microsoft.com/office/drawing/2014/main" id="{984C7FE4-2B1F-3F68-3E7C-0C2E341846A6}"/>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871360AE-99FF-43EF-B377-7B21EDD646EF}"/>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1F8862D1-5A0C-FB2F-F4A3-A445A4658DDB}"/>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3002783-AC39-D50F-1A5C-0C71EBCAEFAC}"/>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DC99ADB3-1090-B22B-5C85-13C614C16FF4}"/>
              </a:ext>
            </a:extLst>
          </p:cNvPr>
          <p:cNvSpPr/>
          <p:nvPr/>
        </p:nvSpPr>
        <p:spPr>
          <a:xfrm>
            <a:off x="457200" y="1267714"/>
            <a:ext cx="6367346" cy="137160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AB421FE-41C4-C85D-1662-4D3F16F1E4BB}"/>
              </a:ext>
            </a:extLst>
          </p:cNvPr>
          <p:cNvSpPr txBox="1"/>
          <p:nvPr/>
        </p:nvSpPr>
        <p:spPr>
          <a:xfrm>
            <a:off x="711200" y="1496314"/>
            <a:ext cx="6367346"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test-database-</a:t>
            </a:r>
            <a:r>
              <a:rPr lang="en-US" sz="2000" dirty="0" err="1">
                <a:solidFill>
                  <a:srgbClr val="FFFFFF"/>
                </a:solidFill>
                <a:latin typeface="Consolas"/>
              </a:rPr>
              <a:t>update.cmd</a:t>
            </a:r>
            <a:r>
              <a:rPr lang="en-US" sz="2000" dirty="0">
                <a:solidFill>
                  <a:srgbClr val="FFFFFF"/>
                </a:solidFill>
                <a:latin typeface="Consolas"/>
              </a:rPr>
              <a:t> 22</a:t>
            </a:r>
          </a:p>
          <a:p>
            <a:pPr>
              <a:lnSpc>
                <a:spcPts val="2600"/>
              </a:lnSpc>
            </a:pPr>
            <a:r>
              <a:rPr lang="en-US" sz="2000" dirty="0">
                <a:solidFill>
                  <a:srgbClr val="FFFFFF"/>
                </a:solidFill>
                <a:latin typeface="Consolas"/>
              </a:rPr>
              <a:t>SUCCESS</a:t>
            </a:r>
          </a:p>
        </p:txBody>
      </p:sp>
      <p:grpSp>
        <p:nvGrpSpPr>
          <p:cNvPr id="11" name="Group 10">
            <a:extLst>
              <a:ext uri="{FF2B5EF4-FFF2-40B4-BE49-F238E27FC236}">
                <a16:creationId xmlns:a16="http://schemas.microsoft.com/office/drawing/2014/main" id="{F9F36937-4289-1C45-7486-2D2B412AAD7E}"/>
              </a:ext>
            </a:extLst>
          </p:cNvPr>
          <p:cNvGrpSpPr/>
          <p:nvPr/>
        </p:nvGrpSpPr>
        <p:grpSpPr>
          <a:xfrm>
            <a:off x="7332546" y="1265481"/>
            <a:ext cx="1665284" cy="461665"/>
            <a:chOff x="6359523" y="2343503"/>
            <a:chExt cx="1665284" cy="461665"/>
          </a:xfrm>
        </p:grpSpPr>
        <p:sp>
          <p:nvSpPr>
            <p:cNvPr id="13" name="Rounded Rectangle 12">
              <a:extLst>
                <a:ext uri="{FF2B5EF4-FFF2-40B4-BE49-F238E27FC236}">
                  <a16:creationId xmlns:a16="http://schemas.microsoft.com/office/drawing/2014/main" id="{F29AD7DA-416E-5751-C1CA-28E975994EDC}"/>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F502D6C-F2B4-7DB6-DBFB-1CFC5CF317B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760047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94533-2320-E485-7F89-3920BD91B559}"/>
            </a:ext>
          </a:extLst>
        </p:cNvPr>
        <p:cNvGrpSpPr/>
        <p:nvPr/>
      </p:nvGrpSpPr>
      <p:grpSpPr>
        <a:xfrm>
          <a:off x="0" y="0"/>
          <a:ext cx="0" cy="0"/>
          <a:chOff x="0" y="0"/>
          <a:chExt cx="0" cy="0"/>
        </a:xfrm>
      </p:grpSpPr>
      <p:sp>
        <p:nvSpPr>
          <p:cNvPr id="3" name="guidechip">
            <a:extLst>
              <a:ext uri="{FF2B5EF4-FFF2-40B4-BE49-F238E27FC236}">
                <a16:creationId xmlns:a16="http://schemas.microsoft.com/office/drawing/2014/main" id="{C67F3C82-1530-23D2-F311-89C0EE9AFF3E}"/>
              </a:ext>
            </a:extLst>
          </p:cNvPr>
          <p:cNvSpPr/>
          <p:nvPr/>
        </p:nvSpPr>
        <p:spPr>
          <a:xfrm>
            <a:off x="1752948" y="2931703"/>
            <a:ext cx="4470400" cy="419100"/>
          </a:xfrm>
          <a:prstGeom prst="roundRect">
            <a:avLst>
              <a:gd name="adj" fmla="val 25000"/>
            </a:avLst>
          </a:prstGeom>
          <a:solidFill>
            <a:srgbClr val="C7E8AE"/>
          </a:solidFill>
          <a:ln>
            <a:noFill/>
          </a:ln>
        </p:spPr>
        <p:txBody>
          <a:bodyPr/>
          <a:lstStyle/>
          <a:p>
            <a:endParaRPr/>
          </a:p>
        </p:txBody>
      </p:sp>
      <p:sp>
        <p:nvSpPr>
          <p:cNvPr id="2" name="TextBox 1">
            <a:extLst>
              <a:ext uri="{FF2B5EF4-FFF2-40B4-BE49-F238E27FC236}">
                <a16:creationId xmlns:a16="http://schemas.microsoft.com/office/drawing/2014/main" id="{1C5D8ACE-893E-25CD-D61C-1E94D3C058E6}"/>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
        <p:nvSpPr>
          <p:cNvPr id="4" name="TextBox 3">
            <a:extLst>
              <a:ext uri="{FF2B5EF4-FFF2-40B4-BE49-F238E27FC236}">
                <a16:creationId xmlns:a16="http://schemas.microsoft.com/office/drawing/2014/main" id="{35F307EE-C9E4-018E-70AC-E66D85BC7430}"/>
              </a:ext>
            </a:extLst>
          </p:cNvPr>
          <p:cNvSpPr txBox="1"/>
          <p:nvPr/>
        </p:nvSpPr>
        <p:spPr>
          <a:xfrm>
            <a:off x="1041400" y="1778000"/>
            <a:ext cx="9652000" cy="1572803"/>
          </a:xfrm>
          <a:prstGeom prst="rect">
            <a:avLst/>
          </a:prstGeom>
          <a:noFill/>
        </p:spPr>
        <p:txBody>
          <a:bodyPr wrap="square">
            <a:spAutoFit/>
          </a:bodyPr>
          <a:lstStyle/>
          <a:p>
            <a:pPr algn="l">
              <a:lnSpc>
                <a:spcPts val="4000"/>
              </a:lnSpc>
              <a:buNone/>
            </a:pPr>
            <a:r>
              <a:rPr lang="en-US" sz="2000" b="1" dirty="0">
                <a:solidFill>
                  <a:srgbClr val="5A7D5A"/>
                </a:solidFill>
                <a:latin typeface="Consolas"/>
              </a:rPr>
              <a:t>[X]  </a:t>
            </a:r>
            <a:r>
              <a:rPr lang="en-US" sz="2000" dirty="0">
                <a:solidFill>
                  <a:srgbClr val="1F3A5F"/>
                </a:solidFill>
              </a:rPr>
              <a:t>AI can’t see the Database</a:t>
            </a:r>
          </a:p>
          <a:p>
            <a:pPr algn="l">
              <a:lnSpc>
                <a:spcPts val="4000"/>
              </a:lnSpc>
              <a:buNone/>
            </a:pPr>
            <a:r>
              <a:rPr lang="en-US" sz="2000" b="1" dirty="0">
                <a:solidFill>
                  <a:srgbClr val="5A7D5A"/>
                </a:solidFill>
                <a:latin typeface="Consolas"/>
              </a:rPr>
              <a:t>[X]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1F3A5F"/>
                </a:solidFill>
              </a:rPr>
              <a:t>Make a backup of production</a:t>
            </a:r>
          </a:p>
        </p:txBody>
      </p:sp>
    </p:spTree>
    <p:extLst>
      <p:ext uri="{BB962C8B-B14F-4D97-AF65-F5344CB8AC3E}">
        <p14:creationId xmlns:p14="http://schemas.microsoft.com/office/powerpoint/2010/main" val="1069364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90FF2-4D2E-284F-355A-6B28BED88BD2}"/>
            </a:ext>
          </a:extLst>
        </p:cNvPr>
        <p:cNvGrpSpPr/>
        <p:nvPr/>
      </p:nvGrpSpPr>
      <p:grpSpPr>
        <a:xfrm>
          <a:off x="0" y="0"/>
          <a:ext cx="0" cy="0"/>
          <a:chOff x="0" y="0"/>
          <a:chExt cx="0" cy="0"/>
        </a:xfrm>
      </p:grpSpPr>
      <p:sp>
        <p:nvSpPr>
          <p:cNvPr id="50" name="chip"/>
          <p:cNvSpPr/>
          <p:nvPr/>
        </p:nvSpPr>
        <p:spPr>
          <a:xfrm>
            <a:off x="1168400" y="1397000"/>
            <a:ext cx="1600200" cy="558800"/>
          </a:xfrm>
          <a:prstGeom prst="roundRect">
            <a:avLst>
              <a:gd name="adj" fmla="val 25000"/>
            </a:avLst>
          </a:prstGeom>
          <a:solidFill>
            <a:srgbClr val="B9DCF5"/>
          </a:solidFill>
          <a:ln>
            <a:noFill/>
          </a:ln>
        </p:spPr>
        <p:txBody>
          <a:bodyPr/>
          <a:lstStyle/>
          <a:p>
            <a:endParaRPr/>
          </a:p>
        </p:txBody>
      </p:sp>
      <p:sp>
        <p:nvSpPr>
          <p:cNvPr id="51" name="term"/>
          <p:cNvSpPr/>
          <p:nvPr/>
        </p:nvSpPr>
        <p:spPr>
          <a:xfrm>
            <a:off x="1041400" y="2159000"/>
            <a:ext cx="6350000" cy="2438400"/>
          </a:xfrm>
          <a:prstGeom prst="roundRect">
            <a:avLst>
              <a:gd name="adj" fmla="val 5000"/>
            </a:avLst>
          </a:prstGeom>
          <a:solidFill>
            <a:srgbClr val="1F3A5F"/>
          </a:solidFill>
          <a:ln>
            <a:noFill/>
          </a:ln>
        </p:spPr>
        <p:txBody>
          <a:bodyPr/>
          <a:lstStyle/>
          <a:p>
            <a:endParaRPr/>
          </a:p>
        </p:txBody>
      </p:sp>
      <p:sp>
        <p:nvSpPr>
          <p:cNvPr id="4" name="TextBox 3">
            <a:extLst>
              <a:ext uri="{FF2B5EF4-FFF2-40B4-BE49-F238E27FC236}">
                <a16:creationId xmlns:a16="http://schemas.microsoft.com/office/drawing/2014/main" id="{5F381659-F338-DA72-9741-14C6082470C8}"/>
              </a:ext>
            </a:extLst>
          </p:cNvPr>
          <p:cNvSpPr txBox="1"/>
          <p:nvPr/>
        </p:nvSpPr>
        <p:spPr>
          <a:xfrm>
            <a:off x="1651000" y="2438400"/>
            <a:ext cx="6096000" cy="1905000"/>
          </a:xfrm>
          <a:prstGeom prst="rect">
            <a:avLst/>
          </a:prstGeom>
          <a:noFill/>
        </p:spPr>
        <p:txBody>
          <a:bodyPr wrap="square">
            <a:spAutoFit/>
          </a:bodyPr>
          <a:lstStyle/>
          <a:p>
            <a:pPr algn="l">
              <a:lnSpc>
                <a:spcPts val="3600"/>
              </a:lnSpc>
              <a:buNone/>
            </a:pPr>
            <a:r>
              <a:rPr lang="en-US" sz="2000" dirty="0">
                <a:solidFill>
                  <a:srgbClr val="DCE3EC"/>
                </a:solidFill>
                <a:latin typeface="Consolas"/>
              </a:rPr>
              <a:t>backup-production.cmd</a:t>
            </a:r>
          </a:p>
          <a:p>
            <a:pPr algn="l">
              <a:lnSpc>
                <a:spcPts val="3600"/>
              </a:lnSpc>
              <a:buNone/>
            </a:pPr>
            <a:r>
              <a:rPr lang="en-US" sz="2000" dirty="0">
                <a:solidFill>
                  <a:srgbClr val="DCE3EC"/>
                </a:solidFill>
                <a:latin typeface="Consolas"/>
              </a:rPr>
              <a:t>create-schedule-task.cmd</a:t>
            </a:r>
          </a:p>
          <a:p>
            <a:pPr algn="l">
              <a:lnSpc>
                <a:spcPts val="3600"/>
              </a:lnSpc>
              <a:buNone/>
            </a:pPr>
            <a:r>
              <a:rPr lang="en-US" sz="2000" dirty="0">
                <a:solidFill>
                  <a:srgbClr val="DCE3EC"/>
                </a:solidFill>
                <a:latin typeface="Consolas"/>
              </a:rPr>
              <a:t>restore-local.cmd</a:t>
            </a:r>
          </a:p>
          <a:p>
            <a:pPr algn="l">
              <a:lnSpc>
                <a:spcPts val="3600"/>
              </a:lnSpc>
              <a:buNone/>
            </a:pPr>
            <a:r>
              <a:rPr lang="en-US" sz="2000" dirty="0">
                <a:solidFill>
                  <a:srgbClr val="DCE3EC"/>
                </a:solidFill>
                <a:latin typeface="Consolas"/>
              </a:rPr>
              <a:t>restore-staging.cmd</a:t>
            </a:r>
          </a:p>
        </p:txBody>
      </p:sp>
      <p:sp>
        <p:nvSpPr>
          <p:cNvPr id="2" name="TextBox 1">
            <a:extLst>
              <a:ext uri="{FF2B5EF4-FFF2-40B4-BE49-F238E27FC236}">
                <a16:creationId xmlns:a16="http://schemas.microsoft.com/office/drawing/2014/main" id="{9AE0E8AF-A9C2-9983-1202-293B9FE48F01}"/>
              </a:ext>
            </a:extLst>
          </p:cNvPr>
          <p:cNvSpPr txBox="1"/>
          <p:nvPr/>
        </p:nvSpPr>
        <p:spPr>
          <a:xfrm>
            <a:off x="1600066" y="1473200"/>
            <a:ext cx="736868" cy="369332"/>
          </a:xfrm>
          <a:prstGeom prst="rect">
            <a:avLst/>
          </a:prstGeom>
          <a:noFill/>
        </p:spPr>
        <p:txBody>
          <a:bodyPr wrap="none" rtlCol="0">
            <a:spAutoFit/>
          </a:bodyPr>
          <a:lstStyle/>
          <a:p>
            <a:pPr algn="ctr">
              <a:buNone/>
            </a:pPr>
            <a:r>
              <a:rPr lang="en-US" sz="1800" b="1" dirty="0">
                <a:solidFill>
                  <a:srgbClr val="1F3A5F"/>
                </a:solidFill>
              </a:rPr>
              <a:t>Tools</a:t>
            </a:r>
          </a:p>
        </p:txBody>
      </p:sp>
    </p:spTree>
    <p:extLst>
      <p:ext uri="{BB962C8B-B14F-4D97-AF65-F5344CB8AC3E}">
        <p14:creationId xmlns:p14="http://schemas.microsoft.com/office/powerpoint/2010/main" val="1194833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6B3DD-392C-CDB2-9CE0-0D0CE4CBC35A}"/>
            </a:ext>
          </a:extLst>
        </p:cNvPr>
        <p:cNvGrpSpPr/>
        <p:nvPr/>
      </p:nvGrpSpPr>
      <p:grpSpPr>
        <a:xfrm>
          <a:off x="0" y="0"/>
          <a:ext cx="0" cy="0"/>
          <a:chOff x="0" y="0"/>
          <a:chExt cx="0" cy="0"/>
        </a:xfrm>
      </p:grpSpPr>
      <p:sp>
        <p:nvSpPr>
          <p:cNvPr id="50" name="chip"/>
          <p:cNvSpPr/>
          <p:nvPr/>
        </p:nvSpPr>
        <p:spPr>
          <a:xfrm>
            <a:off x="1168400" y="1397000"/>
            <a:ext cx="1600200" cy="558800"/>
          </a:xfrm>
          <a:prstGeom prst="roundRect">
            <a:avLst>
              <a:gd name="adj" fmla="val 25000"/>
            </a:avLst>
          </a:prstGeom>
          <a:solidFill>
            <a:srgbClr val="B9DCF5"/>
          </a:solidFill>
          <a:ln>
            <a:noFill/>
          </a:ln>
        </p:spPr>
        <p:txBody>
          <a:bodyPr/>
          <a:lstStyle/>
          <a:p>
            <a:endParaRPr/>
          </a:p>
        </p:txBody>
      </p:sp>
      <p:sp>
        <p:nvSpPr>
          <p:cNvPr id="51" name="term"/>
          <p:cNvSpPr/>
          <p:nvPr/>
        </p:nvSpPr>
        <p:spPr>
          <a:xfrm>
            <a:off x="1041400" y="2159000"/>
            <a:ext cx="6350000" cy="2438400"/>
          </a:xfrm>
          <a:prstGeom prst="roundRect">
            <a:avLst>
              <a:gd name="adj" fmla="val 5000"/>
            </a:avLst>
          </a:prstGeom>
          <a:solidFill>
            <a:srgbClr val="1F3A5F"/>
          </a:solidFill>
          <a:ln>
            <a:noFill/>
          </a:ln>
        </p:spPr>
        <p:txBody>
          <a:bodyPr/>
          <a:lstStyle/>
          <a:p>
            <a:endParaRPr/>
          </a:p>
        </p:txBody>
      </p:sp>
      <p:sp>
        <p:nvSpPr>
          <p:cNvPr id="3" name="TextBox 2">
            <a:extLst>
              <a:ext uri="{FF2B5EF4-FFF2-40B4-BE49-F238E27FC236}">
                <a16:creationId xmlns:a16="http://schemas.microsoft.com/office/drawing/2014/main" id="{662EEF20-2D4E-1D13-9B77-68FC25E052E1}"/>
              </a:ext>
            </a:extLst>
          </p:cNvPr>
          <p:cNvSpPr txBox="1"/>
          <p:nvPr/>
        </p:nvSpPr>
        <p:spPr>
          <a:xfrm>
            <a:off x="1651000" y="2438400"/>
            <a:ext cx="6096000" cy="1905000"/>
          </a:xfrm>
          <a:prstGeom prst="rect">
            <a:avLst/>
          </a:prstGeom>
          <a:noFill/>
        </p:spPr>
        <p:txBody>
          <a:bodyPr wrap="square">
            <a:spAutoFit/>
          </a:bodyPr>
          <a:lstStyle/>
          <a:p>
            <a:pPr algn="l">
              <a:lnSpc>
                <a:spcPts val="3600"/>
              </a:lnSpc>
              <a:buNone/>
            </a:pPr>
            <a:r>
              <a:rPr lang="en-US" sz="2000" dirty="0">
                <a:solidFill>
                  <a:srgbClr val="DCE3EC"/>
                </a:solidFill>
                <a:latin typeface="Consolas"/>
              </a:rPr>
              <a:t>backup-production.cmd</a:t>
            </a:r>
          </a:p>
          <a:p>
            <a:pPr algn="l">
              <a:lnSpc>
                <a:spcPts val="3600"/>
              </a:lnSpc>
              <a:buNone/>
            </a:pPr>
            <a:r>
              <a:rPr lang="en-US" sz="2000" dirty="0">
                <a:solidFill>
                  <a:srgbClr val="DCE3EC"/>
                </a:solidFill>
                <a:latin typeface="Consolas"/>
              </a:rPr>
              <a:t>create-schedule-task.cmd</a:t>
            </a:r>
          </a:p>
          <a:p>
            <a:pPr algn="l">
              <a:lnSpc>
                <a:spcPts val="3600"/>
              </a:lnSpc>
              <a:buNone/>
            </a:pPr>
            <a:r>
              <a:rPr lang="en-US" sz="2000" dirty="0">
                <a:solidFill>
                  <a:srgbClr val="DCE3EC"/>
                </a:solidFill>
                <a:latin typeface="Consolas"/>
              </a:rPr>
              <a:t>restore-local.cmd</a:t>
            </a:r>
          </a:p>
          <a:p>
            <a:pPr algn="l">
              <a:lnSpc>
                <a:spcPts val="3600"/>
              </a:lnSpc>
              <a:buNone/>
            </a:pPr>
            <a:r>
              <a:rPr lang="en-US" sz="2000" dirty="0">
                <a:solidFill>
                  <a:srgbClr val="DCE3EC"/>
                </a:solidFill>
                <a:latin typeface="Consolas"/>
              </a:rPr>
              <a:t>restore-staging.cmd</a:t>
            </a:r>
          </a:p>
        </p:txBody>
      </p:sp>
      <p:sp>
        <p:nvSpPr>
          <p:cNvPr id="2" name="TextBox 1">
            <a:extLst>
              <a:ext uri="{FF2B5EF4-FFF2-40B4-BE49-F238E27FC236}">
                <a16:creationId xmlns:a16="http://schemas.microsoft.com/office/drawing/2014/main" id="{D45AF5CF-9DBA-4460-5273-04D4505BFB3B}"/>
              </a:ext>
            </a:extLst>
          </p:cNvPr>
          <p:cNvSpPr txBox="1"/>
          <p:nvPr/>
        </p:nvSpPr>
        <p:spPr>
          <a:xfrm>
            <a:off x="1600066" y="1473200"/>
            <a:ext cx="736868" cy="369332"/>
          </a:xfrm>
          <a:prstGeom prst="rect">
            <a:avLst/>
          </a:prstGeom>
          <a:noFill/>
        </p:spPr>
        <p:txBody>
          <a:bodyPr wrap="none" rtlCol="0">
            <a:spAutoFit/>
          </a:bodyPr>
          <a:lstStyle/>
          <a:p>
            <a:pPr algn="ctr">
              <a:buNone/>
            </a:pPr>
            <a:r>
              <a:rPr lang="en-US" sz="1800" b="1" dirty="0">
                <a:solidFill>
                  <a:srgbClr val="1F3A5F"/>
                </a:solidFill>
              </a:rPr>
              <a:t>Tools</a:t>
            </a:r>
          </a:p>
        </p:txBody>
      </p:sp>
      <p:sp>
        <p:nvSpPr>
          <p:cNvPr id="4" name="TextBox 3">
            <a:extLst>
              <a:ext uri="{FF2B5EF4-FFF2-40B4-BE49-F238E27FC236}">
                <a16:creationId xmlns:a16="http://schemas.microsoft.com/office/drawing/2014/main" id="{ACD6E1AC-738C-6EC1-6DC7-C44E0BA0FBC4}"/>
              </a:ext>
            </a:extLst>
          </p:cNvPr>
          <p:cNvSpPr txBox="1"/>
          <p:nvPr/>
        </p:nvSpPr>
        <p:spPr>
          <a:xfrm>
            <a:off x="7874000" y="2552700"/>
            <a:ext cx="3302000" cy="381000"/>
          </a:xfrm>
          <a:prstGeom prst="rect">
            <a:avLst/>
          </a:prstGeom>
          <a:noFill/>
        </p:spPr>
        <p:txBody>
          <a:bodyPr wrap="square">
            <a:spAutoFit/>
          </a:bodyPr>
          <a:lstStyle/>
          <a:p>
            <a:pPr algn="l">
              <a:buNone/>
            </a:pPr>
            <a:r>
              <a:rPr lang="en-US" sz="1800" b="1" dirty="0">
                <a:solidFill>
                  <a:srgbClr val="A14B4B"/>
                </a:solidFill>
                <a:latin typeface="Consolas"/>
              </a:rPr>
              <a:t>90 mins → 1.6 GB</a:t>
            </a:r>
          </a:p>
        </p:txBody>
      </p:sp>
      <p:sp>
        <p:nvSpPr>
          <p:cNvPr id="6" name="TextBox 5">
            <a:extLst>
              <a:ext uri="{FF2B5EF4-FFF2-40B4-BE49-F238E27FC236}">
                <a16:creationId xmlns:a16="http://schemas.microsoft.com/office/drawing/2014/main" id="{18BCDFD4-2314-BB12-A28E-62199ED16987}"/>
              </a:ext>
            </a:extLst>
          </p:cNvPr>
          <p:cNvSpPr txBox="1"/>
          <p:nvPr/>
        </p:nvSpPr>
        <p:spPr>
          <a:xfrm>
            <a:off x="7874000" y="3924300"/>
            <a:ext cx="3302000" cy="381000"/>
          </a:xfrm>
          <a:prstGeom prst="rect">
            <a:avLst/>
          </a:prstGeom>
          <a:noFill/>
        </p:spPr>
        <p:txBody>
          <a:bodyPr wrap="square">
            <a:spAutoFit/>
          </a:bodyPr>
          <a:lstStyle/>
          <a:p>
            <a:pPr algn="l">
              <a:buNone/>
            </a:pPr>
            <a:r>
              <a:rPr lang="en-US" sz="1800" b="1" dirty="0">
                <a:solidFill>
                  <a:srgbClr val="A14B4B"/>
                </a:solidFill>
                <a:latin typeface="Consolas"/>
              </a:rPr>
              <a:t>90 mins</a:t>
            </a:r>
          </a:p>
        </p:txBody>
      </p:sp>
      <p:sp>
        <p:nvSpPr>
          <p:cNvPr id="7" name="TextBox 6">
            <a:extLst>
              <a:ext uri="{FF2B5EF4-FFF2-40B4-BE49-F238E27FC236}">
                <a16:creationId xmlns:a16="http://schemas.microsoft.com/office/drawing/2014/main" id="{66B5C6A4-7C4F-9D82-7327-6F19A4EB5206}"/>
              </a:ext>
            </a:extLst>
          </p:cNvPr>
          <p:cNvSpPr txBox="1"/>
          <p:nvPr/>
        </p:nvSpPr>
        <p:spPr>
          <a:xfrm>
            <a:off x="7874000" y="3467100"/>
            <a:ext cx="3302000" cy="381000"/>
          </a:xfrm>
          <a:prstGeom prst="rect">
            <a:avLst/>
          </a:prstGeom>
          <a:noFill/>
        </p:spPr>
        <p:txBody>
          <a:bodyPr wrap="square">
            <a:spAutoFit/>
          </a:bodyPr>
          <a:lstStyle/>
          <a:p>
            <a:pPr algn="l">
              <a:buNone/>
            </a:pPr>
            <a:r>
              <a:rPr lang="en-US" sz="1800" b="1" dirty="0">
                <a:solidFill>
                  <a:srgbClr val="5A7D5A"/>
                </a:solidFill>
                <a:latin typeface="Consolas"/>
              </a:rPr>
              <a:t>2 mins</a:t>
            </a:r>
          </a:p>
        </p:txBody>
      </p:sp>
    </p:spTree>
    <p:extLst>
      <p:ext uri="{BB962C8B-B14F-4D97-AF65-F5344CB8AC3E}">
        <p14:creationId xmlns:p14="http://schemas.microsoft.com/office/powerpoint/2010/main" val="7620229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A71-C2EA-01F8-22DB-0578FBFDF13A}"/>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C12DDA19-B496-A7E4-765F-A43E25557C64}"/>
              </a:ext>
            </a:extLst>
          </p:cNvPr>
          <p:cNvSpPr/>
          <p:nvPr/>
        </p:nvSpPr>
        <p:spPr>
          <a:xfrm>
            <a:off x="558800" y="3048000"/>
            <a:ext cx="3200400" cy="965200"/>
          </a:xfrm>
          <a:prstGeom prst="rect">
            <a:avLst/>
          </a:prstGeom>
          <a:solidFill>
            <a:srgbClr val="C7E8AE">
              <a:alpha val="54902"/>
            </a:srgbClr>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AFA0B14-9DB5-0092-F3F4-A87B61F4E34D}"/>
              </a:ext>
            </a:extLst>
          </p:cNvPr>
          <p:cNvSpPr txBox="1"/>
          <p:nvPr/>
        </p:nvSpPr>
        <p:spPr>
          <a:xfrm>
            <a:off x="508000" y="457200"/>
            <a:ext cx="11176000" cy="5943600"/>
          </a:xfrm>
          <a:prstGeom prst="rect">
            <a:avLst/>
          </a:prstGeom>
          <a:noFill/>
        </p:spPr>
        <p:txBody>
          <a:bodyPr wrap="square" numCol="3" spcCol="304800">
            <a:spAutoFit/>
          </a:bodyPr>
          <a:lstStyle/>
          <a:p>
            <a:pPr marL="0" indent="0">
              <a:lnSpc>
                <a:spcPct val="95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aspnet_Paths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aspnet_PersonalizationAllUsers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aspnet_PersonalizationPerUser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aspnet_Profile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aspnet_SchemaVersions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aspnet_WebEvent_Events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AuditLog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Authorizations_backup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Authorizations_Backup07242020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Authorizations_Backup10282020_1055</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Authorizations_Backup10302020_1000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Authorizations_Backup10302020_1410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Authorizations_Backup_05132022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Class_Backup20201021_1522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Class_Instructor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ClassSchedule_Backup092820201606</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ClassSchedule_Backup20201021_1522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CourseAccreditations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DomainCompetencies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ELMAH_Error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ELMAH_Error20191023</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Event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Event_Company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Event_LearningObjective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MicroCredentialUnitConversionLog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PartnerRecognitionProgram</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PasswordLinkToken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PaymentErrors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PaymentHistories_042122_Backup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QBMapping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Subject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Subject_Theme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Theme_LearningObjective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TrackDesigners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UserInterestCertifications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6185010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28AE4-843C-CF4E-FD43-18B2205DBBE5}"/>
            </a:ext>
          </a:extLst>
        </p:cNvPr>
        <p:cNvGrpSpPr/>
        <p:nvPr/>
      </p:nvGrpSpPr>
      <p:grpSpPr>
        <a:xfrm>
          <a:off x="0" y="0"/>
          <a:ext cx="0" cy="0"/>
          <a:chOff x="0" y="0"/>
          <a:chExt cx="0" cy="0"/>
        </a:xfrm>
      </p:grpSpPr>
      <p:sp>
        <p:nvSpPr>
          <p:cNvPr id="53" name="panel2"/>
          <p:cNvSpPr/>
          <p:nvPr/>
        </p:nvSpPr>
        <p:spPr>
          <a:xfrm>
            <a:off x="1041400" y="3505200"/>
            <a:ext cx="8497848" cy="1117600"/>
          </a:xfrm>
          <a:prstGeom prst="roundRect">
            <a:avLst>
              <a:gd name="adj" fmla="val 4000"/>
            </a:avLst>
          </a:prstGeom>
          <a:solidFill>
            <a:srgbClr val="F2F5F9"/>
          </a:solidFill>
          <a:ln>
            <a:noFill/>
          </a:ln>
        </p:spPr>
        <p:txBody>
          <a:bodyPr/>
          <a:lstStyle/>
          <a:p>
            <a:endParaRPr/>
          </a:p>
        </p:txBody>
      </p:sp>
      <p:sp>
        <p:nvSpPr>
          <p:cNvPr id="51" name="panel1"/>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81C47FF7-648B-9ADC-F2AB-CB5D6C209FBC}"/>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grpSp>
        <p:nvGrpSpPr>
          <p:cNvPr id="7" name="Group 6">
            <a:extLst>
              <a:ext uri="{FF2B5EF4-FFF2-40B4-BE49-F238E27FC236}">
                <a16:creationId xmlns:a16="http://schemas.microsoft.com/office/drawing/2014/main" id="{7951DF54-6EAB-BBCD-2674-386E5BEB1B34}"/>
              </a:ext>
            </a:extLst>
          </p:cNvPr>
          <p:cNvGrpSpPr/>
          <p:nvPr/>
        </p:nvGrpSpPr>
        <p:grpSpPr>
          <a:xfrm>
            <a:off x="10033000" y="330200"/>
            <a:ext cx="1030218" cy="461665"/>
            <a:chOff x="9193870" y="2055101"/>
            <a:chExt cx="1030218" cy="461665"/>
          </a:xfrm>
        </p:grpSpPr>
        <p:sp>
          <p:nvSpPr>
            <p:cNvPr id="8" name="Rounded Rectangle 7">
              <a:extLst>
                <a:ext uri="{FF2B5EF4-FFF2-40B4-BE49-F238E27FC236}">
                  <a16:creationId xmlns:a16="http://schemas.microsoft.com/office/drawing/2014/main" id="{2DC255B7-7842-3330-B457-998661B10E96}"/>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32F446A-3E8F-65FC-891E-E06622952E84}"/>
                </a:ext>
              </a:extLst>
            </p:cNvPr>
            <p:cNvSpPr txBox="1"/>
            <p:nvPr/>
          </p:nvSpPr>
          <p:spPr>
            <a:xfrm>
              <a:off x="9193870"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cxnSp>
        <p:nvCxnSpPr>
          <p:cNvPr id="12" name="Straight Arrow Connector 11">
            <a:extLst>
              <a:ext uri="{FF2B5EF4-FFF2-40B4-BE49-F238E27FC236}">
                <a16:creationId xmlns:a16="http://schemas.microsoft.com/office/drawing/2014/main" id="{454A99C5-E668-8F90-3C4F-433F0E99AB85}"/>
              </a:ext>
            </a:extLst>
          </p:cNvPr>
          <p:cNvCxnSpPr>
            <a:cxnSpLocks/>
          </p:cNvCxnSpPr>
          <p:nvPr/>
        </p:nvCxnSpPr>
        <p:spPr>
          <a:xfrm>
            <a:off x="7242098" y="3244334"/>
            <a:ext cx="0" cy="369332"/>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860A65D4-549A-48F3-F477-A9F1E473346E}"/>
              </a:ext>
            </a:extLst>
          </p:cNvPr>
          <p:cNvSpPr txBox="1"/>
          <p:nvPr/>
        </p:nvSpPr>
        <p:spPr>
          <a:xfrm>
            <a:off x="6781800" y="2865604"/>
            <a:ext cx="1032142" cy="338554"/>
          </a:xfrm>
          <a:prstGeom prst="rect">
            <a:avLst/>
          </a:prstGeom>
          <a:noFill/>
          <a:ln>
            <a:noFill/>
          </a:ln>
        </p:spPr>
        <p:txBody>
          <a:bodyPr wrap="square" rtlCol="0">
            <a:spAutoFit/>
          </a:bodyPr>
          <a:lstStyle/>
          <a:p>
            <a:pPr algn="l">
              <a:buNone/>
            </a:pPr>
            <a:r>
              <a:rPr lang="en-US" sz="1600" b="1" dirty="0">
                <a:solidFill>
                  <a:srgbClr val="415A77"/>
                </a:solidFill>
              </a:rPr>
              <a:t>Interface</a:t>
            </a:r>
          </a:p>
        </p:txBody>
      </p:sp>
      <p:sp>
        <p:nvSpPr>
          <p:cNvPr id="50" name="div"/>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7D6766D9-2474-9180-BE8D-6605E6AF3503}"/>
              </a:ext>
            </a:extLst>
          </p:cNvPr>
          <p:cNvSpPr txBox="1"/>
          <p:nvPr/>
        </p:nvSpPr>
        <p:spPr>
          <a:xfrm>
            <a:off x="1346200" y="1498600"/>
            <a:ext cx="7782932" cy="590611"/>
          </a:xfrm>
          <a:prstGeom prst="rect">
            <a:avLst/>
          </a:prstGeom>
          <a:noFill/>
        </p:spPr>
        <p:txBody>
          <a:bodyPr wrap="square">
            <a:spAutoFit/>
          </a:bodyPr>
          <a:lstStyle/>
          <a:p>
            <a:pPr algn="l">
              <a:lnSpc>
                <a:spcPts val="1950"/>
              </a:lnSpc>
              <a:buNone/>
            </a:pPr>
            <a:r>
              <a:rPr lang="en-US" sz="1500" dirty="0">
                <a:solidFill>
                  <a:srgbClr val="1F3A5F"/>
                </a:solidFill>
                <a:latin typeface="Consolas"/>
              </a:rPr>
              <a:t>Please inspect the database and the code and make a list of all the tables that are no longer used. Place it in </a:t>
            </a:r>
            <a:r>
              <a:rPr lang="en-US" sz="1500" dirty="0">
                <a:solidFill>
                  <a:srgbClr val="A14B4B"/>
                </a:solidFill>
                <a:latin typeface="Consolas"/>
              </a:rPr>
              <a:t>@abandoned-tables.md</a:t>
            </a:r>
          </a:p>
        </p:txBody>
      </p:sp>
      <p:sp>
        <p:nvSpPr>
          <p:cNvPr id="4" name="TextBox 3">
            <a:extLst>
              <a:ext uri="{FF2B5EF4-FFF2-40B4-BE49-F238E27FC236}">
                <a16:creationId xmlns:a16="http://schemas.microsoft.com/office/drawing/2014/main" id="{0C1C796E-11E3-0AC9-AAC1-A7BB2B505A6D}"/>
              </a:ext>
            </a:extLst>
          </p:cNvPr>
          <p:cNvSpPr txBox="1"/>
          <p:nvPr/>
        </p:nvSpPr>
        <p:spPr>
          <a:xfrm>
            <a:off x="1346200" y="2946400"/>
            <a:ext cx="4775200" cy="369332"/>
          </a:xfrm>
          <a:prstGeom prst="rect">
            <a:avLst/>
          </a:prstGeom>
          <a:noFill/>
        </p:spPr>
        <p:txBody>
          <a:bodyPr wrap="square">
            <a:spAutoFit/>
          </a:bodyPr>
          <a:lstStyle/>
          <a:p>
            <a:pPr algn="l">
              <a:buNone/>
            </a:pPr>
            <a:r>
              <a:rPr lang="en-US" sz="1800" b="1" dirty="0">
                <a:solidFill>
                  <a:srgbClr val="A14B4B"/>
                </a:solidFill>
                <a:latin typeface="Consolas"/>
              </a:rPr>
              <a:t>/clear</a:t>
            </a:r>
          </a:p>
        </p:txBody>
      </p:sp>
      <p:sp>
        <p:nvSpPr>
          <p:cNvPr id="3" name="TextBox 2">
            <a:extLst>
              <a:ext uri="{FF2B5EF4-FFF2-40B4-BE49-F238E27FC236}">
                <a16:creationId xmlns:a16="http://schemas.microsoft.com/office/drawing/2014/main" id="{AAEC87DF-B1F9-0F3E-AB31-364B8C4DD7DD}"/>
              </a:ext>
            </a:extLst>
          </p:cNvPr>
          <p:cNvSpPr txBox="1"/>
          <p:nvPr/>
        </p:nvSpPr>
        <p:spPr>
          <a:xfrm>
            <a:off x="1346199" y="3683000"/>
            <a:ext cx="7656551" cy="590611"/>
          </a:xfrm>
          <a:prstGeom prst="rect">
            <a:avLst/>
          </a:prstGeom>
          <a:noFill/>
        </p:spPr>
        <p:txBody>
          <a:bodyPr wrap="square">
            <a:spAutoFit/>
          </a:bodyPr>
          <a:lstStyle/>
          <a:p>
            <a:pPr algn="l">
              <a:lnSpc>
                <a:spcPts val="1950"/>
              </a:lnSpc>
              <a:buNone/>
            </a:pPr>
            <a:r>
              <a:rPr lang="en-US" sz="1500" dirty="0">
                <a:solidFill>
                  <a:srgbClr val="1F3A5F"/>
                </a:solidFill>
                <a:latin typeface="Consolas"/>
              </a:rPr>
              <a:t>Please read @update-database-schema.process.md and </a:t>
            </a:r>
            <a:r>
              <a:rPr lang="en-US" sz="1500" dirty="0">
                <a:solidFill>
                  <a:srgbClr val="A14B4B"/>
                </a:solidFill>
                <a:latin typeface="Consolas"/>
              </a:rPr>
              <a:t>@abandoned-tables.md</a:t>
            </a:r>
            <a:r>
              <a:rPr lang="en-US" sz="1500" dirty="0">
                <a:solidFill>
                  <a:srgbClr val="1F3A5F"/>
                </a:solidFill>
                <a:latin typeface="Consolas"/>
              </a:rPr>
              <a:t> Please remove these tables</a:t>
            </a:r>
          </a:p>
        </p:txBody>
      </p:sp>
      <p:sp>
        <p:nvSpPr>
          <p:cNvPr id="52" name="bar1"/>
          <p:cNvSpPr/>
          <p:nvPr/>
        </p:nvSpPr>
        <p:spPr>
          <a:xfrm>
            <a:off x="1041400" y="1320800"/>
            <a:ext cx="50800" cy="1320800"/>
          </a:xfrm>
          <a:prstGeom prst="rect">
            <a:avLst/>
          </a:prstGeom>
          <a:solidFill>
            <a:srgbClr val="415A77"/>
          </a:solidFill>
          <a:ln>
            <a:noFill/>
          </a:ln>
        </p:spPr>
        <p:txBody>
          <a:bodyPr/>
          <a:lstStyle/>
          <a:p>
            <a:endParaRPr/>
          </a:p>
        </p:txBody>
      </p:sp>
      <p:sp>
        <p:nvSpPr>
          <p:cNvPr id="54" name="bar2"/>
          <p:cNvSpPr/>
          <p:nvPr/>
        </p:nvSpPr>
        <p:spPr>
          <a:xfrm>
            <a:off x="1041400" y="3505200"/>
            <a:ext cx="50800" cy="1117600"/>
          </a:xfrm>
          <a:prstGeom prst="rect">
            <a:avLst/>
          </a:prstGeom>
          <a:solidFill>
            <a:srgbClr val="415A77"/>
          </a:solidFill>
          <a:ln>
            <a:noFill/>
          </a:ln>
        </p:spPr>
        <p:txBody>
          <a:bodyPr/>
          <a:lstStyle/>
          <a:p>
            <a:endParaRPr/>
          </a:p>
        </p:txBody>
      </p:sp>
      <p:sp>
        <p:nvSpPr>
          <p:cNvPr id="21" name="panel1">
            <a:extLst>
              <a:ext uri="{FF2B5EF4-FFF2-40B4-BE49-F238E27FC236}">
                <a16:creationId xmlns:a16="http://schemas.microsoft.com/office/drawing/2014/main" id="{FADF656D-1A11-D1FF-3BCA-239229826B73}"/>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cxnSp>
        <p:nvCxnSpPr>
          <p:cNvPr id="11" name="Straight Arrow Connector 10">
            <a:extLst>
              <a:ext uri="{FF2B5EF4-FFF2-40B4-BE49-F238E27FC236}">
                <a16:creationId xmlns:a16="http://schemas.microsoft.com/office/drawing/2014/main" id="{9D51E145-1113-C798-086B-4343BE566923}"/>
              </a:ext>
            </a:extLst>
          </p:cNvPr>
          <p:cNvCxnSpPr>
            <a:cxnSpLocks/>
          </p:cNvCxnSpPr>
          <p:nvPr/>
        </p:nvCxnSpPr>
        <p:spPr>
          <a:xfrm flipV="1">
            <a:off x="7237761" y="2089211"/>
            <a:ext cx="0" cy="751210"/>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41899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5" grpId="0"/>
      <p:bldP spid="4" grpId="0"/>
      <p:bldP spid="3" grpId="0"/>
      <p:bldP spid="54"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52C55-E006-C4E3-27B3-D9268A5F4D9B}"/>
            </a:ext>
          </a:extLst>
        </p:cNvPr>
        <p:cNvGrpSpPr/>
        <p:nvPr/>
      </p:nvGrpSpPr>
      <p:grpSpPr>
        <a:xfrm>
          <a:off x="0" y="0"/>
          <a:ext cx="0" cy="0"/>
          <a:chOff x="0" y="0"/>
          <a:chExt cx="0" cy="0"/>
        </a:xfrm>
      </p:grpSpPr>
      <p:sp>
        <p:nvSpPr>
          <p:cNvPr id="50" name="term"/>
          <p:cNvSpPr/>
          <p:nvPr/>
        </p:nvSpPr>
        <p:spPr>
          <a:xfrm>
            <a:off x="3175000" y="1651000"/>
            <a:ext cx="5842000" cy="1219200"/>
          </a:xfrm>
          <a:prstGeom prst="roundRect">
            <a:avLst>
              <a:gd name="adj" fmla="val 7000"/>
            </a:avLst>
          </a:prstGeom>
          <a:solidFill>
            <a:srgbClr val="1F3A5F"/>
          </a:solidFill>
          <a:ln>
            <a:noFill/>
          </a:ln>
        </p:spPr>
        <p:txBody>
          <a:bodyPr/>
          <a:lstStyle/>
          <a:p>
            <a:endParaRPr/>
          </a:p>
        </p:txBody>
      </p:sp>
      <p:sp>
        <p:nvSpPr>
          <p:cNvPr id="4" name="TextBox 3">
            <a:extLst>
              <a:ext uri="{FF2B5EF4-FFF2-40B4-BE49-F238E27FC236}">
                <a16:creationId xmlns:a16="http://schemas.microsoft.com/office/drawing/2014/main" id="{AC5BD609-8B65-DBB8-9EA6-6884994EAFDA}"/>
              </a:ext>
            </a:extLst>
          </p:cNvPr>
          <p:cNvSpPr txBox="1"/>
          <p:nvPr/>
        </p:nvSpPr>
        <p:spPr>
          <a:xfrm>
            <a:off x="4075546" y="3340556"/>
            <a:ext cx="1907312" cy="430887"/>
          </a:xfrm>
          <a:prstGeom prst="rect">
            <a:avLst/>
          </a:prstGeom>
          <a:noFill/>
        </p:spPr>
        <p:txBody>
          <a:bodyPr wrap="square">
            <a:spAutoFit/>
          </a:bodyPr>
          <a:lstStyle/>
          <a:p>
            <a:pPr algn="ctr">
              <a:buNone/>
            </a:pPr>
            <a:r>
              <a:rPr lang="en-US" sz="2200" b="1" dirty="0">
                <a:solidFill>
                  <a:srgbClr val="A14B4B"/>
                </a:solidFill>
                <a:latin typeface="Consolas"/>
              </a:rPr>
              <a:t>90 mins</a:t>
            </a:r>
          </a:p>
        </p:txBody>
      </p:sp>
      <p:sp>
        <p:nvSpPr>
          <p:cNvPr id="7" name="TextBox 6">
            <a:extLst>
              <a:ext uri="{FF2B5EF4-FFF2-40B4-BE49-F238E27FC236}">
                <a16:creationId xmlns:a16="http://schemas.microsoft.com/office/drawing/2014/main" id="{88C8BF78-D89F-5DAE-429C-99CA4D75F1D3}"/>
              </a:ext>
            </a:extLst>
          </p:cNvPr>
          <p:cNvSpPr txBox="1"/>
          <p:nvPr/>
        </p:nvSpPr>
        <p:spPr>
          <a:xfrm>
            <a:off x="4208782" y="4140200"/>
            <a:ext cx="1640840" cy="430887"/>
          </a:xfrm>
          <a:prstGeom prst="rect">
            <a:avLst/>
          </a:prstGeom>
          <a:noFill/>
        </p:spPr>
        <p:txBody>
          <a:bodyPr wrap="square">
            <a:spAutoFit/>
          </a:bodyPr>
          <a:lstStyle/>
          <a:p>
            <a:pPr algn="ctr">
              <a:buNone/>
            </a:pPr>
            <a:r>
              <a:rPr lang="en-US" sz="2200" b="1" dirty="0">
                <a:solidFill>
                  <a:srgbClr val="5A7D5A"/>
                </a:solidFill>
                <a:latin typeface="Consolas"/>
              </a:rPr>
              <a:t>2 mins</a:t>
            </a:r>
          </a:p>
        </p:txBody>
      </p:sp>
      <p:sp>
        <p:nvSpPr>
          <p:cNvPr id="3" name="TextBox 2">
            <a:extLst>
              <a:ext uri="{FF2B5EF4-FFF2-40B4-BE49-F238E27FC236}">
                <a16:creationId xmlns:a16="http://schemas.microsoft.com/office/drawing/2014/main" id="{8347B527-10A3-EA73-009F-09C02252366A}"/>
              </a:ext>
            </a:extLst>
          </p:cNvPr>
          <p:cNvSpPr txBox="1"/>
          <p:nvPr/>
        </p:nvSpPr>
        <p:spPr>
          <a:xfrm>
            <a:off x="3479800" y="2057400"/>
            <a:ext cx="5232400" cy="430887"/>
          </a:xfrm>
          <a:prstGeom prst="rect">
            <a:avLst/>
          </a:prstGeom>
          <a:noFill/>
        </p:spPr>
        <p:txBody>
          <a:bodyPr wrap="square">
            <a:spAutoFit/>
          </a:bodyPr>
          <a:lstStyle/>
          <a:p>
            <a:pPr algn="ctr">
              <a:buNone/>
            </a:pPr>
            <a:r>
              <a:rPr lang="en-US" sz="2200" dirty="0">
                <a:solidFill>
                  <a:srgbClr val="FFFFFF"/>
                </a:solidFill>
                <a:latin typeface="Consolas"/>
              </a:rPr>
              <a:t>backup-production.cmd</a:t>
            </a:r>
          </a:p>
        </p:txBody>
      </p:sp>
      <p:sp>
        <p:nvSpPr>
          <p:cNvPr id="5" name="TextBox 4">
            <a:extLst>
              <a:ext uri="{FF2B5EF4-FFF2-40B4-BE49-F238E27FC236}">
                <a16:creationId xmlns:a16="http://schemas.microsoft.com/office/drawing/2014/main" id="{0225B559-CA04-88A4-3387-C7B2627B88BB}"/>
              </a:ext>
            </a:extLst>
          </p:cNvPr>
          <p:cNvSpPr txBox="1"/>
          <p:nvPr/>
        </p:nvSpPr>
        <p:spPr>
          <a:xfrm rot="5400000">
            <a:off x="4813302" y="3771901"/>
            <a:ext cx="431800" cy="430887"/>
          </a:xfrm>
          <a:prstGeom prst="rect">
            <a:avLst/>
          </a:prstGeom>
          <a:noFill/>
        </p:spPr>
        <p:txBody>
          <a:bodyPr wrap="square">
            <a:spAutoFit/>
          </a:bodyPr>
          <a:lstStyle>
            <a:defPPr>
              <a:defRPr lang="en-US"/>
            </a:defPPr>
            <a:lvl1pPr algn="ctr">
              <a:buNone/>
              <a:defRPr sz="2200" b="1">
                <a:solidFill>
                  <a:srgbClr val="5A7D5A"/>
                </a:solidFill>
                <a:latin typeface="Consolas"/>
              </a:defRPr>
            </a:lvl1pPr>
          </a:lstStyle>
          <a:p>
            <a:r>
              <a:rPr lang="en-US" dirty="0"/>
              <a:t>→</a:t>
            </a:r>
          </a:p>
        </p:txBody>
      </p:sp>
      <p:sp>
        <p:nvSpPr>
          <p:cNvPr id="6" name="TextBox 5">
            <a:extLst>
              <a:ext uri="{FF2B5EF4-FFF2-40B4-BE49-F238E27FC236}">
                <a16:creationId xmlns:a16="http://schemas.microsoft.com/office/drawing/2014/main" id="{DCF04DDB-806B-A1BD-8CB6-E85827FBB774}"/>
              </a:ext>
            </a:extLst>
          </p:cNvPr>
          <p:cNvSpPr txBox="1"/>
          <p:nvPr/>
        </p:nvSpPr>
        <p:spPr>
          <a:xfrm rot="5400000">
            <a:off x="7074826" y="3771901"/>
            <a:ext cx="431800" cy="430887"/>
          </a:xfrm>
          <a:prstGeom prst="rect">
            <a:avLst/>
          </a:prstGeom>
          <a:noFill/>
        </p:spPr>
        <p:txBody>
          <a:bodyPr wrap="square">
            <a:spAutoFit/>
          </a:bodyPr>
          <a:lstStyle>
            <a:defPPr>
              <a:defRPr lang="en-US"/>
            </a:defPPr>
            <a:lvl1pPr algn="ctr">
              <a:buNone/>
              <a:defRPr sz="2200" b="1">
                <a:solidFill>
                  <a:srgbClr val="5A7D5A"/>
                </a:solidFill>
                <a:latin typeface="Consolas"/>
              </a:defRPr>
            </a:lvl1pPr>
          </a:lstStyle>
          <a:p>
            <a:r>
              <a:rPr lang="en-US" dirty="0"/>
              <a:t>→</a:t>
            </a:r>
          </a:p>
        </p:txBody>
      </p:sp>
      <p:sp>
        <p:nvSpPr>
          <p:cNvPr id="8" name="TextBox 7">
            <a:extLst>
              <a:ext uri="{FF2B5EF4-FFF2-40B4-BE49-F238E27FC236}">
                <a16:creationId xmlns:a16="http://schemas.microsoft.com/office/drawing/2014/main" id="{6EB31225-064F-E8D3-842A-353D5C1D04E2}"/>
              </a:ext>
            </a:extLst>
          </p:cNvPr>
          <p:cNvSpPr txBox="1"/>
          <p:nvPr/>
        </p:nvSpPr>
        <p:spPr>
          <a:xfrm>
            <a:off x="6262254" y="3340556"/>
            <a:ext cx="2056944" cy="430887"/>
          </a:xfrm>
          <a:prstGeom prst="rect">
            <a:avLst/>
          </a:prstGeom>
          <a:noFill/>
        </p:spPr>
        <p:txBody>
          <a:bodyPr wrap="square">
            <a:spAutoFit/>
          </a:bodyPr>
          <a:lstStyle/>
          <a:p>
            <a:pPr algn="ctr">
              <a:buNone/>
            </a:pPr>
            <a:r>
              <a:rPr lang="en-US" sz="2200" b="1" dirty="0">
                <a:solidFill>
                  <a:srgbClr val="A14B4B"/>
                </a:solidFill>
                <a:latin typeface="Consolas"/>
              </a:rPr>
              <a:t>1600 MB</a:t>
            </a:r>
          </a:p>
        </p:txBody>
      </p:sp>
      <p:sp>
        <p:nvSpPr>
          <p:cNvPr id="9" name="TextBox 8">
            <a:extLst>
              <a:ext uri="{FF2B5EF4-FFF2-40B4-BE49-F238E27FC236}">
                <a16:creationId xmlns:a16="http://schemas.microsoft.com/office/drawing/2014/main" id="{F68CE59C-0EB5-3897-570F-C81C6AF7437A}"/>
              </a:ext>
            </a:extLst>
          </p:cNvPr>
          <p:cNvSpPr txBox="1"/>
          <p:nvPr/>
        </p:nvSpPr>
        <p:spPr>
          <a:xfrm>
            <a:off x="6691979" y="4140200"/>
            <a:ext cx="1197494" cy="430887"/>
          </a:xfrm>
          <a:prstGeom prst="rect">
            <a:avLst/>
          </a:prstGeom>
          <a:noFill/>
        </p:spPr>
        <p:txBody>
          <a:bodyPr wrap="square">
            <a:spAutoFit/>
          </a:bodyPr>
          <a:lstStyle/>
          <a:p>
            <a:pPr algn="ctr">
              <a:buNone/>
            </a:pPr>
            <a:r>
              <a:rPr lang="en-US" sz="2200" b="1" dirty="0">
                <a:solidFill>
                  <a:srgbClr val="5A7D5A"/>
                </a:solidFill>
                <a:latin typeface="Consolas"/>
              </a:rPr>
              <a:t>150 MB</a:t>
            </a:r>
          </a:p>
        </p:txBody>
      </p:sp>
    </p:spTree>
    <p:extLst>
      <p:ext uri="{BB962C8B-B14F-4D97-AF65-F5344CB8AC3E}">
        <p14:creationId xmlns:p14="http://schemas.microsoft.com/office/powerpoint/2010/main" val="33775919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E4CF-9C54-C627-CCF3-897A6DDE4A4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A22D752-F473-C2CC-16D6-873189273850}"/>
              </a:ext>
            </a:extLst>
          </p:cNvPr>
          <p:cNvSpPr/>
          <p:nvPr/>
        </p:nvSpPr>
        <p:spPr>
          <a:xfrm>
            <a:off x="4282667" y="3361119"/>
            <a:ext cx="2296263" cy="376262"/>
          </a:xfrm>
          <a:prstGeom prst="rect">
            <a:avLst/>
          </a:prstGeom>
          <a:solidFill>
            <a:srgbClr val="C7E8AE">
              <a:alpha val="54902"/>
            </a:srgbClr>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4DE1F7-582A-8887-1A87-6BA6F0C4EA1C}"/>
              </a:ext>
            </a:extLst>
          </p:cNvPr>
          <p:cNvSpPr txBox="1"/>
          <p:nvPr/>
        </p:nvSpPr>
        <p:spPr>
          <a:xfrm>
            <a:off x="508000" y="457200"/>
            <a:ext cx="11176000" cy="5943600"/>
          </a:xfrm>
          <a:prstGeom prst="rect">
            <a:avLst/>
          </a:prstGeom>
          <a:noFill/>
        </p:spPr>
        <p:txBody>
          <a:bodyPr wrap="square" numCol="3" spcCol="304800">
            <a:spAutoFit/>
          </a:bodyPr>
          <a:lstStyle/>
          <a:p>
            <a:pPr>
              <a:lnSpc>
                <a:spcPct val="100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aspnet_Paths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aspnet_PersonalizationAllUsers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aspnet_PersonalizationPerUser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aspnet_SchemaVersions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aspnet_WebEvent_Events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AuditLog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Authorizations_backup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Authorizations_Backup07242020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Authorizations_Backup10282020_1055</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Authorizations_Backup10302020_1000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Authorizations_Backup10302020_1410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Authorizations_Backup_05132022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Class_Backup20201021_1522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Class_Instructor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ClassSchedule_Backup092820201606</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ClassSchedule_Backup20201021_1522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CourseAccreditations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DomainCompetencies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ELMAH_Error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ELMAH_Error20191023</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Event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Event_Company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Event_LearningObjective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MicroCredentialUnitConversionLog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PartnerRecognitionProgram</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PasswordLinkToken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PaymentErrors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PaymentHistories_042122_Backup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QBMapping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Subject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Subject_Theme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Theme_LearningObjective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TrackDesigners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UserInterestCertifications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095536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E4CF-9C54-C627-CCF3-897A6DDE4A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4DE1F7-582A-8887-1A87-6BA6F0C4EA1C}"/>
              </a:ext>
            </a:extLst>
          </p:cNvPr>
          <p:cNvSpPr txBox="1"/>
          <p:nvPr/>
        </p:nvSpPr>
        <p:spPr>
          <a:xfrm>
            <a:off x="508000" y="457200"/>
            <a:ext cx="11176000" cy="5943600"/>
          </a:xfrm>
          <a:prstGeom prst="rect">
            <a:avLst/>
          </a:prstGeom>
          <a:noFill/>
        </p:spPr>
        <p:txBody>
          <a:bodyPr wrap="square" numCol="3" spcCol="304800">
            <a:spAutoFit/>
          </a:bodyPr>
          <a:lstStyle/>
          <a:p>
            <a:pPr>
              <a:lnSpc>
                <a:spcPct val="100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aspnet_Paths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aspnet_PersonalizationAllUsers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aspnet_PersonalizationPerUser</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aspnet_Profile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aspnet_SchemaVersions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aspnet_WebEvent_Events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AuditLog</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Authorizations_backup</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Authorizations_Backup07242020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Authorizations_Backup10282020_1055</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Authorizations_Backup10302020_1000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Authorizations_Backup10302020_1410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Authorizations_Backup_05132022</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Certification_Theme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Class_Backup20201021_1522</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Class_Instructor</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ClassSchedule_Backup092820201606</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ClassSchedule_Backup20201021_1522</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CourseAccreditations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DomainCompetencies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ELMAH_Error</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ELMAH_Error20191023</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Event</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Event_Company</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Event_LearningObjective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MicroCredentialUnitConversionLog</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PartnerRecognitionProgram</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PasswordLinkToken</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PaymentErrors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PaymentHistories_042122_Backup</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QBMapping</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Subject</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Subject_Theme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Theme</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Theme_LearningObjective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TrackDesigners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UserInterestCertifications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000667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ADA0B-C8AF-0420-103B-CF81E5F61D0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5E619C9-A281-B351-AFE4-481794313ADA}"/>
              </a:ext>
            </a:extLst>
          </p:cNvPr>
          <p:cNvSpPr txBox="1"/>
          <p:nvPr/>
        </p:nvSpPr>
        <p:spPr>
          <a:xfrm>
            <a:off x="2730500" y="889000"/>
            <a:ext cx="7874000" cy="5029200"/>
          </a:xfrm>
          <a:prstGeom prst="rect">
            <a:avLst/>
          </a:prstGeom>
          <a:noFill/>
        </p:spPr>
        <p:txBody>
          <a:bodyPr wrap="square" numCol="2" spcCol="508000">
            <a:spAutoFit/>
          </a:bodyPr>
          <a:lstStyle/>
          <a:p>
            <a:pPr>
              <a:lnSpc>
                <a:spcPct val="100000"/>
              </a:lnSpc>
              <a:buNone/>
            </a:pPr>
            <a:r>
              <a:rPr lang="en-US" sz="1100" dirty="0">
                <a:latin typeface="Consolas"/>
              </a:rPr>
              <a:t>- __</a:t>
            </a:r>
            <a:r>
              <a:rPr lang="en-US" sz="1100" dirty="0" err="1">
                <a:latin typeface="Consolas"/>
              </a:rPr>
              <a:t>MigrationHistory</a:t>
            </a:r>
            <a:endParaRPr lang="en-US" sz="1100" dirty="0">
              <a:latin typeface="Consolas"/>
            </a:endParaRPr>
          </a:p>
          <a:p>
            <a:pPr>
              <a:lnSpc>
                <a:spcPct val="100000"/>
              </a:lnSpc>
              <a:buNone/>
            </a:pPr>
            <a:r>
              <a:rPr lang="en-US" sz="1100" dirty="0">
                <a:latin typeface="Consolas"/>
              </a:rPr>
              <a:t>- </a:t>
            </a:r>
            <a:r>
              <a:rPr lang="en-US" sz="1100" dirty="0" err="1">
                <a:latin typeface="Consolas"/>
              </a:rPr>
              <a:t>AccreditationStatus</a:t>
            </a:r>
            <a:endParaRPr lang="en-US" sz="1100" dirty="0">
              <a:latin typeface="Consolas"/>
            </a:endParaRPr>
          </a:p>
          <a:p>
            <a:pPr>
              <a:lnSpc>
                <a:spcPct val="100000"/>
              </a:lnSpc>
              <a:buNone/>
            </a:pPr>
            <a:r>
              <a:rPr lang="en-US" sz="1100" dirty="0">
                <a:latin typeface="Consolas"/>
              </a:rPr>
              <a:t>- Addresses</a:t>
            </a:r>
          </a:p>
          <a:p>
            <a:pPr>
              <a:lnSpc>
                <a:spcPct val="100000"/>
              </a:lnSpc>
              <a:buNone/>
            </a:pPr>
            <a:r>
              <a:rPr lang="en-US" sz="1100" dirty="0">
                <a:latin typeface="Consolas"/>
              </a:rPr>
              <a:t>- </a:t>
            </a:r>
            <a:r>
              <a:rPr lang="en-US" sz="1100" dirty="0" err="1">
                <a:latin typeface="Consolas"/>
              </a:rPr>
              <a:t>aspnet_Applications</a:t>
            </a:r>
            <a:endParaRPr lang="en-US" sz="1100" dirty="0">
              <a:latin typeface="Consolas"/>
            </a:endParaRPr>
          </a:p>
          <a:p>
            <a:pPr>
              <a:lnSpc>
                <a:spcPct val="100000"/>
              </a:lnSpc>
              <a:buNone/>
            </a:pPr>
            <a:r>
              <a:rPr lang="en-US" sz="1100" dirty="0">
                <a:latin typeface="Consolas"/>
              </a:rPr>
              <a:t>- </a:t>
            </a:r>
            <a:r>
              <a:rPr lang="en-US" sz="1100" dirty="0" err="1">
                <a:latin typeface="Consolas"/>
              </a:rPr>
              <a:t>aspnet_Membership</a:t>
            </a:r>
            <a:endParaRPr lang="en-US" sz="1100" dirty="0">
              <a:latin typeface="Consolas"/>
            </a:endParaRPr>
          </a:p>
          <a:p>
            <a:pPr>
              <a:lnSpc>
                <a:spcPct val="100000"/>
              </a:lnSpc>
              <a:buNone/>
            </a:pPr>
            <a:r>
              <a:rPr lang="en-US" sz="1100" dirty="0">
                <a:latin typeface="Consolas"/>
              </a:rPr>
              <a:t>- </a:t>
            </a:r>
            <a:r>
              <a:rPr lang="en-US" sz="1100" dirty="0" err="1">
                <a:latin typeface="Consolas"/>
              </a:rPr>
              <a:t>aspnet_Roles</a:t>
            </a:r>
            <a:endParaRPr lang="en-US" sz="1100" dirty="0">
              <a:latin typeface="Consolas"/>
            </a:endParaRPr>
          </a:p>
          <a:p>
            <a:pPr>
              <a:lnSpc>
                <a:spcPct val="100000"/>
              </a:lnSpc>
              <a:buNone/>
            </a:pPr>
            <a:r>
              <a:rPr lang="en-US" sz="1100" dirty="0">
                <a:latin typeface="Consolas"/>
              </a:rPr>
              <a:t>- </a:t>
            </a:r>
            <a:r>
              <a:rPr lang="en-US" sz="1100" dirty="0" err="1">
                <a:latin typeface="Consolas"/>
              </a:rPr>
              <a:t>aspnet_Users</a:t>
            </a:r>
            <a:endParaRPr lang="en-US" sz="1100" dirty="0">
              <a:latin typeface="Consolas"/>
            </a:endParaRPr>
          </a:p>
          <a:p>
            <a:pPr>
              <a:lnSpc>
                <a:spcPct val="100000"/>
              </a:lnSpc>
              <a:buNone/>
            </a:pPr>
            <a:r>
              <a:rPr lang="en-US" sz="1100" dirty="0">
                <a:latin typeface="Consolas"/>
              </a:rPr>
              <a:t>- </a:t>
            </a:r>
            <a:r>
              <a:rPr lang="en-US" sz="1100" dirty="0" err="1">
                <a:latin typeface="Consolas"/>
              </a:rPr>
              <a:t>aspnet_UsersInRoles</a:t>
            </a:r>
            <a:endParaRPr lang="en-US" sz="1100" dirty="0">
              <a:latin typeface="Consolas"/>
            </a:endParaRPr>
          </a:p>
          <a:p>
            <a:pPr>
              <a:lnSpc>
                <a:spcPct val="100000"/>
              </a:lnSpc>
              <a:buNone/>
            </a:pPr>
            <a:r>
              <a:rPr lang="en-US" sz="1100" dirty="0">
                <a:latin typeface="Consolas"/>
              </a:rPr>
              <a:t>- Authorizations</a:t>
            </a:r>
          </a:p>
          <a:p>
            <a:pPr>
              <a:lnSpc>
                <a:spcPct val="100000"/>
              </a:lnSpc>
              <a:buNone/>
            </a:pPr>
            <a:r>
              <a:rPr lang="en-US" sz="1100" dirty="0">
                <a:latin typeface="Consolas"/>
              </a:rPr>
              <a:t>- Certification</a:t>
            </a:r>
          </a:p>
          <a:p>
            <a:pPr>
              <a:lnSpc>
                <a:spcPct val="100000"/>
              </a:lnSpc>
              <a:buNone/>
            </a:pPr>
            <a:r>
              <a:rPr lang="en-US" sz="1100" dirty="0">
                <a:latin typeface="Consolas"/>
              </a:rPr>
              <a:t>- </a:t>
            </a:r>
            <a:r>
              <a:rPr lang="en-US" sz="1100" dirty="0" err="1">
                <a:latin typeface="Consolas"/>
              </a:rPr>
              <a:t>Certification_Course</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Certification_PrerequisiteCertification</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CertificationEarnedMethods</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CertificationsEarned</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CertificationType</a:t>
            </a:r>
            <a:endParaRPr lang="en-US" sz="1100" dirty="0">
              <a:latin typeface="Consolas"/>
            </a:endParaRPr>
          </a:p>
          <a:p>
            <a:pPr>
              <a:lnSpc>
                <a:spcPct val="100000"/>
              </a:lnSpc>
              <a:buNone/>
            </a:pPr>
            <a:r>
              <a:rPr lang="en-US" sz="1100" dirty="0">
                <a:latin typeface="Consolas"/>
              </a:rPr>
              <a:t>- Class</a:t>
            </a:r>
          </a:p>
          <a:p>
            <a:pPr>
              <a:lnSpc>
                <a:spcPct val="100000"/>
              </a:lnSpc>
              <a:buNone/>
            </a:pPr>
            <a:r>
              <a:rPr lang="en-US" sz="1100" dirty="0">
                <a:latin typeface="Consolas"/>
              </a:rPr>
              <a:t>- </a:t>
            </a:r>
            <a:r>
              <a:rPr lang="en-US" sz="1100" dirty="0" err="1">
                <a:latin typeface="Consolas"/>
              </a:rPr>
              <a:t>ClassAddress</a:t>
            </a:r>
            <a:endParaRPr lang="en-US" sz="1100" dirty="0">
              <a:latin typeface="Consolas"/>
            </a:endParaRPr>
          </a:p>
          <a:p>
            <a:pPr>
              <a:lnSpc>
                <a:spcPct val="100000"/>
              </a:lnSpc>
              <a:buNone/>
            </a:pPr>
            <a:r>
              <a:rPr lang="en-US" sz="1100" dirty="0">
                <a:latin typeface="Consolas"/>
              </a:rPr>
              <a:t>- </a:t>
            </a:r>
            <a:r>
              <a:rPr lang="en-US" sz="1100" dirty="0" err="1">
                <a:latin typeface="Consolas"/>
              </a:rPr>
              <a:t>ClassInstructor</a:t>
            </a:r>
            <a:endParaRPr lang="en-US" sz="1100" dirty="0">
              <a:latin typeface="Consolas"/>
            </a:endParaRPr>
          </a:p>
          <a:p>
            <a:pPr>
              <a:lnSpc>
                <a:spcPct val="100000"/>
              </a:lnSpc>
              <a:buNone/>
            </a:pPr>
            <a:r>
              <a:rPr lang="en-US" sz="1100" dirty="0">
                <a:latin typeface="Consolas"/>
              </a:rPr>
              <a:t>- </a:t>
            </a:r>
            <a:r>
              <a:rPr lang="en-US" sz="1100" dirty="0" err="1">
                <a:latin typeface="Consolas"/>
              </a:rPr>
              <a:t>ClassSchedule</a:t>
            </a:r>
            <a:endParaRPr lang="en-US" sz="1100" dirty="0">
              <a:latin typeface="Consolas"/>
            </a:endParaRPr>
          </a:p>
          <a:p>
            <a:pPr>
              <a:lnSpc>
                <a:spcPct val="100000"/>
              </a:lnSpc>
              <a:buNone/>
            </a:pPr>
            <a:r>
              <a:rPr lang="en-US" sz="1100" dirty="0">
                <a:latin typeface="Consolas"/>
              </a:rPr>
              <a:t>- </a:t>
            </a:r>
            <a:r>
              <a:rPr lang="en-US" sz="1100" dirty="0" err="1">
                <a:latin typeface="Consolas"/>
              </a:rPr>
              <a:t>ClassSurveyResponses</a:t>
            </a:r>
            <a:endParaRPr lang="en-US" sz="1100" dirty="0">
              <a:latin typeface="Consolas"/>
            </a:endParaRPr>
          </a:p>
          <a:p>
            <a:pPr>
              <a:lnSpc>
                <a:spcPct val="100000"/>
              </a:lnSpc>
              <a:buNone/>
            </a:pPr>
            <a:r>
              <a:rPr lang="en-US" sz="1100" dirty="0">
                <a:latin typeface="Consolas"/>
              </a:rPr>
              <a:t>- </a:t>
            </a:r>
            <a:r>
              <a:rPr lang="en-US" sz="1100" dirty="0" err="1">
                <a:latin typeface="Consolas"/>
              </a:rPr>
              <a:t>ClassSurveys</a:t>
            </a:r>
            <a:endParaRPr lang="en-US" sz="1100" dirty="0">
              <a:latin typeface="Consolas"/>
            </a:endParaRPr>
          </a:p>
          <a:p>
            <a:pPr>
              <a:lnSpc>
                <a:spcPct val="100000"/>
              </a:lnSpc>
              <a:buNone/>
            </a:pPr>
            <a:r>
              <a:rPr lang="en-US" sz="1100" dirty="0">
                <a:latin typeface="Consolas"/>
              </a:rPr>
              <a:t>- </a:t>
            </a:r>
            <a:r>
              <a:rPr lang="en-US" sz="1100" dirty="0" err="1">
                <a:latin typeface="Consolas"/>
              </a:rPr>
              <a:t>ClassType</a:t>
            </a:r>
            <a:endParaRPr lang="en-US" sz="1100" dirty="0">
              <a:latin typeface="Consolas"/>
            </a:endParaRPr>
          </a:p>
          <a:p>
            <a:pPr>
              <a:lnSpc>
                <a:spcPct val="100000"/>
              </a:lnSpc>
              <a:buNone/>
            </a:pPr>
            <a:r>
              <a:rPr lang="en-US" sz="1100" dirty="0">
                <a:latin typeface="Consolas"/>
              </a:rPr>
              <a:t>- Company</a:t>
            </a:r>
          </a:p>
          <a:p>
            <a:pPr>
              <a:lnSpc>
                <a:spcPct val="100000"/>
              </a:lnSpc>
              <a:buNone/>
            </a:pPr>
            <a:r>
              <a:rPr lang="en-US" sz="1100" dirty="0">
                <a:latin typeface="Consolas"/>
              </a:rPr>
              <a:t>- </a:t>
            </a:r>
            <a:r>
              <a:rPr lang="en-US" sz="1100" dirty="0" err="1">
                <a:latin typeface="Consolas"/>
              </a:rPr>
              <a:t>Company_UserProfile_Role</a:t>
            </a:r>
            <a:endParaRPr lang="en-US" sz="1100" dirty="0">
              <a:latin typeface="Consolas"/>
            </a:endParaRPr>
          </a:p>
          <a:p>
            <a:pPr>
              <a:lnSpc>
                <a:spcPct val="100000"/>
              </a:lnSpc>
              <a:buNone/>
            </a:pPr>
            <a:r>
              <a:rPr lang="en-US" sz="1100" dirty="0">
                <a:latin typeface="Consolas"/>
              </a:rPr>
              <a:t>- </a:t>
            </a:r>
            <a:r>
              <a:rPr lang="en-US" sz="1100" dirty="0" err="1">
                <a:latin typeface="Consolas"/>
              </a:rPr>
              <a:t>CompanyLanguage</a:t>
            </a:r>
            <a:endParaRPr lang="en-US" sz="1100" dirty="0">
              <a:latin typeface="Consolas"/>
            </a:endParaRPr>
          </a:p>
          <a:p>
            <a:pPr>
              <a:lnSpc>
                <a:spcPct val="100000"/>
              </a:lnSpc>
              <a:buNone/>
            </a:pPr>
            <a:r>
              <a:rPr lang="en-US" sz="1100" dirty="0">
                <a:latin typeface="Consolas"/>
              </a:rPr>
              <a:t>- </a:t>
            </a:r>
            <a:r>
              <a:rPr lang="en-US" sz="1100" dirty="0" err="1">
                <a:latin typeface="Consolas"/>
              </a:rPr>
              <a:t>CompanyRegion</a:t>
            </a:r>
            <a:endParaRPr lang="en-US" sz="1100" dirty="0">
              <a:latin typeface="Consolas"/>
            </a:endParaRPr>
          </a:p>
          <a:p>
            <a:pPr>
              <a:lnSpc>
                <a:spcPct val="100000"/>
              </a:lnSpc>
              <a:buNone/>
            </a:pPr>
            <a:r>
              <a:rPr lang="en-US" sz="1100" dirty="0">
                <a:latin typeface="Consolas"/>
              </a:rPr>
              <a:t>- </a:t>
            </a:r>
            <a:r>
              <a:rPr lang="en-US" sz="1100" dirty="0" err="1">
                <a:latin typeface="Consolas"/>
              </a:rPr>
              <a:t>CompanyType</a:t>
            </a:r>
            <a:endParaRPr lang="en-US" sz="1100" dirty="0">
              <a:latin typeface="Consolas"/>
            </a:endParaRPr>
          </a:p>
          <a:p>
            <a:pPr>
              <a:lnSpc>
                <a:spcPct val="100000"/>
              </a:lnSpc>
              <a:buNone/>
            </a:pPr>
            <a:r>
              <a:rPr lang="en-US" sz="1100" dirty="0">
                <a:latin typeface="Consolas"/>
              </a:rPr>
              <a:t>- Country</a:t>
            </a:r>
          </a:p>
          <a:p>
            <a:pPr>
              <a:lnSpc>
                <a:spcPct val="100000"/>
              </a:lnSpc>
              <a:buNone/>
            </a:pPr>
            <a:r>
              <a:rPr lang="en-US" sz="1100" dirty="0">
                <a:latin typeface="Consolas"/>
              </a:rPr>
              <a:t>- Course</a:t>
            </a:r>
          </a:p>
          <a:p>
            <a:pPr>
              <a:lnSpc>
                <a:spcPct val="100000"/>
              </a:lnSpc>
              <a:buNone/>
            </a:pPr>
            <a:r>
              <a:rPr lang="en-US" sz="1100" dirty="0">
                <a:latin typeface="Consolas"/>
              </a:rPr>
              <a:t>- </a:t>
            </a:r>
            <a:r>
              <a:rPr lang="en-US" sz="1100" dirty="0" err="1">
                <a:latin typeface="Consolas"/>
              </a:rPr>
              <a:t>CourseInstructor</a:t>
            </a:r>
            <a:endParaRPr lang="en-US" sz="1100" dirty="0">
              <a:latin typeface="Consolas"/>
            </a:endParaRPr>
          </a:p>
          <a:p>
            <a:pPr>
              <a:lnSpc>
                <a:spcPct val="100000"/>
              </a:lnSpc>
              <a:buNone/>
            </a:pPr>
            <a:r>
              <a:rPr lang="en-US" sz="1100" dirty="0">
                <a:latin typeface="Consolas"/>
              </a:rPr>
              <a:t>- </a:t>
            </a:r>
            <a:r>
              <a:rPr lang="en-US" sz="1100" dirty="0" err="1">
                <a:latin typeface="Consolas"/>
              </a:rPr>
              <a:t>CourseOfferedBy</a:t>
            </a:r>
            <a:endParaRPr lang="en-US" sz="1100" dirty="0">
              <a:latin typeface="Consolas"/>
            </a:endParaRPr>
          </a:p>
          <a:p>
            <a:pPr>
              <a:lnSpc>
                <a:spcPct val="100000"/>
              </a:lnSpc>
              <a:buNone/>
            </a:pPr>
            <a:r>
              <a:rPr lang="en-US" sz="1100" dirty="0">
                <a:latin typeface="Consolas"/>
              </a:rPr>
              <a:t>- </a:t>
            </a:r>
            <a:r>
              <a:rPr lang="en-US" sz="1100" dirty="0" err="1">
                <a:latin typeface="Consolas"/>
              </a:rPr>
              <a:t>EmailChangeRequest</a:t>
            </a:r>
            <a:endParaRPr lang="en-US" sz="1100" dirty="0">
              <a:latin typeface="Consolas"/>
            </a:endParaRPr>
          </a:p>
          <a:p>
            <a:pPr>
              <a:lnSpc>
                <a:spcPct val="100000"/>
              </a:lnSpc>
              <a:buNone/>
            </a:pPr>
            <a:r>
              <a:rPr lang="en-US" sz="1100" dirty="0">
                <a:latin typeface="Consolas"/>
              </a:rPr>
              <a:t>- </a:t>
            </a:r>
            <a:r>
              <a:rPr lang="en-US" sz="1100" dirty="0" err="1">
                <a:latin typeface="Consolas"/>
              </a:rPr>
              <a:t>EventAttendees</a:t>
            </a:r>
            <a:endParaRPr lang="en-US" sz="1100" dirty="0">
              <a:latin typeface="Consolas"/>
            </a:endParaRPr>
          </a:p>
          <a:p>
            <a:pPr>
              <a:lnSpc>
                <a:spcPct val="100000"/>
              </a:lnSpc>
              <a:buNone/>
            </a:pPr>
            <a:r>
              <a:rPr lang="en-US" sz="1100" dirty="0">
                <a:latin typeface="Consolas"/>
              </a:rPr>
              <a:t>- </a:t>
            </a:r>
            <a:r>
              <a:rPr lang="en-US" sz="1100" dirty="0" err="1">
                <a:latin typeface="Consolas"/>
              </a:rPr>
              <a:t>ExpertCertification_User_Details</a:t>
            </a:r>
            <a:endParaRPr lang="en-US" sz="1100" dirty="0">
              <a:latin typeface="Consolas"/>
            </a:endParaRPr>
          </a:p>
          <a:p>
            <a:pPr>
              <a:lnSpc>
                <a:spcPct val="100000"/>
              </a:lnSpc>
              <a:buNone/>
            </a:pPr>
            <a:r>
              <a:rPr lang="en-US" sz="1100" dirty="0">
                <a:latin typeface="Consolas"/>
              </a:rPr>
              <a:t>- </a:t>
            </a:r>
            <a:r>
              <a:rPr lang="en-US" sz="1100" dirty="0" err="1">
                <a:latin typeface="Consolas"/>
              </a:rPr>
              <a:t>ICPEquivWaiver</a:t>
            </a:r>
            <a:endParaRPr lang="en-US" sz="1100" dirty="0">
              <a:latin typeface="Consolas"/>
            </a:endParaRPr>
          </a:p>
          <a:p>
            <a:pPr>
              <a:lnSpc>
                <a:spcPct val="100000"/>
              </a:lnSpc>
              <a:buNone/>
            </a:pPr>
            <a:r>
              <a:rPr lang="en-US" sz="1100" dirty="0">
                <a:latin typeface="Consolas"/>
              </a:rPr>
              <a:t>- Instructors</a:t>
            </a:r>
          </a:p>
          <a:p>
            <a:pPr>
              <a:lnSpc>
                <a:spcPct val="100000"/>
              </a:lnSpc>
              <a:buNone/>
            </a:pPr>
            <a:r>
              <a:rPr lang="en-US" sz="1100" dirty="0">
                <a:latin typeface="Consolas"/>
              </a:rPr>
              <a:t>- Language</a:t>
            </a:r>
          </a:p>
          <a:p>
            <a:pPr>
              <a:lnSpc>
                <a:spcPct val="100000"/>
              </a:lnSpc>
              <a:buNone/>
            </a:pPr>
            <a:r>
              <a:rPr lang="en-US" sz="1100" dirty="0">
                <a:latin typeface="Consolas"/>
              </a:rPr>
              <a:t>- </a:t>
            </a:r>
            <a:r>
              <a:rPr lang="en-US" sz="1100" dirty="0" err="1">
                <a:latin typeface="Consolas"/>
              </a:rPr>
              <a:t>MetaInformation</a:t>
            </a:r>
            <a:endParaRPr lang="en-US" sz="1100" dirty="0">
              <a:latin typeface="Consolas"/>
            </a:endParaRPr>
          </a:p>
          <a:p>
            <a:pPr>
              <a:lnSpc>
                <a:spcPct val="100000"/>
              </a:lnSpc>
              <a:buNone/>
            </a:pPr>
            <a:r>
              <a:rPr lang="en-US" sz="1100" dirty="0">
                <a:latin typeface="Consolas"/>
              </a:rPr>
              <a:t>- </a:t>
            </a:r>
            <a:r>
              <a:rPr lang="en-US" sz="1100" dirty="0" err="1">
                <a:latin typeface="Consolas"/>
              </a:rPr>
              <a:t>PaymentHistories</a:t>
            </a:r>
            <a:endParaRPr lang="en-US" sz="1100" dirty="0">
              <a:latin typeface="Consolas"/>
            </a:endParaRPr>
          </a:p>
          <a:p>
            <a:pPr>
              <a:lnSpc>
                <a:spcPct val="100000"/>
              </a:lnSpc>
              <a:buNone/>
            </a:pPr>
            <a:r>
              <a:rPr lang="en-US" sz="1100" dirty="0">
                <a:latin typeface="Consolas"/>
              </a:rPr>
              <a:t>- </a:t>
            </a:r>
            <a:r>
              <a:rPr lang="en-US" sz="1100" dirty="0" err="1">
                <a:latin typeface="Consolas"/>
              </a:rPr>
              <a:t>PaymentLog</a:t>
            </a:r>
            <a:endParaRPr lang="en-US" sz="1100" dirty="0">
              <a:latin typeface="Consolas"/>
            </a:endParaRPr>
          </a:p>
          <a:p>
            <a:pPr>
              <a:lnSpc>
                <a:spcPct val="100000"/>
              </a:lnSpc>
              <a:buNone/>
            </a:pPr>
            <a:r>
              <a:rPr lang="en-US" sz="1100" dirty="0">
                <a:latin typeface="Consolas"/>
              </a:rPr>
              <a:t>- </a:t>
            </a:r>
            <a:r>
              <a:rPr lang="en-US" sz="1100" dirty="0" err="1">
                <a:latin typeface="Consolas"/>
              </a:rPr>
              <a:t>PreRoster</a:t>
            </a:r>
            <a:endParaRPr lang="en-US" sz="1100" dirty="0">
              <a:latin typeface="Consolas"/>
            </a:endParaRPr>
          </a:p>
          <a:p>
            <a:pPr>
              <a:lnSpc>
                <a:spcPct val="100000"/>
              </a:lnSpc>
              <a:buNone/>
            </a:pPr>
            <a:r>
              <a:rPr lang="en-US" sz="1100" dirty="0">
                <a:latin typeface="Consolas"/>
              </a:rPr>
              <a:t>- </a:t>
            </a:r>
            <a:r>
              <a:rPr lang="en-US" sz="1100" dirty="0" err="1">
                <a:latin typeface="Consolas"/>
              </a:rPr>
              <a:t>QuickbooksTokens</a:t>
            </a:r>
            <a:endParaRPr lang="en-US" sz="1100" dirty="0">
              <a:latin typeface="Consolas"/>
            </a:endParaRPr>
          </a:p>
          <a:p>
            <a:pPr>
              <a:lnSpc>
                <a:spcPct val="100000"/>
              </a:lnSpc>
              <a:buNone/>
            </a:pPr>
            <a:r>
              <a:rPr lang="en-US" sz="1100" dirty="0">
                <a:latin typeface="Consolas"/>
              </a:rPr>
              <a:t>- Region</a:t>
            </a:r>
          </a:p>
          <a:p>
            <a:pPr>
              <a:lnSpc>
                <a:spcPct val="100000"/>
              </a:lnSpc>
              <a:buNone/>
            </a:pPr>
            <a:r>
              <a:rPr lang="en-US" sz="1100" dirty="0">
                <a:latin typeface="Consolas"/>
              </a:rPr>
              <a:t>- Roster</a:t>
            </a:r>
          </a:p>
          <a:p>
            <a:pPr>
              <a:lnSpc>
                <a:spcPct val="100000"/>
              </a:lnSpc>
              <a:buNone/>
            </a:pPr>
            <a:r>
              <a:rPr lang="en-US" sz="1100" dirty="0">
                <a:latin typeface="Consolas"/>
              </a:rPr>
              <a:t>- </a:t>
            </a:r>
            <a:r>
              <a:rPr lang="en-US" sz="1100" dirty="0" err="1">
                <a:latin typeface="Consolas"/>
              </a:rPr>
              <a:t>SessionTypes</a:t>
            </a:r>
            <a:endParaRPr lang="en-US" sz="1100" dirty="0">
              <a:latin typeface="Consolas"/>
            </a:endParaRPr>
          </a:p>
          <a:p>
            <a:pPr>
              <a:lnSpc>
                <a:spcPct val="100000"/>
              </a:lnSpc>
              <a:buNone/>
            </a:pPr>
            <a:r>
              <a:rPr lang="en-US" sz="1100" dirty="0">
                <a:latin typeface="Consolas"/>
              </a:rPr>
              <a:t>- ShowTrackForPublic</a:t>
            </a:r>
          </a:p>
          <a:p>
            <a:pPr>
              <a:lnSpc>
                <a:spcPct val="100000"/>
              </a:lnSpc>
              <a:buNone/>
            </a:pPr>
            <a:r>
              <a:rPr lang="en-US" sz="1100" dirty="0">
                <a:latin typeface="Consolas"/>
              </a:rPr>
              <a:t>- </a:t>
            </a:r>
            <a:r>
              <a:rPr lang="en-US" sz="1100" dirty="0" err="1">
                <a:latin typeface="Consolas"/>
              </a:rPr>
              <a:t>ShowTrackForUser</a:t>
            </a:r>
            <a:endParaRPr lang="en-US" sz="1100" dirty="0">
              <a:latin typeface="Consolas"/>
            </a:endParaRPr>
          </a:p>
          <a:p>
            <a:pPr>
              <a:lnSpc>
                <a:spcPct val="100000"/>
              </a:lnSpc>
              <a:buNone/>
            </a:pPr>
            <a:r>
              <a:rPr lang="en-US" sz="1100" dirty="0">
                <a:latin typeface="Consolas"/>
              </a:rPr>
              <a:t>- </a:t>
            </a:r>
            <a:r>
              <a:rPr lang="en-US" sz="1100" dirty="0" err="1">
                <a:latin typeface="Consolas"/>
              </a:rPr>
              <a:t>StaticRedirects</a:t>
            </a:r>
            <a:endParaRPr lang="en-US" sz="1100" dirty="0">
              <a:latin typeface="Consolas"/>
            </a:endParaRPr>
          </a:p>
          <a:p>
            <a:pPr>
              <a:lnSpc>
                <a:spcPct val="100000"/>
              </a:lnSpc>
              <a:buNone/>
            </a:pPr>
            <a:r>
              <a:rPr lang="en-US" sz="1100" dirty="0">
                <a:latin typeface="Consolas"/>
              </a:rPr>
              <a:t>- Survey</a:t>
            </a:r>
          </a:p>
          <a:p>
            <a:pPr>
              <a:lnSpc>
                <a:spcPct val="100000"/>
              </a:lnSpc>
              <a:buNone/>
            </a:pPr>
            <a:r>
              <a:rPr lang="en-US" sz="1100" dirty="0">
                <a:latin typeface="Consolas"/>
              </a:rPr>
              <a:t>- </a:t>
            </a:r>
            <a:r>
              <a:rPr lang="en-US" sz="1100" dirty="0" err="1">
                <a:latin typeface="Consolas"/>
              </a:rPr>
              <a:t>SurveyAnswers</a:t>
            </a:r>
            <a:endParaRPr lang="en-US" sz="1100" dirty="0">
              <a:latin typeface="Consolas"/>
            </a:endParaRPr>
          </a:p>
          <a:p>
            <a:pPr>
              <a:lnSpc>
                <a:spcPct val="100000"/>
              </a:lnSpc>
              <a:buNone/>
            </a:pPr>
            <a:r>
              <a:rPr lang="en-US" sz="1100" dirty="0">
                <a:latin typeface="Consolas"/>
              </a:rPr>
              <a:t>- </a:t>
            </a:r>
            <a:r>
              <a:rPr lang="en-US" sz="1100" dirty="0" err="1">
                <a:latin typeface="Consolas"/>
              </a:rPr>
              <a:t>SurveyAvailableAnswers</a:t>
            </a:r>
            <a:endParaRPr lang="en-US" sz="1100" dirty="0">
              <a:latin typeface="Consolas"/>
            </a:endParaRPr>
          </a:p>
          <a:p>
            <a:pPr>
              <a:lnSpc>
                <a:spcPct val="100000"/>
              </a:lnSpc>
              <a:buNone/>
            </a:pPr>
            <a:r>
              <a:rPr lang="en-US" sz="1100" dirty="0">
                <a:latin typeface="Consolas"/>
              </a:rPr>
              <a:t>- </a:t>
            </a:r>
            <a:r>
              <a:rPr lang="en-US" sz="1100" dirty="0" err="1">
                <a:latin typeface="Consolas"/>
              </a:rPr>
              <a:t>SurveyQuestions</a:t>
            </a:r>
            <a:endParaRPr lang="en-US" sz="1100" dirty="0">
              <a:latin typeface="Consolas"/>
            </a:endParaRPr>
          </a:p>
          <a:p>
            <a:pPr>
              <a:lnSpc>
                <a:spcPct val="100000"/>
              </a:lnSpc>
              <a:buNone/>
            </a:pPr>
            <a:r>
              <a:rPr lang="en-US" sz="1100" dirty="0">
                <a:latin typeface="Consolas"/>
              </a:rPr>
              <a:t>- </a:t>
            </a:r>
            <a:r>
              <a:rPr lang="en-US" sz="1100" dirty="0" err="1">
                <a:latin typeface="Consolas"/>
              </a:rPr>
              <a:t>SurveyQuestionTypes</a:t>
            </a:r>
            <a:endParaRPr lang="en-US" sz="1100" dirty="0">
              <a:latin typeface="Consolas"/>
            </a:endParaRPr>
          </a:p>
          <a:p>
            <a:pPr>
              <a:lnSpc>
                <a:spcPct val="100000"/>
              </a:lnSpc>
              <a:buNone/>
            </a:pPr>
            <a:r>
              <a:rPr lang="en-US" sz="1100" dirty="0">
                <a:latin typeface="Consolas"/>
              </a:rPr>
              <a:t>- Track</a:t>
            </a:r>
          </a:p>
          <a:p>
            <a:pPr>
              <a:lnSpc>
                <a:spcPct val="100000"/>
              </a:lnSpc>
              <a:buNone/>
            </a:pPr>
            <a:r>
              <a:rPr lang="en-US" sz="1100" dirty="0">
                <a:latin typeface="Consolas"/>
              </a:rPr>
              <a:t>- </a:t>
            </a:r>
            <a:r>
              <a:rPr lang="en-US" sz="1100" dirty="0" err="1">
                <a:latin typeface="Consolas"/>
              </a:rPr>
              <a:t>Track_Subject</a:t>
            </a:r>
            <a:endParaRPr lang="en-US" sz="1100" dirty="0">
              <a:latin typeface="Consolas"/>
            </a:endParaRPr>
          </a:p>
          <a:p>
            <a:pPr>
              <a:lnSpc>
                <a:spcPct val="100000"/>
              </a:lnSpc>
              <a:buNone/>
            </a:pPr>
            <a:r>
              <a:rPr lang="en-US" sz="1100" dirty="0">
                <a:latin typeface="Consolas"/>
              </a:rPr>
              <a:t>- </a:t>
            </a:r>
            <a:r>
              <a:rPr lang="en-US" sz="1100" dirty="0" err="1">
                <a:latin typeface="Consolas"/>
              </a:rPr>
              <a:t>UserProfile</a:t>
            </a:r>
            <a:endParaRPr lang="en-US" sz="1100" dirty="0">
              <a:latin typeface="Consolas"/>
            </a:endParaRPr>
          </a:p>
          <a:p>
            <a:pPr>
              <a:lnSpc>
                <a:spcPct val="100000"/>
              </a:lnSpc>
              <a:buNone/>
            </a:pPr>
            <a:r>
              <a:rPr lang="en-US" sz="1100" dirty="0">
                <a:latin typeface="Consolas"/>
              </a:rPr>
              <a:t>- </a:t>
            </a:r>
            <a:r>
              <a:rPr lang="en-US" sz="1100" dirty="0" err="1">
                <a:latin typeface="Consolas"/>
              </a:rPr>
              <a:t>UserProfile_Class_Details</a:t>
            </a:r>
            <a:endParaRPr lang="en-US" sz="1100" dirty="0">
              <a:latin typeface="Consolas"/>
            </a:endParaRPr>
          </a:p>
        </p:txBody>
      </p:sp>
    </p:spTree>
    <p:extLst>
      <p:ext uri="{BB962C8B-B14F-4D97-AF65-F5344CB8AC3E}">
        <p14:creationId xmlns:p14="http://schemas.microsoft.com/office/powerpoint/2010/main" val="25941073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D3431-DA36-4345-8622-539C906FA564}"/>
            </a:ext>
          </a:extLst>
        </p:cNvPr>
        <p:cNvGrpSpPr/>
        <p:nvPr/>
      </p:nvGrpSpPr>
      <p:grpSpPr>
        <a:xfrm>
          <a:off x="0" y="0"/>
          <a:ext cx="0" cy="0"/>
          <a:chOff x="0" y="0"/>
          <a:chExt cx="0" cy="0"/>
        </a:xfrm>
      </p:grpSpPr>
      <p:sp>
        <p:nvSpPr>
          <p:cNvPr id="53" name="panel2">
            <a:extLst>
              <a:ext uri="{FF2B5EF4-FFF2-40B4-BE49-F238E27FC236}">
                <a16:creationId xmlns:a16="http://schemas.microsoft.com/office/drawing/2014/main" id="{4BDB6404-B343-7330-6664-6A5D9EF558BE}"/>
              </a:ext>
            </a:extLst>
          </p:cNvPr>
          <p:cNvSpPr/>
          <p:nvPr/>
        </p:nvSpPr>
        <p:spPr>
          <a:xfrm>
            <a:off x="1041400" y="3505200"/>
            <a:ext cx="8497848" cy="1117600"/>
          </a:xfrm>
          <a:prstGeom prst="roundRect">
            <a:avLst>
              <a:gd name="adj" fmla="val 4000"/>
            </a:avLst>
          </a:prstGeom>
          <a:solidFill>
            <a:srgbClr val="F2F5F9"/>
          </a:solidFill>
          <a:ln>
            <a:noFill/>
          </a:ln>
        </p:spPr>
        <p:txBody>
          <a:bodyPr/>
          <a:lstStyle/>
          <a:p>
            <a:endParaRPr/>
          </a:p>
        </p:txBody>
      </p:sp>
      <p:sp>
        <p:nvSpPr>
          <p:cNvPr id="51" name="panel1">
            <a:extLst>
              <a:ext uri="{FF2B5EF4-FFF2-40B4-BE49-F238E27FC236}">
                <a16:creationId xmlns:a16="http://schemas.microsoft.com/office/drawing/2014/main" id="{F9A07D83-53C1-A94D-6D52-7C55DEF86B39}"/>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D09FDA03-1179-5B92-A696-A3288B47B742}"/>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grpSp>
        <p:nvGrpSpPr>
          <p:cNvPr id="7" name="Group 6">
            <a:extLst>
              <a:ext uri="{FF2B5EF4-FFF2-40B4-BE49-F238E27FC236}">
                <a16:creationId xmlns:a16="http://schemas.microsoft.com/office/drawing/2014/main" id="{BD676F95-B441-7C2F-455C-F55DEE0611E8}"/>
              </a:ext>
            </a:extLst>
          </p:cNvPr>
          <p:cNvGrpSpPr/>
          <p:nvPr/>
        </p:nvGrpSpPr>
        <p:grpSpPr>
          <a:xfrm>
            <a:off x="10033000" y="330200"/>
            <a:ext cx="1030218" cy="461665"/>
            <a:chOff x="9193870" y="2055101"/>
            <a:chExt cx="1030218" cy="461665"/>
          </a:xfrm>
        </p:grpSpPr>
        <p:sp>
          <p:nvSpPr>
            <p:cNvPr id="8" name="Rounded Rectangle 7">
              <a:extLst>
                <a:ext uri="{FF2B5EF4-FFF2-40B4-BE49-F238E27FC236}">
                  <a16:creationId xmlns:a16="http://schemas.microsoft.com/office/drawing/2014/main" id="{6E381DEB-D03A-C44C-7AFD-9D0A3B3CD66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796286F-5E47-DEBD-3B92-6C3029082028}"/>
                </a:ext>
              </a:extLst>
            </p:cNvPr>
            <p:cNvSpPr txBox="1"/>
            <p:nvPr/>
          </p:nvSpPr>
          <p:spPr>
            <a:xfrm>
              <a:off x="9193870"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cxnSp>
        <p:nvCxnSpPr>
          <p:cNvPr id="12" name="Straight Arrow Connector 11">
            <a:extLst>
              <a:ext uri="{FF2B5EF4-FFF2-40B4-BE49-F238E27FC236}">
                <a16:creationId xmlns:a16="http://schemas.microsoft.com/office/drawing/2014/main" id="{48EA4189-D6BF-7008-8F06-772D32EC6F52}"/>
              </a:ext>
            </a:extLst>
          </p:cNvPr>
          <p:cNvCxnSpPr>
            <a:cxnSpLocks/>
          </p:cNvCxnSpPr>
          <p:nvPr/>
        </p:nvCxnSpPr>
        <p:spPr>
          <a:xfrm>
            <a:off x="7242098" y="3244334"/>
            <a:ext cx="0" cy="369332"/>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6E61122C-1D45-E48E-E32A-49E9F8AFDABD}"/>
              </a:ext>
            </a:extLst>
          </p:cNvPr>
          <p:cNvSpPr txBox="1"/>
          <p:nvPr/>
        </p:nvSpPr>
        <p:spPr>
          <a:xfrm>
            <a:off x="6781800" y="2865604"/>
            <a:ext cx="1032142" cy="338554"/>
          </a:xfrm>
          <a:prstGeom prst="rect">
            <a:avLst/>
          </a:prstGeom>
          <a:noFill/>
          <a:ln>
            <a:noFill/>
          </a:ln>
        </p:spPr>
        <p:txBody>
          <a:bodyPr wrap="square" rtlCol="0">
            <a:spAutoFit/>
          </a:bodyPr>
          <a:lstStyle/>
          <a:p>
            <a:pPr algn="l">
              <a:buNone/>
            </a:pPr>
            <a:r>
              <a:rPr lang="en-US" sz="1600" b="1" dirty="0">
                <a:solidFill>
                  <a:srgbClr val="415A77"/>
                </a:solidFill>
              </a:rPr>
              <a:t>Interface</a:t>
            </a:r>
          </a:p>
        </p:txBody>
      </p:sp>
      <p:sp>
        <p:nvSpPr>
          <p:cNvPr id="50" name="div">
            <a:extLst>
              <a:ext uri="{FF2B5EF4-FFF2-40B4-BE49-F238E27FC236}">
                <a16:creationId xmlns:a16="http://schemas.microsoft.com/office/drawing/2014/main" id="{0279C804-2EF1-B901-2429-EB072EDD8D76}"/>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DFA8CA9E-AD00-87C3-FC43-AD8142ED09CD}"/>
              </a:ext>
            </a:extLst>
          </p:cNvPr>
          <p:cNvSpPr txBox="1"/>
          <p:nvPr/>
        </p:nvSpPr>
        <p:spPr>
          <a:xfrm>
            <a:off x="1346200" y="1498600"/>
            <a:ext cx="7782932" cy="847091"/>
          </a:xfrm>
          <a:prstGeom prst="rect">
            <a:avLst/>
          </a:prstGeom>
          <a:noFill/>
        </p:spPr>
        <p:txBody>
          <a:bodyPr wrap="square">
            <a:spAutoFit/>
          </a:bodyPr>
          <a:lstStyle/>
          <a:p>
            <a:pPr>
              <a:lnSpc>
                <a:spcPts val="1950"/>
              </a:lnSpc>
            </a:pPr>
            <a:r>
              <a:rPr lang="en-US" sz="1500" dirty="0">
                <a:solidFill>
                  <a:srgbClr val="1F3A5F"/>
                </a:solidFill>
                <a:latin typeface="Consolas"/>
              </a:rPr>
              <a:t>Please inspect the database and the code and make a list indexes that would be most helpful based on the queries we run. Also, query the usage logs. Place it in @</a:t>
            </a:r>
            <a:r>
              <a:rPr lang="en-US" sz="1500" dirty="0">
                <a:solidFill>
                  <a:srgbClr val="A14B4B"/>
                </a:solidFill>
                <a:latin typeface="Consolas"/>
              </a:rPr>
              <a:t>suggested-</a:t>
            </a:r>
            <a:r>
              <a:rPr lang="en-US" sz="1500" dirty="0" err="1">
                <a:solidFill>
                  <a:srgbClr val="A14B4B"/>
                </a:solidFill>
                <a:latin typeface="Consolas"/>
              </a:rPr>
              <a:t>indexes.md</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8770452E-0005-9DDB-3D5B-C0E90C32DBD4}"/>
              </a:ext>
            </a:extLst>
          </p:cNvPr>
          <p:cNvSpPr txBox="1"/>
          <p:nvPr/>
        </p:nvSpPr>
        <p:spPr>
          <a:xfrm>
            <a:off x="1346200" y="2946400"/>
            <a:ext cx="4775200" cy="369332"/>
          </a:xfrm>
          <a:prstGeom prst="rect">
            <a:avLst/>
          </a:prstGeom>
          <a:noFill/>
        </p:spPr>
        <p:txBody>
          <a:bodyPr wrap="square">
            <a:spAutoFit/>
          </a:bodyPr>
          <a:lstStyle/>
          <a:p>
            <a:pPr algn="l">
              <a:buNone/>
            </a:pPr>
            <a:r>
              <a:rPr lang="en-US" sz="1800" b="1" dirty="0">
                <a:solidFill>
                  <a:srgbClr val="A14B4B"/>
                </a:solidFill>
                <a:latin typeface="Consolas"/>
              </a:rPr>
              <a:t>/clear</a:t>
            </a:r>
          </a:p>
        </p:txBody>
      </p:sp>
      <p:sp>
        <p:nvSpPr>
          <p:cNvPr id="3" name="TextBox 2">
            <a:extLst>
              <a:ext uri="{FF2B5EF4-FFF2-40B4-BE49-F238E27FC236}">
                <a16:creationId xmlns:a16="http://schemas.microsoft.com/office/drawing/2014/main" id="{6C3B9F85-2811-9E56-5599-95E5D8C1F2CE}"/>
              </a:ext>
            </a:extLst>
          </p:cNvPr>
          <p:cNvSpPr txBox="1"/>
          <p:nvPr/>
        </p:nvSpPr>
        <p:spPr>
          <a:xfrm>
            <a:off x="1346199" y="3683000"/>
            <a:ext cx="8040631" cy="590611"/>
          </a:xfrm>
          <a:prstGeom prst="rect">
            <a:avLst/>
          </a:prstGeom>
          <a:noFill/>
        </p:spPr>
        <p:txBody>
          <a:bodyPr wrap="square">
            <a:spAutoFit/>
          </a:bodyPr>
          <a:lstStyle/>
          <a:p>
            <a:pPr>
              <a:lnSpc>
                <a:spcPts val="1950"/>
              </a:lnSpc>
            </a:pPr>
            <a:r>
              <a:rPr lang="en-US" sz="1500" dirty="0">
                <a:solidFill>
                  <a:srgbClr val="1F3A5F"/>
                </a:solidFill>
                <a:latin typeface="Consolas"/>
              </a:rPr>
              <a:t>Please read @update-database-</a:t>
            </a:r>
            <a:r>
              <a:rPr lang="en-US" sz="1500" dirty="0" err="1">
                <a:solidFill>
                  <a:srgbClr val="1F3A5F"/>
                </a:solidFill>
                <a:latin typeface="Consolas"/>
              </a:rPr>
              <a:t>schema.process.md</a:t>
            </a:r>
            <a:r>
              <a:rPr lang="en-US" sz="1500" dirty="0">
                <a:solidFill>
                  <a:srgbClr val="1F3A5F"/>
                </a:solidFill>
                <a:latin typeface="Consolas"/>
              </a:rPr>
              <a:t> and @</a:t>
            </a:r>
            <a:r>
              <a:rPr lang="en-US" sz="1500" dirty="0">
                <a:solidFill>
                  <a:srgbClr val="A14B4B"/>
                </a:solidFill>
                <a:latin typeface="Consolas"/>
              </a:rPr>
              <a:t>suggested-</a:t>
            </a:r>
            <a:r>
              <a:rPr lang="en-US" sz="1500" dirty="0" err="1">
                <a:solidFill>
                  <a:srgbClr val="A14B4B"/>
                </a:solidFill>
                <a:latin typeface="Consolas"/>
              </a:rPr>
              <a:t>indexes.md</a:t>
            </a:r>
            <a:r>
              <a:rPr lang="en-US" sz="1500" dirty="0">
                <a:solidFill>
                  <a:srgbClr val="1F3A5F"/>
                </a:solidFill>
                <a:latin typeface="Consolas"/>
              </a:rPr>
              <a:t> Implement the top-suggested and next-suggested</a:t>
            </a:r>
          </a:p>
        </p:txBody>
      </p:sp>
      <p:sp>
        <p:nvSpPr>
          <p:cNvPr id="52" name="bar1">
            <a:extLst>
              <a:ext uri="{FF2B5EF4-FFF2-40B4-BE49-F238E27FC236}">
                <a16:creationId xmlns:a16="http://schemas.microsoft.com/office/drawing/2014/main" id="{1EFBA655-C8DA-0C71-1C10-1D1B22A46588}"/>
              </a:ext>
            </a:extLst>
          </p:cNvPr>
          <p:cNvSpPr/>
          <p:nvPr/>
        </p:nvSpPr>
        <p:spPr>
          <a:xfrm>
            <a:off x="1041400" y="1320800"/>
            <a:ext cx="50800" cy="1320800"/>
          </a:xfrm>
          <a:prstGeom prst="rect">
            <a:avLst/>
          </a:prstGeom>
          <a:solidFill>
            <a:srgbClr val="415A77"/>
          </a:solidFill>
          <a:ln>
            <a:noFill/>
          </a:ln>
        </p:spPr>
        <p:txBody>
          <a:bodyPr/>
          <a:lstStyle/>
          <a:p>
            <a:endParaRPr/>
          </a:p>
        </p:txBody>
      </p:sp>
      <p:sp>
        <p:nvSpPr>
          <p:cNvPr id="54" name="bar2">
            <a:extLst>
              <a:ext uri="{FF2B5EF4-FFF2-40B4-BE49-F238E27FC236}">
                <a16:creationId xmlns:a16="http://schemas.microsoft.com/office/drawing/2014/main" id="{1509367F-0654-33E8-A86B-BA0A1BD4950D}"/>
              </a:ext>
            </a:extLst>
          </p:cNvPr>
          <p:cNvSpPr/>
          <p:nvPr/>
        </p:nvSpPr>
        <p:spPr>
          <a:xfrm>
            <a:off x="1041400" y="3505200"/>
            <a:ext cx="50800" cy="1117600"/>
          </a:xfrm>
          <a:prstGeom prst="rect">
            <a:avLst/>
          </a:prstGeom>
          <a:solidFill>
            <a:srgbClr val="415A77"/>
          </a:solidFill>
          <a:ln>
            <a:noFill/>
          </a:ln>
        </p:spPr>
        <p:txBody>
          <a:bodyPr/>
          <a:lstStyle/>
          <a:p>
            <a:endParaRPr/>
          </a:p>
        </p:txBody>
      </p:sp>
      <p:sp>
        <p:nvSpPr>
          <p:cNvPr id="21" name="panel1">
            <a:extLst>
              <a:ext uri="{FF2B5EF4-FFF2-40B4-BE49-F238E27FC236}">
                <a16:creationId xmlns:a16="http://schemas.microsoft.com/office/drawing/2014/main" id="{FE198FE2-9FF6-356E-3CA2-AACF3AC96472}"/>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dirty="0"/>
          </a:p>
        </p:txBody>
      </p:sp>
      <p:cxnSp>
        <p:nvCxnSpPr>
          <p:cNvPr id="11" name="Straight Arrow Connector 10">
            <a:extLst>
              <a:ext uri="{FF2B5EF4-FFF2-40B4-BE49-F238E27FC236}">
                <a16:creationId xmlns:a16="http://schemas.microsoft.com/office/drawing/2014/main" id="{D6C3B791-766A-83CB-5C71-4D43675F2507}"/>
              </a:ext>
            </a:extLst>
          </p:cNvPr>
          <p:cNvCxnSpPr>
            <a:cxnSpLocks/>
          </p:cNvCxnSpPr>
          <p:nvPr/>
        </p:nvCxnSpPr>
        <p:spPr>
          <a:xfrm flipH="1" flipV="1">
            <a:off x="5640404" y="2345691"/>
            <a:ext cx="1597357" cy="494730"/>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39628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5" grpId="0"/>
      <p:bldP spid="4" grpId="0"/>
      <p:bldP spid="3" grpId="0"/>
      <p:bldP spid="54" grpId="0" animBg="1"/>
      <p:bldP spid="2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205D939-00C4-4F2E-9797-3170DD040D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2F5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midcard">
            <a:extLst>
              <a:ext uri="{FF2B5EF4-FFF2-40B4-BE49-F238E27FC236}">
                <a16:creationId xmlns:a16="http://schemas.microsoft.com/office/drawing/2014/main" id="{B758E813-3AEA-A04D-9B18-2EAD46396809}"/>
              </a:ext>
            </a:extLst>
          </p:cNvPr>
          <p:cNvSpPr/>
          <p:nvPr/>
        </p:nvSpPr>
        <p:spPr>
          <a:xfrm>
            <a:off x="4318000" y="1320800"/>
            <a:ext cx="3556000" cy="4013200"/>
          </a:xfrm>
          <a:prstGeom prst="roundRect">
            <a:avLst/>
          </a:prstGeom>
          <a:solidFill>
            <a:srgbClr val="FDF0E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38EE4E44-1403-472B-8C01-D354CB8F5A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8000" y="1320800"/>
            <a:ext cx="3022600" cy="4013200"/>
          </a:xfrm>
          <a:prstGeom prst="rect">
            <a:avLst/>
          </a:prstGeom>
          <a:solidFill>
            <a:srgbClr val="FFFFFF"/>
          </a:solidFill>
          <a:ln w="1905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83CCE40-4C5F-42D3-86D9-7892AD1E98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1400" y="1320800"/>
            <a:ext cx="3022600" cy="4013200"/>
          </a:xfrm>
          <a:prstGeom prst="rect">
            <a:avLst/>
          </a:prstGeom>
          <a:solidFill>
            <a:srgbClr val="FFFFFF"/>
          </a:solidFill>
          <a:ln w="1905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tl">
            <a:extLst>
              <a:ext uri="{FF2B5EF4-FFF2-40B4-BE49-F238E27FC236}">
                <a16:creationId xmlns:a16="http://schemas.microsoft.com/office/drawing/2014/main" id="{E9B7EE45-A76E-0547-AC91-1869E6E73E5D}"/>
              </a:ext>
            </a:extLst>
          </p:cNvPr>
          <p:cNvSpPr txBox="1"/>
          <p:nvPr/>
        </p:nvSpPr>
        <p:spPr>
          <a:xfrm>
            <a:off x="1041400" y="457200"/>
            <a:ext cx="7620000" cy="457200"/>
          </a:xfrm>
          <a:prstGeom prst="rect">
            <a:avLst/>
          </a:prstGeom>
          <a:noFill/>
        </p:spPr>
        <p:txBody>
          <a:bodyPr vertOverflow="overflow" vert="horz" wrap="square" rtlCol="0" anchor="t">
            <a:spAutoFit/>
          </a:bodyPr>
          <a:lstStyle/>
          <a:p>
            <a:pPr algn="l">
              <a:buNone/>
            </a:pPr>
            <a:r>
              <a:rPr lang="en-US" sz="2400" b="1" dirty="0">
                <a:solidFill>
                  <a:srgbClr val="1F3A5F"/>
                </a:solidFill>
                <a:latin typeface="Consolas"/>
              </a:rPr>
              <a:t>UserProfile</a:t>
            </a:r>
          </a:p>
        </p:txBody>
      </p:sp>
      <p:sp>
        <p:nvSpPr>
          <p:cNvPr id="5" name="div">
            <a:extLst>
              <a:ext uri="{FF2B5EF4-FFF2-40B4-BE49-F238E27FC236}">
                <a16:creationId xmlns:a16="http://schemas.microsoft.com/office/drawing/2014/main" id="{9300689C-BF61-2C4C-B41F-C44A2AC8AFFC}"/>
              </a:ext>
            </a:extLst>
          </p:cNvPr>
          <p:cNvSpPr/>
          <p:nvPr/>
        </p:nvSpPr>
        <p:spPr>
          <a:xfrm>
            <a:off x="1041400" y="10668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lbl1">
            <a:extLst>
              <a:ext uri="{FF2B5EF4-FFF2-40B4-BE49-F238E27FC236}">
                <a16:creationId xmlns:a16="http://schemas.microsoft.com/office/drawing/2014/main" id="{813B24C3-0E9D-284E-98D3-D02F738836D4}"/>
              </a:ext>
            </a:extLst>
          </p:cNvPr>
          <p:cNvSpPr txBox="1"/>
          <p:nvPr/>
        </p:nvSpPr>
        <p:spPr>
          <a:xfrm>
            <a:off x="1219200" y="1498600"/>
            <a:ext cx="2540000" cy="300082"/>
          </a:xfrm>
          <a:prstGeom prst="rect">
            <a:avLst/>
          </a:prstGeom>
          <a:noFill/>
        </p:spPr>
        <p:txBody>
          <a:bodyPr vertOverflow="overflow" vert="horz" wrap="square" rtlCol="0" anchor="t">
            <a:spAutoFit/>
          </a:bodyPr>
          <a:lstStyle/>
          <a:p>
            <a:pPr algn="l">
              <a:buNone/>
            </a:pPr>
            <a:r>
              <a:rPr lang="en-US" sz="1350" b="1" dirty="0">
                <a:solidFill>
                  <a:srgbClr val="1F3A5F"/>
                </a:solidFill>
              </a:rPr>
              <a:t>Before</a:t>
            </a:r>
          </a:p>
        </p:txBody>
      </p:sp>
      <p:sp>
        <p:nvSpPr>
          <p:cNvPr id="7" name="lbl2">
            <a:extLst>
              <a:ext uri="{FF2B5EF4-FFF2-40B4-BE49-F238E27FC236}">
                <a16:creationId xmlns:a16="http://schemas.microsoft.com/office/drawing/2014/main" id="{B003F8C8-010B-0940-8E7B-C432B69A4C56}"/>
              </a:ext>
            </a:extLst>
          </p:cNvPr>
          <p:cNvSpPr txBox="1"/>
          <p:nvPr/>
        </p:nvSpPr>
        <p:spPr>
          <a:xfrm>
            <a:off x="8305800" y="1498600"/>
            <a:ext cx="2540000" cy="300082"/>
          </a:xfrm>
          <a:prstGeom prst="rect">
            <a:avLst/>
          </a:prstGeom>
          <a:noFill/>
        </p:spPr>
        <p:txBody>
          <a:bodyPr vertOverflow="overflow" vert="horz" wrap="square" rtlCol="0" anchor="t">
            <a:spAutoFit/>
          </a:bodyPr>
          <a:lstStyle/>
          <a:p>
            <a:pPr algn="l">
              <a:buNone/>
            </a:pPr>
            <a:r>
              <a:rPr lang="en-US" sz="1350" b="1" dirty="0">
                <a:solidFill>
                  <a:srgbClr val="5A7D5A"/>
                </a:solidFill>
              </a:rPr>
              <a:t>After</a:t>
            </a:r>
          </a:p>
        </p:txBody>
      </p:sp>
      <p:sp>
        <p:nvSpPr>
          <p:cNvPr id="9" name="arrow">
            <a:extLst>
              <a:ext uri="{FF2B5EF4-FFF2-40B4-BE49-F238E27FC236}">
                <a16:creationId xmlns:a16="http://schemas.microsoft.com/office/drawing/2014/main" id="{6957ADB0-EE8A-7E43-97CB-65DE82CED7DD}"/>
              </a:ext>
            </a:extLst>
          </p:cNvPr>
          <p:cNvSpPr/>
          <p:nvPr/>
        </p:nvSpPr>
        <p:spPr>
          <a:xfrm>
            <a:off x="4089400" y="3200400"/>
            <a:ext cx="177800" cy="203200"/>
          </a:xfrm>
          <a:prstGeom prst="rightArrow">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arrow2">
            <a:extLst>
              <a:ext uri="{FF2B5EF4-FFF2-40B4-BE49-F238E27FC236}">
                <a16:creationId xmlns:a16="http://schemas.microsoft.com/office/drawing/2014/main" id="{B803651C-D732-E54A-838B-4FA0073FC0F8}"/>
              </a:ext>
            </a:extLst>
          </p:cNvPr>
          <p:cNvSpPr/>
          <p:nvPr/>
        </p:nvSpPr>
        <p:spPr>
          <a:xfrm>
            <a:off x="7899400" y="3200400"/>
            <a:ext cx="177800" cy="203200"/>
          </a:xfrm>
          <a:prstGeom prst="rightArrow">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midhead">
            <a:extLst>
              <a:ext uri="{FF2B5EF4-FFF2-40B4-BE49-F238E27FC236}">
                <a16:creationId xmlns:a16="http://schemas.microsoft.com/office/drawing/2014/main" id="{3E12BC6A-7A0D-6045-95B1-764D53694F84}"/>
              </a:ext>
            </a:extLst>
          </p:cNvPr>
          <p:cNvSpPr txBox="1"/>
          <p:nvPr/>
        </p:nvSpPr>
        <p:spPr>
          <a:xfrm>
            <a:off x="4521200" y="1498600"/>
            <a:ext cx="3149600" cy="300082"/>
          </a:xfrm>
          <a:prstGeom prst="rect">
            <a:avLst/>
          </a:prstGeom>
          <a:noFill/>
        </p:spPr>
        <p:txBody>
          <a:bodyPr vertOverflow="overflow" vert="horz" wrap="square" rtlCol="0" anchor="t">
            <a:spAutoFit/>
          </a:bodyPr>
          <a:lstStyle/>
          <a:p>
            <a:pPr algn="l">
              <a:buNone/>
            </a:pPr>
            <a:r>
              <a:rPr lang="en-US" sz="1350" b="1" dirty="0">
                <a:solidFill>
                  <a:srgbClr val="A14B4B"/>
                </a:solidFill>
              </a:rPr>
              <a:t>Schema update 22</a:t>
            </a:r>
          </a:p>
        </p:txBody>
      </p:sp>
      <p:sp>
        <p:nvSpPr>
          <p:cNvPr id="15" name="midsub">
            <a:extLst>
              <a:ext uri="{FF2B5EF4-FFF2-40B4-BE49-F238E27FC236}">
                <a16:creationId xmlns:a16="http://schemas.microsoft.com/office/drawing/2014/main" id="{A7390665-D044-564A-8602-27B58B97D13A}"/>
              </a:ext>
            </a:extLst>
          </p:cNvPr>
          <p:cNvSpPr txBox="1"/>
          <p:nvPr/>
        </p:nvSpPr>
        <p:spPr>
          <a:xfrm>
            <a:off x="4521200" y="1828800"/>
            <a:ext cx="3149600" cy="300082"/>
          </a:xfrm>
          <a:prstGeom prst="rect">
            <a:avLst/>
          </a:prstGeom>
          <a:noFill/>
        </p:spPr>
        <p:txBody>
          <a:bodyPr vertOverflow="overflow" vert="horz" wrap="square" rtlCol="0" anchor="t">
            <a:spAutoFit/>
          </a:bodyPr>
          <a:lstStyle/>
          <a:p>
            <a:pPr algn="l">
              <a:buNone/>
            </a:pPr>
            <a:r>
              <a:rPr lang="en-US" sz="1350" dirty="0">
                <a:solidFill>
                  <a:srgbClr val="8C4A46"/>
                </a:solidFill>
              </a:rPr>
              <a:t>Removed 15 dead columns</a:t>
            </a:r>
          </a:p>
        </p:txBody>
      </p:sp>
      <p:sp>
        <p:nvSpPr>
          <p:cNvPr id="17" name="midlist">
            <a:extLst>
              <a:ext uri="{FF2B5EF4-FFF2-40B4-BE49-F238E27FC236}">
                <a16:creationId xmlns:a16="http://schemas.microsoft.com/office/drawing/2014/main" id="{0E2AE593-E9F9-DD4F-A840-E0D8CD5F2F74}"/>
              </a:ext>
            </a:extLst>
          </p:cNvPr>
          <p:cNvSpPr txBox="1"/>
          <p:nvPr/>
        </p:nvSpPr>
        <p:spPr>
          <a:xfrm>
            <a:off x="4521200" y="2209800"/>
            <a:ext cx="3175000" cy="2969211"/>
          </a:xfrm>
          <a:prstGeom prst="rect">
            <a:avLst/>
          </a:prstGeom>
          <a:noFill/>
        </p:spPr>
        <p:txBody>
          <a:bodyPr vertOverflow="overflow" vert="horz" wrap="square" rtlCol="0" anchor="t">
            <a:spAutoFit/>
          </a:bodyPr>
          <a:lstStyle/>
          <a:p>
            <a:pPr algn="l">
              <a:lnSpc>
                <a:spcPts val="1450"/>
              </a:lnSpc>
              <a:buNone/>
            </a:pPr>
            <a:r>
              <a:rPr lang="en-US" sz="1100" dirty="0">
                <a:solidFill>
                  <a:srgbClr val="8C4A46"/>
                </a:solidFill>
                <a:latin typeface="Consolas"/>
              </a:rPr>
              <a:t>InstructorDiscount</a:t>
            </a:r>
          </a:p>
          <a:p>
            <a:pPr algn="l">
              <a:lnSpc>
                <a:spcPts val="1450"/>
              </a:lnSpc>
              <a:buNone/>
            </a:pPr>
            <a:r>
              <a:rPr lang="en-US" sz="1100" dirty="0">
                <a:solidFill>
                  <a:srgbClr val="8C4A46"/>
                </a:solidFill>
                <a:latin typeface="Consolas"/>
              </a:rPr>
              <a:t>DisplayCertSection</a:t>
            </a:r>
          </a:p>
          <a:p>
            <a:pPr algn="l">
              <a:lnSpc>
                <a:spcPts val="1450"/>
              </a:lnSpc>
              <a:buNone/>
            </a:pPr>
            <a:r>
              <a:rPr lang="en-US" sz="1100" dirty="0">
                <a:solidFill>
                  <a:srgbClr val="8C4A46"/>
                </a:solidFill>
                <a:latin typeface="Consolas"/>
              </a:rPr>
              <a:t>DisplayOtherCertSection</a:t>
            </a:r>
          </a:p>
          <a:p>
            <a:pPr algn="l">
              <a:lnSpc>
                <a:spcPts val="1450"/>
              </a:lnSpc>
              <a:buNone/>
            </a:pPr>
            <a:r>
              <a:rPr lang="en-US" sz="1100" dirty="0">
                <a:solidFill>
                  <a:srgbClr val="8C4A46"/>
                </a:solidFill>
                <a:latin typeface="Consolas"/>
              </a:rPr>
              <a:t>DisplayLearnTransSection</a:t>
            </a:r>
          </a:p>
          <a:p>
            <a:pPr algn="l">
              <a:lnSpc>
                <a:spcPts val="1450"/>
              </a:lnSpc>
              <a:buNone/>
            </a:pPr>
            <a:r>
              <a:rPr lang="en-US" sz="1100" dirty="0">
                <a:solidFill>
                  <a:srgbClr val="8C4A46"/>
                </a:solidFill>
                <a:latin typeface="Consolas"/>
              </a:rPr>
              <a:t>UsePrintedSig</a:t>
            </a:r>
          </a:p>
          <a:p>
            <a:pPr algn="l">
              <a:lnSpc>
                <a:spcPts val="1450"/>
              </a:lnSpc>
              <a:buNone/>
            </a:pPr>
            <a:r>
              <a:rPr lang="en-US" sz="1100" dirty="0">
                <a:solidFill>
                  <a:srgbClr val="8C4A46"/>
                </a:solidFill>
                <a:latin typeface="Consolas"/>
              </a:rPr>
              <a:t>isTranscriptSupressedinInstProfile</a:t>
            </a:r>
          </a:p>
          <a:p>
            <a:pPr algn="l">
              <a:lnSpc>
                <a:spcPts val="1450"/>
              </a:lnSpc>
              <a:buNone/>
            </a:pPr>
            <a:r>
              <a:rPr lang="en-US" sz="1100" dirty="0">
                <a:solidFill>
                  <a:srgbClr val="8C4A46"/>
                </a:solidFill>
                <a:latin typeface="Consolas"/>
              </a:rPr>
              <a:t>Region</a:t>
            </a:r>
          </a:p>
          <a:p>
            <a:pPr algn="l">
              <a:lnSpc>
                <a:spcPts val="1450"/>
              </a:lnSpc>
              <a:buNone/>
            </a:pPr>
            <a:r>
              <a:rPr lang="en-US" sz="1100" dirty="0">
                <a:solidFill>
                  <a:srgbClr val="8C4A46"/>
                </a:solidFill>
                <a:latin typeface="Consolas"/>
              </a:rPr>
              <a:t>isDefaultPassword</a:t>
            </a:r>
          </a:p>
          <a:p>
            <a:pPr algn="l">
              <a:lnSpc>
                <a:spcPts val="1450"/>
              </a:lnSpc>
              <a:buNone/>
            </a:pPr>
            <a:r>
              <a:rPr lang="en-US" sz="1100" dirty="0">
                <a:solidFill>
                  <a:srgbClr val="8C4A46"/>
                </a:solidFill>
                <a:latin typeface="Consolas"/>
              </a:rPr>
              <a:t>isInterestID</a:t>
            </a:r>
          </a:p>
          <a:p>
            <a:pPr algn="l">
              <a:lnSpc>
                <a:spcPts val="1450"/>
              </a:lnSpc>
              <a:buNone/>
            </a:pPr>
            <a:r>
              <a:rPr lang="en-US" sz="1100" dirty="0">
                <a:solidFill>
                  <a:srgbClr val="8C4A46"/>
                </a:solidFill>
                <a:latin typeface="Consolas"/>
              </a:rPr>
              <a:t>isInterestBuisness</a:t>
            </a:r>
          </a:p>
          <a:p>
            <a:pPr algn="l">
              <a:lnSpc>
                <a:spcPts val="1450"/>
              </a:lnSpc>
              <a:buNone/>
            </a:pPr>
            <a:r>
              <a:rPr lang="en-US" sz="1100" dirty="0">
                <a:solidFill>
                  <a:srgbClr val="8C4A46"/>
                </a:solidFill>
                <a:latin typeface="Consolas"/>
              </a:rPr>
              <a:t>isInterestLeadership</a:t>
            </a:r>
          </a:p>
          <a:p>
            <a:pPr algn="l">
              <a:lnSpc>
                <a:spcPts val="1450"/>
              </a:lnSpc>
              <a:buNone/>
            </a:pPr>
            <a:r>
              <a:rPr lang="en-US" sz="1100" dirty="0">
                <a:solidFill>
                  <a:srgbClr val="8C4A46"/>
                </a:solidFill>
                <a:latin typeface="Consolas"/>
              </a:rPr>
              <a:t>Salutation</a:t>
            </a:r>
          </a:p>
          <a:p>
            <a:pPr algn="l">
              <a:lnSpc>
                <a:spcPts val="1450"/>
              </a:lnSpc>
              <a:buNone/>
            </a:pPr>
            <a:r>
              <a:rPr lang="en-US" sz="1100" dirty="0">
                <a:solidFill>
                  <a:srgbClr val="8C4A46"/>
                </a:solidFill>
                <a:latin typeface="Consolas"/>
              </a:rPr>
              <a:t>HideICPEPLPanel</a:t>
            </a:r>
          </a:p>
          <a:p>
            <a:pPr algn="l">
              <a:lnSpc>
                <a:spcPts val="1450"/>
              </a:lnSpc>
              <a:buNone/>
            </a:pPr>
            <a:r>
              <a:rPr lang="en-US" sz="1100" dirty="0">
                <a:solidFill>
                  <a:srgbClr val="8C4A46"/>
                </a:solidFill>
                <a:latin typeface="Consolas"/>
              </a:rPr>
              <a:t>PasswordChangePending</a:t>
            </a:r>
          </a:p>
          <a:p>
            <a:pPr algn="l">
              <a:lnSpc>
                <a:spcPts val="1450"/>
              </a:lnSpc>
              <a:buNone/>
            </a:pPr>
            <a:r>
              <a:rPr lang="en-US" sz="1100" dirty="0">
                <a:solidFill>
                  <a:srgbClr val="8C4A46"/>
                </a:solidFill>
                <a:latin typeface="Consolas"/>
              </a:rPr>
              <a:t>Title</a:t>
            </a:r>
          </a:p>
        </p:txBody>
      </p:sp>
      <p:sp>
        <p:nvSpPr>
          <p:cNvPr id="18" name="bigL">
            <a:extLst>
              <a:ext uri="{FF2B5EF4-FFF2-40B4-BE49-F238E27FC236}">
                <a16:creationId xmlns:a16="http://schemas.microsoft.com/office/drawing/2014/main" id="{3CD1ED5E-C60E-9240-8F88-6950A1E7A180}"/>
              </a:ext>
            </a:extLst>
          </p:cNvPr>
          <p:cNvSpPr txBox="1"/>
          <p:nvPr/>
        </p:nvSpPr>
        <p:spPr>
          <a:xfrm>
            <a:off x="1219200" y="1803400"/>
            <a:ext cx="1524000" cy="707886"/>
          </a:xfrm>
          <a:prstGeom prst="rect">
            <a:avLst/>
          </a:prstGeom>
          <a:noFill/>
        </p:spPr>
        <p:txBody>
          <a:bodyPr vertOverflow="overflow" vert="horz" wrap="square" rtlCol="0" anchor="t">
            <a:spAutoFit/>
          </a:bodyPr>
          <a:lstStyle/>
          <a:p>
            <a:pPr algn="l">
              <a:buNone/>
            </a:pPr>
            <a:r>
              <a:rPr lang="en-US" sz="4000" b="1" dirty="0">
                <a:solidFill>
                  <a:srgbClr val="1F3A5F"/>
                </a:solidFill>
              </a:rPr>
              <a:t>42</a:t>
            </a:r>
            <a:r>
              <a:rPr lang="en-US" sz="1200" dirty="0">
                <a:solidFill>
                  <a:srgbClr val="6B7280"/>
                </a:solidFill>
              </a:rPr>
              <a:t>  columns</a:t>
            </a:r>
          </a:p>
        </p:txBody>
      </p:sp>
      <p:sp>
        <p:nvSpPr>
          <p:cNvPr id="19" name="bigR">
            <a:extLst>
              <a:ext uri="{FF2B5EF4-FFF2-40B4-BE49-F238E27FC236}">
                <a16:creationId xmlns:a16="http://schemas.microsoft.com/office/drawing/2014/main" id="{D8A2E1EC-428F-4141-979D-F9F53A6F5DB3}"/>
              </a:ext>
            </a:extLst>
          </p:cNvPr>
          <p:cNvSpPr txBox="1"/>
          <p:nvPr/>
        </p:nvSpPr>
        <p:spPr>
          <a:xfrm>
            <a:off x="8305800" y="1803400"/>
            <a:ext cx="1524000" cy="707886"/>
          </a:xfrm>
          <a:prstGeom prst="rect">
            <a:avLst/>
          </a:prstGeom>
          <a:noFill/>
        </p:spPr>
        <p:txBody>
          <a:bodyPr vertOverflow="overflow" vert="horz" wrap="square" rtlCol="0" anchor="t">
            <a:spAutoFit/>
          </a:bodyPr>
          <a:lstStyle/>
          <a:p>
            <a:pPr algn="l">
              <a:buNone/>
            </a:pPr>
            <a:r>
              <a:rPr lang="en-US" sz="4000" b="1" dirty="0">
                <a:solidFill>
                  <a:srgbClr val="5A7D5A"/>
                </a:solidFill>
              </a:rPr>
              <a:t>27</a:t>
            </a:r>
            <a:r>
              <a:rPr lang="en-US" sz="1200" dirty="0">
                <a:solidFill>
                  <a:srgbClr val="6B7280"/>
                </a:solidFill>
              </a:rPr>
              <a:t>  columns</a:t>
            </a:r>
          </a:p>
        </p:txBody>
      </p:sp>
      <p:sp>
        <p:nvSpPr>
          <p:cNvPr id="20" name="blk">
            <a:extLst>
              <a:ext uri="{FF2B5EF4-FFF2-40B4-BE49-F238E27FC236}">
                <a16:creationId xmlns:a16="http://schemas.microsoft.com/office/drawing/2014/main" id="{774FCECE-008C-B64E-8B10-E1DDC5021F77}"/>
              </a:ext>
            </a:extLst>
          </p:cNvPr>
          <p:cNvSpPr/>
          <p:nvPr/>
        </p:nvSpPr>
        <p:spPr>
          <a:xfrm>
            <a:off x="1219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blk">
            <a:extLst>
              <a:ext uri="{FF2B5EF4-FFF2-40B4-BE49-F238E27FC236}">
                <a16:creationId xmlns:a16="http://schemas.microsoft.com/office/drawing/2014/main" id="{9D222322-C277-5F4D-B95D-CBA1C3F3701A}"/>
              </a:ext>
            </a:extLst>
          </p:cNvPr>
          <p:cNvSpPr/>
          <p:nvPr/>
        </p:nvSpPr>
        <p:spPr>
          <a:xfrm>
            <a:off x="1663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blk">
            <a:extLst>
              <a:ext uri="{FF2B5EF4-FFF2-40B4-BE49-F238E27FC236}">
                <a16:creationId xmlns:a16="http://schemas.microsoft.com/office/drawing/2014/main" id="{F723E071-FBBD-6444-B8E6-CEFC3E5090A8}"/>
              </a:ext>
            </a:extLst>
          </p:cNvPr>
          <p:cNvSpPr/>
          <p:nvPr/>
        </p:nvSpPr>
        <p:spPr>
          <a:xfrm>
            <a:off x="2108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blk">
            <a:extLst>
              <a:ext uri="{FF2B5EF4-FFF2-40B4-BE49-F238E27FC236}">
                <a16:creationId xmlns:a16="http://schemas.microsoft.com/office/drawing/2014/main" id="{D40F92AA-3787-3E4B-A373-F9E16FBA5D3E}"/>
              </a:ext>
            </a:extLst>
          </p:cNvPr>
          <p:cNvSpPr/>
          <p:nvPr/>
        </p:nvSpPr>
        <p:spPr>
          <a:xfrm>
            <a:off x="2552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blk">
            <a:extLst>
              <a:ext uri="{FF2B5EF4-FFF2-40B4-BE49-F238E27FC236}">
                <a16:creationId xmlns:a16="http://schemas.microsoft.com/office/drawing/2014/main" id="{EA759990-3CB4-3B4D-A14C-6BECEC1FC62E}"/>
              </a:ext>
            </a:extLst>
          </p:cNvPr>
          <p:cNvSpPr/>
          <p:nvPr/>
        </p:nvSpPr>
        <p:spPr>
          <a:xfrm>
            <a:off x="2997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blk">
            <a:extLst>
              <a:ext uri="{FF2B5EF4-FFF2-40B4-BE49-F238E27FC236}">
                <a16:creationId xmlns:a16="http://schemas.microsoft.com/office/drawing/2014/main" id="{3DD3BBEF-9699-2C44-92FB-59F9C4D0AE1E}"/>
              </a:ext>
            </a:extLst>
          </p:cNvPr>
          <p:cNvSpPr/>
          <p:nvPr/>
        </p:nvSpPr>
        <p:spPr>
          <a:xfrm>
            <a:off x="3441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blk">
            <a:extLst>
              <a:ext uri="{FF2B5EF4-FFF2-40B4-BE49-F238E27FC236}">
                <a16:creationId xmlns:a16="http://schemas.microsoft.com/office/drawing/2014/main" id="{E1ED895B-14BC-3A40-8305-53168332E43F}"/>
              </a:ext>
            </a:extLst>
          </p:cNvPr>
          <p:cNvSpPr/>
          <p:nvPr/>
        </p:nvSpPr>
        <p:spPr>
          <a:xfrm>
            <a:off x="1219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blk">
            <a:extLst>
              <a:ext uri="{FF2B5EF4-FFF2-40B4-BE49-F238E27FC236}">
                <a16:creationId xmlns:a16="http://schemas.microsoft.com/office/drawing/2014/main" id="{7824159A-BC70-7042-A855-8D0BEEBE9B4C}"/>
              </a:ext>
            </a:extLst>
          </p:cNvPr>
          <p:cNvSpPr/>
          <p:nvPr/>
        </p:nvSpPr>
        <p:spPr>
          <a:xfrm>
            <a:off x="1663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blk">
            <a:extLst>
              <a:ext uri="{FF2B5EF4-FFF2-40B4-BE49-F238E27FC236}">
                <a16:creationId xmlns:a16="http://schemas.microsoft.com/office/drawing/2014/main" id="{5B6F96D9-F4DF-0641-8166-10F64D69A831}"/>
              </a:ext>
            </a:extLst>
          </p:cNvPr>
          <p:cNvSpPr/>
          <p:nvPr/>
        </p:nvSpPr>
        <p:spPr>
          <a:xfrm>
            <a:off x="2108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blk">
            <a:extLst>
              <a:ext uri="{FF2B5EF4-FFF2-40B4-BE49-F238E27FC236}">
                <a16:creationId xmlns:a16="http://schemas.microsoft.com/office/drawing/2014/main" id="{12462B3B-F975-B649-B01D-9699490E038E}"/>
              </a:ext>
            </a:extLst>
          </p:cNvPr>
          <p:cNvSpPr/>
          <p:nvPr/>
        </p:nvSpPr>
        <p:spPr>
          <a:xfrm>
            <a:off x="2552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blk">
            <a:extLst>
              <a:ext uri="{FF2B5EF4-FFF2-40B4-BE49-F238E27FC236}">
                <a16:creationId xmlns:a16="http://schemas.microsoft.com/office/drawing/2014/main" id="{84A31B5C-F522-C643-8063-C723E73CF402}"/>
              </a:ext>
            </a:extLst>
          </p:cNvPr>
          <p:cNvSpPr/>
          <p:nvPr/>
        </p:nvSpPr>
        <p:spPr>
          <a:xfrm>
            <a:off x="2997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blk">
            <a:extLst>
              <a:ext uri="{FF2B5EF4-FFF2-40B4-BE49-F238E27FC236}">
                <a16:creationId xmlns:a16="http://schemas.microsoft.com/office/drawing/2014/main" id="{0968728C-C145-0D40-AE28-323C62625D5D}"/>
              </a:ext>
            </a:extLst>
          </p:cNvPr>
          <p:cNvSpPr/>
          <p:nvPr/>
        </p:nvSpPr>
        <p:spPr>
          <a:xfrm>
            <a:off x="3441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blk">
            <a:extLst>
              <a:ext uri="{FF2B5EF4-FFF2-40B4-BE49-F238E27FC236}">
                <a16:creationId xmlns:a16="http://schemas.microsoft.com/office/drawing/2014/main" id="{2B9F94DF-298B-1547-8190-A8A5ACF5B6BB}"/>
              </a:ext>
            </a:extLst>
          </p:cNvPr>
          <p:cNvSpPr/>
          <p:nvPr/>
        </p:nvSpPr>
        <p:spPr>
          <a:xfrm>
            <a:off x="1219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blk">
            <a:extLst>
              <a:ext uri="{FF2B5EF4-FFF2-40B4-BE49-F238E27FC236}">
                <a16:creationId xmlns:a16="http://schemas.microsoft.com/office/drawing/2014/main" id="{F0A518A1-0D71-E54B-8982-DAB282812580}"/>
              </a:ext>
            </a:extLst>
          </p:cNvPr>
          <p:cNvSpPr/>
          <p:nvPr/>
        </p:nvSpPr>
        <p:spPr>
          <a:xfrm>
            <a:off x="1663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blk">
            <a:extLst>
              <a:ext uri="{FF2B5EF4-FFF2-40B4-BE49-F238E27FC236}">
                <a16:creationId xmlns:a16="http://schemas.microsoft.com/office/drawing/2014/main" id="{4F0A9320-9132-F946-B6DC-7D0ED75882E8}"/>
              </a:ext>
            </a:extLst>
          </p:cNvPr>
          <p:cNvSpPr/>
          <p:nvPr/>
        </p:nvSpPr>
        <p:spPr>
          <a:xfrm>
            <a:off x="2108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blk">
            <a:extLst>
              <a:ext uri="{FF2B5EF4-FFF2-40B4-BE49-F238E27FC236}">
                <a16:creationId xmlns:a16="http://schemas.microsoft.com/office/drawing/2014/main" id="{036B5F7B-64BB-AF4E-81F0-D6513E539713}"/>
              </a:ext>
            </a:extLst>
          </p:cNvPr>
          <p:cNvSpPr/>
          <p:nvPr/>
        </p:nvSpPr>
        <p:spPr>
          <a:xfrm>
            <a:off x="2552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blk">
            <a:extLst>
              <a:ext uri="{FF2B5EF4-FFF2-40B4-BE49-F238E27FC236}">
                <a16:creationId xmlns:a16="http://schemas.microsoft.com/office/drawing/2014/main" id="{1AE1F6EB-06FC-7A4B-B732-37ECA8675FE0}"/>
              </a:ext>
            </a:extLst>
          </p:cNvPr>
          <p:cNvSpPr/>
          <p:nvPr/>
        </p:nvSpPr>
        <p:spPr>
          <a:xfrm>
            <a:off x="2997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blk">
            <a:extLst>
              <a:ext uri="{FF2B5EF4-FFF2-40B4-BE49-F238E27FC236}">
                <a16:creationId xmlns:a16="http://schemas.microsoft.com/office/drawing/2014/main" id="{19949C42-D52B-8246-A8DE-BA49ADF80003}"/>
              </a:ext>
            </a:extLst>
          </p:cNvPr>
          <p:cNvSpPr/>
          <p:nvPr/>
        </p:nvSpPr>
        <p:spPr>
          <a:xfrm>
            <a:off x="3441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blk">
            <a:extLst>
              <a:ext uri="{FF2B5EF4-FFF2-40B4-BE49-F238E27FC236}">
                <a16:creationId xmlns:a16="http://schemas.microsoft.com/office/drawing/2014/main" id="{5FB6D6AC-F1DB-4D4D-8B9C-B6C183B7B0D0}"/>
              </a:ext>
            </a:extLst>
          </p:cNvPr>
          <p:cNvSpPr/>
          <p:nvPr/>
        </p:nvSpPr>
        <p:spPr>
          <a:xfrm>
            <a:off x="1219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blk">
            <a:extLst>
              <a:ext uri="{FF2B5EF4-FFF2-40B4-BE49-F238E27FC236}">
                <a16:creationId xmlns:a16="http://schemas.microsoft.com/office/drawing/2014/main" id="{8FEB5ABD-D51D-A342-9D30-A69B52BEE974}"/>
              </a:ext>
            </a:extLst>
          </p:cNvPr>
          <p:cNvSpPr/>
          <p:nvPr/>
        </p:nvSpPr>
        <p:spPr>
          <a:xfrm>
            <a:off x="1663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blk">
            <a:extLst>
              <a:ext uri="{FF2B5EF4-FFF2-40B4-BE49-F238E27FC236}">
                <a16:creationId xmlns:a16="http://schemas.microsoft.com/office/drawing/2014/main" id="{8945D663-8857-7548-9AFB-1ED26527D052}"/>
              </a:ext>
            </a:extLst>
          </p:cNvPr>
          <p:cNvSpPr/>
          <p:nvPr/>
        </p:nvSpPr>
        <p:spPr>
          <a:xfrm>
            <a:off x="2108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blk">
            <a:extLst>
              <a:ext uri="{FF2B5EF4-FFF2-40B4-BE49-F238E27FC236}">
                <a16:creationId xmlns:a16="http://schemas.microsoft.com/office/drawing/2014/main" id="{6A55370C-D3DB-B842-AF21-F20FA6E1D1BB}"/>
              </a:ext>
            </a:extLst>
          </p:cNvPr>
          <p:cNvSpPr/>
          <p:nvPr/>
        </p:nvSpPr>
        <p:spPr>
          <a:xfrm>
            <a:off x="2552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blk">
            <a:extLst>
              <a:ext uri="{FF2B5EF4-FFF2-40B4-BE49-F238E27FC236}">
                <a16:creationId xmlns:a16="http://schemas.microsoft.com/office/drawing/2014/main" id="{F2413E8A-DC9D-7C4E-9622-C828F4897615}"/>
              </a:ext>
            </a:extLst>
          </p:cNvPr>
          <p:cNvSpPr/>
          <p:nvPr/>
        </p:nvSpPr>
        <p:spPr>
          <a:xfrm>
            <a:off x="2997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blk">
            <a:extLst>
              <a:ext uri="{FF2B5EF4-FFF2-40B4-BE49-F238E27FC236}">
                <a16:creationId xmlns:a16="http://schemas.microsoft.com/office/drawing/2014/main" id="{243C4DE7-E6AA-0643-B07B-05F231E1D2DE}"/>
              </a:ext>
            </a:extLst>
          </p:cNvPr>
          <p:cNvSpPr/>
          <p:nvPr/>
        </p:nvSpPr>
        <p:spPr>
          <a:xfrm>
            <a:off x="3441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blk">
            <a:extLst>
              <a:ext uri="{FF2B5EF4-FFF2-40B4-BE49-F238E27FC236}">
                <a16:creationId xmlns:a16="http://schemas.microsoft.com/office/drawing/2014/main" id="{548F3B18-B655-8D4D-9381-7E5C9D8FA21D}"/>
              </a:ext>
            </a:extLst>
          </p:cNvPr>
          <p:cNvSpPr/>
          <p:nvPr/>
        </p:nvSpPr>
        <p:spPr>
          <a:xfrm>
            <a:off x="12192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blk">
            <a:extLst>
              <a:ext uri="{FF2B5EF4-FFF2-40B4-BE49-F238E27FC236}">
                <a16:creationId xmlns:a16="http://schemas.microsoft.com/office/drawing/2014/main" id="{DC05C9AA-34C0-C741-8AB8-36C1327ADE96}"/>
              </a:ext>
            </a:extLst>
          </p:cNvPr>
          <p:cNvSpPr/>
          <p:nvPr/>
        </p:nvSpPr>
        <p:spPr>
          <a:xfrm>
            <a:off x="16637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blk">
            <a:extLst>
              <a:ext uri="{FF2B5EF4-FFF2-40B4-BE49-F238E27FC236}">
                <a16:creationId xmlns:a16="http://schemas.microsoft.com/office/drawing/2014/main" id="{592E68FE-AAF4-ED4A-80F4-8B5A7796E70E}"/>
              </a:ext>
            </a:extLst>
          </p:cNvPr>
          <p:cNvSpPr/>
          <p:nvPr/>
        </p:nvSpPr>
        <p:spPr>
          <a:xfrm>
            <a:off x="21082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blk">
            <a:extLst>
              <a:ext uri="{FF2B5EF4-FFF2-40B4-BE49-F238E27FC236}">
                <a16:creationId xmlns:a16="http://schemas.microsoft.com/office/drawing/2014/main" id="{A23DDA55-D028-754D-BCE5-04D4E685F2AA}"/>
              </a:ext>
            </a:extLst>
          </p:cNvPr>
          <p:cNvSpPr/>
          <p:nvPr/>
        </p:nvSpPr>
        <p:spPr>
          <a:xfrm>
            <a:off x="25527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blk">
            <a:extLst>
              <a:ext uri="{FF2B5EF4-FFF2-40B4-BE49-F238E27FC236}">
                <a16:creationId xmlns:a16="http://schemas.microsoft.com/office/drawing/2014/main" id="{384D967F-DD3E-7C44-8305-A99F40F55CDE}"/>
              </a:ext>
            </a:extLst>
          </p:cNvPr>
          <p:cNvSpPr/>
          <p:nvPr/>
        </p:nvSpPr>
        <p:spPr>
          <a:xfrm>
            <a:off x="29972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blk">
            <a:extLst>
              <a:ext uri="{FF2B5EF4-FFF2-40B4-BE49-F238E27FC236}">
                <a16:creationId xmlns:a16="http://schemas.microsoft.com/office/drawing/2014/main" id="{21DD37D5-EA66-8B4E-9C5E-AB16170F1B1E}"/>
              </a:ext>
            </a:extLst>
          </p:cNvPr>
          <p:cNvSpPr/>
          <p:nvPr/>
        </p:nvSpPr>
        <p:spPr>
          <a:xfrm>
            <a:off x="34417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blk">
            <a:extLst>
              <a:ext uri="{FF2B5EF4-FFF2-40B4-BE49-F238E27FC236}">
                <a16:creationId xmlns:a16="http://schemas.microsoft.com/office/drawing/2014/main" id="{9AA0BBE7-59EF-5744-8380-B7245ED8B72F}"/>
              </a:ext>
            </a:extLst>
          </p:cNvPr>
          <p:cNvSpPr/>
          <p:nvPr/>
        </p:nvSpPr>
        <p:spPr>
          <a:xfrm>
            <a:off x="1219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blk">
            <a:extLst>
              <a:ext uri="{FF2B5EF4-FFF2-40B4-BE49-F238E27FC236}">
                <a16:creationId xmlns:a16="http://schemas.microsoft.com/office/drawing/2014/main" id="{D949ECDA-0D7E-F240-A9EA-9CBF5819CAA2}"/>
              </a:ext>
            </a:extLst>
          </p:cNvPr>
          <p:cNvSpPr/>
          <p:nvPr/>
        </p:nvSpPr>
        <p:spPr>
          <a:xfrm>
            <a:off x="1663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blk">
            <a:extLst>
              <a:ext uri="{FF2B5EF4-FFF2-40B4-BE49-F238E27FC236}">
                <a16:creationId xmlns:a16="http://schemas.microsoft.com/office/drawing/2014/main" id="{55BA3BC5-F50B-1744-99C4-A047B8A8C568}"/>
              </a:ext>
            </a:extLst>
          </p:cNvPr>
          <p:cNvSpPr/>
          <p:nvPr/>
        </p:nvSpPr>
        <p:spPr>
          <a:xfrm>
            <a:off x="2108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blk">
            <a:extLst>
              <a:ext uri="{FF2B5EF4-FFF2-40B4-BE49-F238E27FC236}">
                <a16:creationId xmlns:a16="http://schemas.microsoft.com/office/drawing/2014/main" id="{02A55446-92D7-A94B-AFCE-189E43B29B23}"/>
              </a:ext>
            </a:extLst>
          </p:cNvPr>
          <p:cNvSpPr/>
          <p:nvPr/>
        </p:nvSpPr>
        <p:spPr>
          <a:xfrm>
            <a:off x="2552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blk">
            <a:extLst>
              <a:ext uri="{FF2B5EF4-FFF2-40B4-BE49-F238E27FC236}">
                <a16:creationId xmlns:a16="http://schemas.microsoft.com/office/drawing/2014/main" id="{C99BB95E-74C1-364D-A9FB-E29555639A1C}"/>
              </a:ext>
            </a:extLst>
          </p:cNvPr>
          <p:cNvSpPr/>
          <p:nvPr/>
        </p:nvSpPr>
        <p:spPr>
          <a:xfrm>
            <a:off x="2997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blk">
            <a:extLst>
              <a:ext uri="{FF2B5EF4-FFF2-40B4-BE49-F238E27FC236}">
                <a16:creationId xmlns:a16="http://schemas.microsoft.com/office/drawing/2014/main" id="{66EB2138-1047-8744-95CA-CA680D113360}"/>
              </a:ext>
            </a:extLst>
          </p:cNvPr>
          <p:cNvSpPr/>
          <p:nvPr/>
        </p:nvSpPr>
        <p:spPr>
          <a:xfrm>
            <a:off x="3441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blk">
            <a:extLst>
              <a:ext uri="{FF2B5EF4-FFF2-40B4-BE49-F238E27FC236}">
                <a16:creationId xmlns:a16="http://schemas.microsoft.com/office/drawing/2014/main" id="{166E2E8F-44A9-BA4D-B464-C3EBD371A134}"/>
              </a:ext>
            </a:extLst>
          </p:cNvPr>
          <p:cNvSpPr/>
          <p:nvPr/>
        </p:nvSpPr>
        <p:spPr>
          <a:xfrm>
            <a:off x="1219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7" name="blk">
            <a:extLst>
              <a:ext uri="{FF2B5EF4-FFF2-40B4-BE49-F238E27FC236}">
                <a16:creationId xmlns:a16="http://schemas.microsoft.com/office/drawing/2014/main" id="{929DE1E5-11BC-5247-9828-71083B4C58B0}"/>
              </a:ext>
            </a:extLst>
          </p:cNvPr>
          <p:cNvSpPr/>
          <p:nvPr/>
        </p:nvSpPr>
        <p:spPr>
          <a:xfrm>
            <a:off x="1663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8" name="blk">
            <a:extLst>
              <a:ext uri="{FF2B5EF4-FFF2-40B4-BE49-F238E27FC236}">
                <a16:creationId xmlns:a16="http://schemas.microsoft.com/office/drawing/2014/main" id="{B5014573-225E-4143-B13B-64749F1C2664}"/>
              </a:ext>
            </a:extLst>
          </p:cNvPr>
          <p:cNvSpPr/>
          <p:nvPr/>
        </p:nvSpPr>
        <p:spPr>
          <a:xfrm>
            <a:off x="2108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9" name="blk">
            <a:extLst>
              <a:ext uri="{FF2B5EF4-FFF2-40B4-BE49-F238E27FC236}">
                <a16:creationId xmlns:a16="http://schemas.microsoft.com/office/drawing/2014/main" id="{DF7CA9BF-0310-184E-8E2C-B2C1E81F0F01}"/>
              </a:ext>
            </a:extLst>
          </p:cNvPr>
          <p:cNvSpPr/>
          <p:nvPr/>
        </p:nvSpPr>
        <p:spPr>
          <a:xfrm>
            <a:off x="2552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blk">
            <a:extLst>
              <a:ext uri="{FF2B5EF4-FFF2-40B4-BE49-F238E27FC236}">
                <a16:creationId xmlns:a16="http://schemas.microsoft.com/office/drawing/2014/main" id="{2959F5FC-8DB1-5447-B217-96B83C3969B2}"/>
              </a:ext>
            </a:extLst>
          </p:cNvPr>
          <p:cNvSpPr/>
          <p:nvPr/>
        </p:nvSpPr>
        <p:spPr>
          <a:xfrm>
            <a:off x="2997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blk">
            <a:extLst>
              <a:ext uri="{FF2B5EF4-FFF2-40B4-BE49-F238E27FC236}">
                <a16:creationId xmlns:a16="http://schemas.microsoft.com/office/drawing/2014/main" id="{AE4CD37F-F68C-3A42-A5D4-6795B088DD63}"/>
              </a:ext>
            </a:extLst>
          </p:cNvPr>
          <p:cNvSpPr/>
          <p:nvPr/>
        </p:nvSpPr>
        <p:spPr>
          <a:xfrm>
            <a:off x="3441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blk">
            <a:extLst>
              <a:ext uri="{FF2B5EF4-FFF2-40B4-BE49-F238E27FC236}">
                <a16:creationId xmlns:a16="http://schemas.microsoft.com/office/drawing/2014/main" id="{51A4AD29-7D5F-744C-83B3-695AAFD41A18}"/>
              </a:ext>
            </a:extLst>
          </p:cNvPr>
          <p:cNvSpPr/>
          <p:nvPr/>
        </p:nvSpPr>
        <p:spPr>
          <a:xfrm>
            <a:off x="8305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3" name="blk">
            <a:extLst>
              <a:ext uri="{FF2B5EF4-FFF2-40B4-BE49-F238E27FC236}">
                <a16:creationId xmlns:a16="http://schemas.microsoft.com/office/drawing/2014/main" id="{D12FF26F-5320-5B48-B8D7-E3F70D29C5E5}"/>
              </a:ext>
            </a:extLst>
          </p:cNvPr>
          <p:cNvSpPr/>
          <p:nvPr/>
        </p:nvSpPr>
        <p:spPr>
          <a:xfrm>
            <a:off x="8750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4" name="blk">
            <a:extLst>
              <a:ext uri="{FF2B5EF4-FFF2-40B4-BE49-F238E27FC236}">
                <a16:creationId xmlns:a16="http://schemas.microsoft.com/office/drawing/2014/main" id="{F19D2C82-6C99-574C-BC58-9CD201671954}"/>
              </a:ext>
            </a:extLst>
          </p:cNvPr>
          <p:cNvSpPr/>
          <p:nvPr/>
        </p:nvSpPr>
        <p:spPr>
          <a:xfrm>
            <a:off x="9194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5" name="blk">
            <a:extLst>
              <a:ext uri="{FF2B5EF4-FFF2-40B4-BE49-F238E27FC236}">
                <a16:creationId xmlns:a16="http://schemas.microsoft.com/office/drawing/2014/main" id="{9179B0B6-98C9-0B41-B9A7-7792387980AB}"/>
              </a:ext>
            </a:extLst>
          </p:cNvPr>
          <p:cNvSpPr/>
          <p:nvPr/>
        </p:nvSpPr>
        <p:spPr>
          <a:xfrm>
            <a:off x="9639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6" name="blk">
            <a:extLst>
              <a:ext uri="{FF2B5EF4-FFF2-40B4-BE49-F238E27FC236}">
                <a16:creationId xmlns:a16="http://schemas.microsoft.com/office/drawing/2014/main" id="{96927115-FB5C-4544-8ABD-C2645CB6D055}"/>
              </a:ext>
            </a:extLst>
          </p:cNvPr>
          <p:cNvSpPr/>
          <p:nvPr/>
        </p:nvSpPr>
        <p:spPr>
          <a:xfrm>
            <a:off x="10083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blk">
            <a:extLst>
              <a:ext uri="{FF2B5EF4-FFF2-40B4-BE49-F238E27FC236}">
                <a16:creationId xmlns:a16="http://schemas.microsoft.com/office/drawing/2014/main" id="{1F7B5231-87D0-3B4F-B59D-88BF28A31154}"/>
              </a:ext>
            </a:extLst>
          </p:cNvPr>
          <p:cNvSpPr/>
          <p:nvPr/>
        </p:nvSpPr>
        <p:spPr>
          <a:xfrm>
            <a:off x="10528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blk">
            <a:extLst>
              <a:ext uri="{FF2B5EF4-FFF2-40B4-BE49-F238E27FC236}">
                <a16:creationId xmlns:a16="http://schemas.microsoft.com/office/drawing/2014/main" id="{7332B11B-B8E7-9B4B-8B8B-3BD2084E0C13}"/>
              </a:ext>
            </a:extLst>
          </p:cNvPr>
          <p:cNvSpPr/>
          <p:nvPr/>
        </p:nvSpPr>
        <p:spPr>
          <a:xfrm>
            <a:off x="8305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blk">
            <a:extLst>
              <a:ext uri="{FF2B5EF4-FFF2-40B4-BE49-F238E27FC236}">
                <a16:creationId xmlns:a16="http://schemas.microsoft.com/office/drawing/2014/main" id="{7F87E64C-F982-5B42-8598-D34AB91BAB9D}"/>
              </a:ext>
            </a:extLst>
          </p:cNvPr>
          <p:cNvSpPr/>
          <p:nvPr/>
        </p:nvSpPr>
        <p:spPr>
          <a:xfrm>
            <a:off x="8750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0" name="blk">
            <a:extLst>
              <a:ext uri="{FF2B5EF4-FFF2-40B4-BE49-F238E27FC236}">
                <a16:creationId xmlns:a16="http://schemas.microsoft.com/office/drawing/2014/main" id="{DE9ABABA-A145-F245-A061-8BEE2CA9AD81}"/>
              </a:ext>
            </a:extLst>
          </p:cNvPr>
          <p:cNvSpPr/>
          <p:nvPr/>
        </p:nvSpPr>
        <p:spPr>
          <a:xfrm>
            <a:off x="9194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1" name="blk">
            <a:extLst>
              <a:ext uri="{FF2B5EF4-FFF2-40B4-BE49-F238E27FC236}">
                <a16:creationId xmlns:a16="http://schemas.microsoft.com/office/drawing/2014/main" id="{2ADDE538-6915-6144-9BE8-23038F8F5470}"/>
              </a:ext>
            </a:extLst>
          </p:cNvPr>
          <p:cNvSpPr/>
          <p:nvPr/>
        </p:nvSpPr>
        <p:spPr>
          <a:xfrm>
            <a:off x="9639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2" name="blk">
            <a:extLst>
              <a:ext uri="{FF2B5EF4-FFF2-40B4-BE49-F238E27FC236}">
                <a16:creationId xmlns:a16="http://schemas.microsoft.com/office/drawing/2014/main" id="{1CC5E02E-7665-DF4B-B1AB-2901E1CC316B}"/>
              </a:ext>
            </a:extLst>
          </p:cNvPr>
          <p:cNvSpPr/>
          <p:nvPr/>
        </p:nvSpPr>
        <p:spPr>
          <a:xfrm>
            <a:off x="10083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3" name="blk">
            <a:extLst>
              <a:ext uri="{FF2B5EF4-FFF2-40B4-BE49-F238E27FC236}">
                <a16:creationId xmlns:a16="http://schemas.microsoft.com/office/drawing/2014/main" id="{B743F959-C3DE-4844-9C90-6E9EF6E076FD}"/>
              </a:ext>
            </a:extLst>
          </p:cNvPr>
          <p:cNvSpPr/>
          <p:nvPr/>
        </p:nvSpPr>
        <p:spPr>
          <a:xfrm>
            <a:off x="10528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blk">
            <a:extLst>
              <a:ext uri="{FF2B5EF4-FFF2-40B4-BE49-F238E27FC236}">
                <a16:creationId xmlns:a16="http://schemas.microsoft.com/office/drawing/2014/main" id="{7AA6C537-4877-A545-8815-048D852CA075}"/>
              </a:ext>
            </a:extLst>
          </p:cNvPr>
          <p:cNvSpPr/>
          <p:nvPr/>
        </p:nvSpPr>
        <p:spPr>
          <a:xfrm>
            <a:off x="8305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blk">
            <a:extLst>
              <a:ext uri="{FF2B5EF4-FFF2-40B4-BE49-F238E27FC236}">
                <a16:creationId xmlns:a16="http://schemas.microsoft.com/office/drawing/2014/main" id="{7B5EA1A0-7A0F-954D-83F0-3ECF05350104}"/>
              </a:ext>
            </a:extLst>
          </p:cNvPr>
          <p:cNvSpPr/>
          <p:nvPr/>
        </p:nvSpPr>
        <p:spPr>
          <a:xfrm>
            <a:off x="8750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blk">
            <a:extLst>
              <a:ext uri="{FF2B5EF4-FFF2-40B4-BE49-F238E27FC236}">
                <a16:creationId xmlns:a16="http://schemas.microsoft.com/office/drawing/2014/main" id="{EDE19A6C-4F88-CC43-9DCF-E4D728F101E9}"/>
              </a:ext>
            </a:extLst>
          </p:cNvPr>
          <p:cNvSpPr/>
          <p:nvPr/>
        </p:nvSpPr>
        <p:spPr>
          <a:xfrm>
            <a:off x="9194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blk">
            <a:extLst>
              <a:ext uri="{FF2B5EF4-FFF2-40B4-BE49-F238E27FC236}">
                <a16:creationId xmlns:a16="http://schemas.microsoft.com/office/drawing/2014/main" id="{9FFBF612-CB3D-9046-8911-26AA5A6499DB}"/>
              </a:ext>
            </a:extLst>
          </p:cNvPr>
          <p:cNvSpPr/>
          <p:nvPr/>
        </p:nvSpPr>
        <p:spPr>
          <a:xfrm>
            <a:off x="9639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8" name="blk">
            <a:extLst>
              <a:ext uri="{FF2B5EF4-FFF2-40B4-BE49-F238E27FC236}">
                <a16:creationId xmlns:a16="http://schemas.microsoft.com/office/drawing/2014/main" id="{96195A38-8FA3-4D48-9C75-3FCA753C2130}"/>
              </a:ext>
            </a:extLst>
          </p:cNvPr>
          <p:cNvSpPr/>
          <p:nvPr/>
        </p:nvSpPr>
        <p:spPr>
          <a:xfrm>
            <a:off x="10083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blk">
            <a:extLst>
              <a:ext uri="{FF2B5EF4-FFF2-40B4-BE49-F238E27FC236}">
                <a16:creationId xmlns:a16="http://schemas.microsoft.com/office/drawing/2014/main" id="{CC79D812-BBEA-F54B-83C8-BCB54199C260}"/>
              </a:ext>
            </a:extLst>
          </p:cNvPr>
          <p:cNvSpPr/>
          <p:nvPr/>
        </p:nvSpPr>
        <p:spPr>
          <a:xfrm>
            <a:off x="10528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blk">
            <a:extLst>
              <a:ext uri="{FF2B5EF4-FFF2-40B4-BE49-F238E27FC236}">
                <a16:creationId xmlns:a16="http://schemas.microsoft.com/office/drawing/2014/main" id="{C501E058-EBB1-6E44-BFAD-400029A03DCE}"/>
              </a:ext>
            </a:extLst>
          </p:cNvPr>
          <p:cNvSpPr/>
          <p:nvPr/>
        </p:nvSpPr>
        <p:spPr>
          <a:xfrm>
            <a:off x="8305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blk">
            <a:extLst>
              <a:ext uri="{FF2B5EF4-FFF2-40B4-BE49-F238E27FC236}">
                <a16:creationId xmlns:a16="http://schemas.microsoft.com/office/drawing/2014/main" id="{A2BC2B1B-87F5-0B4A-B1EE-BE1ECBF46A06}"/>
              </a:ext>
            </a:extLst>
          </p:cNvPr>
          <p:cNvSpPr/>
          <p:nvPr/>
        </p:nvSpPr>
        <p:spPr>
          <a:xfrm>
            <a:off x="8750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blk">
            <a:extLst>
              <a:ext uri="{FF2B5EF4-FFF2-40B4-BE49-F238E27FC236}">
                <a16:creationId xmlns:a16="http://schemas.microsoft.com/office/drawing/2014/main" id="{6CB05933-4D19-114D-85E6-D3429CF721E4}"/>
              </a:ext>
            </a:extLst>
          </p:cNvPr>
          <p:cNvSpPr/>
          <p:nvPr/>
        </p:nvSpPr>
        <p:spPr>
          <a:xfrm>
            <a:off x="9194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blk">
            <a:extLst>
              <a:ext uri="{FF2B5EF4-FFF2-40B4-BE49-F238E27FC236}">
                <a16:creationId xmlns:a16="http://schemas.microsoft.com/office/drawing/2014/main" id="{2E10AAA4-01BB-C946-942E-049D89F97EEC}"/>
              </a:ext>
            </a:extLst>
          </p:cNvPr>
          <p:cNvSpPr/>
          <p:nvPr/>
        </p:nvSpPr>
        <p:spPr>
          <a:xfrm>
            <a:off x="9639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4" name="blk">
            <a:extLst>
              <a:ext uri="{FF2B5EF4-FFF2-40B4-BE49-F238E27FC236}">
                <a16:creationId xmlns:a16="http://schemas.microsoft.com/office/drawing/2014/main" id="{24CB30B3-D641-5741-910D-FC10363AB886}"/>
              </a:ext>
            </a:extLst>
          </p:cNvPr>
          <p:cNvSpPr/>
          <p:nvPr/>
        </p:nvSpPr>
        <p:spPr>
          <a:xfrm>
            <a:off x="10083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5" name="blk">
            <a:extLst>
              <a:ext uri="{FF2B5EF4-FFF2-40B4-BE49-F238E27FC236}">
                <a16:creationId xmlns:a16="http://schemas.microsoft.com/office/drawing/2014/main" id="{C5019048-16F4-A348-8E50-B31CD14F916F}"/>
              </a:ext>
            </a:extLst>
          </p:cNvPr>
          <p:cNvSpPr/>
          <p:nvPr/>
        </p:nvSpPr>
        <p:spPr>
          <a:xfrm>
            <a:off x="10528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6" name="blk">
            <a:extLst>
              <a:ext uri="{FF2B5EF4-FFF2-40B4-BE49-F238E27FC236}">
                <a16:creationId xmlns:a16="http://schemas.microsoft.com/office/drawing/2014/main" id="{6E961572-7C73-7C46-A052-A83E8FB17962}"/>
              </a:ext>
            </a:extLst>
          </p:cNvPr>
          <p:cNvSpPr/>
          <p:nvPr/>
        </p:nvSpPr>
        <p:spPr>
          <a:xfrm>
            <a:off x="83058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7" name="blk">
            <a:extLst>
              <a:ext uri="{FF2B5EF4-FFF2-40B4-BE49-F238E27FC236}">
                <a16:creationId xmlns:a16="http://schemas.microsoft.com/office/drawing/2014/main" id="{34210E96-F003-EB43-8BA6-FE9B694F314B}"/>
              </a:ext>
            </a:extLst>
          </p:cNvPr>
          <p:cNvSpPr/>
          <p:nvPr/>
        </p:nvSpPr>
        <p:spPr>
          <a:xfrm>
            <a:off x="87503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blk">
            <a:extLst>
              <a:ext uri="{FF2B5EF4-FFF2-40B4-BE49-F238E27FC236}">
                <a16:creationId xmlns:a16="http://schemas.microsoft.com/office/drawing/2014/main" id="{92B2CEA3-0202-2746-B3ED-A92839836A47}"/>
              </a:ext>
            </a:extLst>
          </p:cNvPr>
          <p:cNvSpPr/>
          <p:nvPr/>
        </p:nvSpPr>
        <p:spPr>
          <a:xfrm>
            <a:off x="91948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6370444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99955-C09D-067B-265D-D37E7E2A500B}"/>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917599DA-5CF0-B8C8-AABF-CA1C7C2BA4C3}"/>
              </a:ext>
            </a:extLst>
          </p:cNvPr>
          <p:cNvGrpSpPr/>
          <p:nvPr/>
        </p:nvGrpSpPr>
        <p:grpSpPr>
          <a:xfrm>
            <a:off x="3208" y="750313"/>
            <a:ext cx="11928820" cy="5496483"/>
            <a:chOff x="3208" y="750313"/>
            <a:chExt cx="11928820" cy="5496483"/>
          </a:xfrm>
        </p:grpSpPr>
        <p:cxnSp>
          <p:nvCxnSpPr>
            <p:cNvPr id="7" name="Straight Arrow Connector 6">
              <a:extLst>
                <a:ext uri="{FF2B5EF4-FFF2-40B4-BE49-F238E27FC236}">
                  <a16:creationId xmlns:a16="http://schemas.microsoft.com/office/drawing/2014/main" id="{397E352A-5C63-6346-B0F7-C4D2F3746DB8}"/>
                </a:ext>
              </a:extLst>
            </p:cNvPr>
            <p:cNvCxnSpPr/>
            <p:nvPr/>
          </p:nvCxnSpPr>
          <p:spPr>
            <a:xfrm>
              <a:off x="3208" y="1051987"/>
              <a:ext cx="11928820" cy="5194809"/>
            </a:xfrm>
            <a:prstGeom prst="straightConnector1">
              <a:avLst/>
            </a:prstGeom>
            <a:ln w="254000" cap="flat" cmpd="sng" algn="ctr">
              <a:solidFill>
                <a:schemeClr val="accent1">
                  <a:lumMod val="20000"/>
                  <a:lumOff val="80000"/>
                </a:schemeClr>
              </a:solidFill>
              <a:prstDash val="solid"/>
              <a:miter lim="800000"/>
              <a:headEnd type="none"/>
              <a:tailEnd type="none"/>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EFF885FB-D9A7-E841-BB69-5045DA266552}"/>
                </a:ext>
              </a:extLst>
            </p:cNvPr>
            <p:cNvSpPr/>
            <p:nvPr/>
          </p:nvSpPr>
          <p:spPr>
            <a:xfrm>
              <a:off x="664510" y="750313"/>
              <a:ext cx="603348" cy="603348"/>
            </a:xfrm>
            <a:prstGeom prst="ellipse">
              <a:avLst/>
            </a:prstGeom>
            <a:noFill/>
            <a:ln w="635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Oval 11">
              <a:extLst>
                <a:ext uri="{FF2B5EF4-FFF2-40B4-BE49-F238E27FC236}">
                  <a16:creationId xmlns:a16="http://schemas.microsoft.com/office/drawing/2014/main" id="{0CCCF56A-0703-C54C-80A2-AE34EE05AD8E}"/>
                </a:ext>
              </a:extLst>
            </p:cNvPr>
            <p:cNvSpPr/>
            <p:nvPr/>
          </p:nvSpPr>
          <p:spPr>
            <a:xfrm>
              <a:off x="4364327" y="1729141"/>
              <a:ext cx="1242550" cy="1242550"/>
            </a:xfrm>
            <a:prstGeom prst="ellipse">
              <a:avLst/>
            </a:prstGeom>
            <a:noFill/>
            <a:ln w="1905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Oval 17">
              <a:extLst>
                <a:ext uri="{FF2B5EF4-FFF2-40B4-BE49-F238E27FC236}">
                  <a16:creationId xmlns:a16="http://schemas.microsoft.com/office/drawing/2014/main" id="{97C12395-E426-164D-BCDB-A65E02411D4F}"/>
                </a:ext>
              </a:extLst>
            </p:cNvPr>
            <p:cNvSpPr/>
            <p:nvPr/>
          </p:nvSpPr>
          <p:spPr>
            <a:xfrm>
              <a:off x="9082047" y="2553488"/>
              <a:ext cx="2693605" cy="2693605"/>
            </a:xfrm>
            <a:prstGeom prst="ellipse">
              <a:avLst/>
            </a:prstGeom>
            <a:noFill/>
            <a:ln w="3810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pSp>
      <p:grpSp>
        <p:nvGrpSpPr>
          <p:cNvPr id="13" name="Group 12">
            <a:extLst>
              <a:ext uri="{FF2B5EF4-FFF2-40B4-BE49-F238E27FC236}">
                <a16:creationId xmlns:a16="http://schemas.microsoft.com/office/drawing/2014/main" id="{74A4CC5E-D445-D8BB-111D-93D06A74FD07}"/>
              </a:ext>
            </a:extLst>
          </p:cNvPr>
          <p:cNvGrpSpPr/>
          <p:nvPr/>
        </p:nvGrpSpPr>
        <p:grpSpPr>
          <a:xfrm>
            <a:off x="5760408" y="2322656"/>
            <a:ext cx="918266" cy="461665"/>
            <a:chOff x="9249844" y="2055101"/>
            <a:chExt cx="918266" cy="461665"/>
          </a:xfrm>
        </p:grpSpPr>
        <p:sp>
          <p:nvSpPr>
            <p:cNvPr id="11" name="Rounded Rectangle 10">
              <a:extLst>
                <a:ext uri="{FF2B5EF4-FFF2-40B4-BE49-F238E27FC236}">
                  <a16:creationId xmlns:a16="http://schemas.microsoft.com/office/drawing/2014/main" id="{F8BDB2A5-E119-A22E-B2E3-DA854ED515DC}"/>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BF4EE59-DCBD-5CC1-330D-5615BD79605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4" name="Group 13">
            <a:extLst>
              <a:ext uri="{FF2B5EF4-FFF2-40B4-BE49-F238E27FC236}">
                <a16:creationId xmlns:a16="http://schemas.microsoft.com/office/drawing/2014/main" id="{B3A3EDC6-F870-D40C-07E1-8B2B7321F31B}"/>
              </a:ext>
            </a:extLst>
          </p:cNvPr>
          <p:cNvGrpSpPr/>
          <p:nvPr/>
        </p:nvGrpSpPr>
        <p:grpSpPr>
          <a:xfrm>
            <a:off x="1267858" y="2322656"/>
            <a:ext cx="1730731" cy="461665"/>
            <a:chOff x="3888023" y="2248422"/>
            <a:chExt cx="1730731" cy="461665"/>
          </a:xfrm>
        </p:grpSpPr>
        <p:sp>
          <p:nvSpPr>
            <p:cNvPr id="3" name="Rounded Rectangle 2">
              <a:extLst>
                <a:ext uri="{FF2B5EF4-FFF2-40B4-BE49-F238E27FC236}">
                  <a16:creationId xmlns:a16="http://schemas.microsoft.com/office/drawing/2014/main" id="{DA70517D-1144-4A4B-BE88-9E61A7C88763}"/>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2DB4519-D43C-353A-F9E7-BF5743FA3E84}"/>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5" name="Group 14">
            <a:extLst>
              <a:ext uri="{FF2B5EF4-FFF2-40B4-BE49-F238E27FC236}">
                <a16:creationId xmlns:a16="http://schemas.microsoft.com/office/drawing/2014/main" id="{C57EE841-A8F1-A550-68C6-D7CEA68D7827}"/>
              </a:ext>
            </a:extLst>
          </p:cNvPr>
          <p:cNvGrpSpPr/>
          <p:nvPr/>
        </p:nvGrpSpPr>
        <p:grpSpPr>
          <a:xfrm>
            <a:off x="8949573" y="2322656"/>
            <a:ext cx="1665284" cy="461665"/>
            <a:chOff x="6359523" y="2343503"/>
            <a:chExt cx="1665284" cy="461665"/>
          </a:xfrm>
        </p:grpSpPr>
        <p:sp>
          <p:nvSpPr>
            <p:cNvPr id="10" name="Rounded Rectangle 9">
              <a:extLst>
                <a:ext uri="{FF2B5EF4-FFF2-40B4-BE49-F238E27FC236}">
                  <a16:creationId xmlns:a16="http://schemas.microsoft.com/office/drawing/2014/main" id="{5EF8040E-E8CF-02EF-2442-807007B0F288}"/>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34D42F9-C8E0-81D3-A111-5794436EB986}"/>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 name="TextBox 1">
            <a:extLst>
              <a:ext uri="{FF2B5EF4-FFF2-40B4-BE49-F238E27FC236}">
                <a16:creationId xmlns:a16="http://schemas.microsoft.com/office/drawing/2014/main" id="{0E2B3B52-B682-D449-9F34-BE12F7813806}"/>
              </a:ext>
            </a:extLst>
          </p:cNvPr>
          <p:cNvSpPr txBox="1"/>
          <p:nvPr/>
        </p:nvSpPr>
        <p:spPr>
          <a:xfrm>
            <a:off x="768907" y="3576935"/>
            <a:ext cx="2728632" cy="461665"/>
          </a:xfrm>
          <a:prstGeom prst="rect">
            <a:avLst/>
          </a:prstGeom>
          <a:noFill/>
        </p:spPr>
        <p:txBody>
          <a:bodyPr wrap="none" rtlCol="0">
            <a:spAutoFit/>
          </a:bodyPr>
          <a:lstStyle/>
          <a:p>
            <a:pPr algn="l">
              <a:buNone/>
            </a:pPr>
            <a:r>
              <a:rPr lang="en-US" sz="2400" b="1" dirty="0">
                <a:solidFill>
                  <a:srgbClr val="1F3A5F"/>
                </a:solidFill>
              </a:rPr>
              <a:t>15 markdown files</a:t>
            </a:r>
          </a:p>
        </p:txBody>
      </p:sp>
      <p:sp>
        <p:nvSpPr>
          <p:cNvPr id="4" name="TextBox 3">
            <a:extLst>
              <a:ext uri="{FF2B5EF4-FFF2-40B4-BE49-F238E27FC236}">
                <a16:creationId xmlns:a16="http://schemas.microsoft.com/office/drawing/2014/main" id="{DD7AAB50-B241-F717-0E49-18B702DD6306}"/>
              </a:ext>
            </a:extLst>
          </p:cNvPr>
          <p:cNvSpPr txBox="1"/>
          <p:nvPr/>
        </p:nvSpPr>
        <p:spPr>
          <a:xfrm>
            <a:off x="4906651" y="3572470"/>
            <a:ext cx="2625783" cy="830997"/>
          </a:xfrm>
          <a:prstGeom prst="rect">
            <a:avLst/>
          </a:prstGeom>
          <a:noFill/>
        </p:spPr>
        <p:txBody>
          <a:bodyPr wrap="none" rtlCol="0">
            <a:spAutoFit/>
          </a:bodyPr>
          <a:lstStyle/>
          <a:p>
            <a:pPr algn="ctr">
              <a:buNone/>
            </a:pPr>
            <a:r>
              <a:rPr lang="en-US" sz="2400" b="1" dirty="0">
                <a:solidFill>
                  <a:srgbClr val="1F3A5F"/>
                </a:solidFill>
              </a:rPr>
              <a:t>6 CLI Tools</a:t>
            </a:r>
            <a:br>
              <a:rPr lang="en-US" sz="2400" b="1" dirty="0">
                <a:solidFill>
                  <a:srgbClr val="1F3A5F"/>
                </a:solidFill>
              </a:rPr>
            </a:br>
            <a:r>
              <a:rPr lang="en-US" sz="2400" b="1" dirty="0">
                <a:solidFill>
                  <a:srgbClr val="1F3A5F"/>
                </a:solidFill>
              </a:rPr>
              <a:t>+ Update Process</a:t>
            </a:r>
          </a:p>
        </p:txBody>
      </p:sp>
      <p:sp>
        <p:nvSpPr>
          <p:cNvPr id="16" name="TextBox 15">
            <a:extLst>
              <a:ext uri="{FF2B5EF4-FFF2-40B4-BE49-F238E27FC236}">
                <a16:creationId xmlns:a16="http://schemas.microsoft.com/office/drawing/2014/main" id="{F82DF2E9-2D3D-13AC-C6F0-19357B38D8C9}"/>
              </a:ext>
            </a:extLst>
          </p:cNvPr>
          <p:cNvSpPr txBox="1"/>
          <p:nvPr/>
        </p:nvSpPr>
        <p:spPr>
          <a:xfrm>
            <a:off x="8427228" y="3572470"/>
            <a:ext cx="2689839" cy="830997"/>
          </a:xfrm>
          <a:prstGeom prst="rect">
            <a:avLst/>
          </a:prstGeom>
          <a:noFill/>
        </p:spPr>
        <p:txBody>
          <a:bodyPr wrap="none" rtlCol="0">
            <a:spAutoFit/>
          </a:bodyPr>
          <a:lstStyle/>
          <a:p>
            <a:pPr algn="l">
              <a:buNone/>
            </a:pPr>
            <a:r>
              <a:rPr lang="en-US" sz="2400" b="1" dirty="0">
                <a:solidFill>
                  <a:srgbClr val="1F3A5F"/>
                </a:solidFill>
              </a:rPr>
              <a:t>Can see and test </a:t>
            </a:r>
          </a:p>
          <a:p>
            <a:pPr algn="l">
              <a:buNone/>
            </a:pPr>
            <a:r>
              <a:rPr lang="en-US" sz="2400" b="1" dirty="0">
                <a:solidFill>
                  <a:srgbClr val="1F3A5F"/>
                </a:solidFill>
              </a:rPr>
              <a:t>almost everything</a:t>
            </a:r>
          </a:p>
        </p:txBody>
      </p:sp>
    </p:spTree>
    <p:extLst>
      <p:ext uri="{BB962C8B-B14F-4D97-AF65-F5344CB8AC3E}">
        <p14:creationId xmlns:p14="http://schemas.microsoft.com/office/powerpoint/2010/main" val="956092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B0C4F-A855-E263-A0B5-1103C43C0FA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3BC837F-0A0E-0DF0-1204-EA98303A9D2A}"/>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74BDC2EE-5520-5EAC-C2B5-7FEF2CF92E5A}"/>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F9E0336E-39E2-951A-469E-E2C071CACDDC}"/>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19BCF1A9-4B99-4A7E-B6C8-D0CFC520EAFC}"/>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9A358420-AF67-B3D4-D11F-E22DE59515C0}"/>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a:extLst>
              <a:ext uri="{FF2B5EF4-FFF2-40B4-BE49-F238E27FC236}">
                <a16:creationId xmlns:a16="http://schemas.microsoft.com/office/drawing/2014/main" id="{B536D8D3-BD94-09B8-3A41-EE7AD72AC1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a:extLst>
              <a:ext uri="{FF2B5EF4-FFF2-40B4-BE49-F238E27FC236}">
                <a16:creationId xmlns:a16="http://schemas.microsoft.com/office/drawing/2014/main" id="{7D1C481F-1AA1-440F-8ED9-21EFA06E27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02757132-D245-CAF2-3366-621F6F571D20}"/>
              </a:ext>
            </a:extLst>
          </p:cNvPr>
          <p:cNvSpPr/>
          <p:nvPr/>
        </p:nvSpPr>
        <p:spPr>
          <a:xfrm>
            <a:off x="5314950" y="1402915"/>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376D8E8-A3A6-AA65-5E81-B006DE54BBEF}"/>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355076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DE41C-533A-6EB9-A496-78F07B0A706E}"/>
            </a:ext>
          </a:extLst>
        </p:cNvPr>
        <p:cNvGrpSpPr/>
        <p:nvPr/>
      </p:nvGrpSpPr>
      <p:grpSpPr>
        <a:xfrm>
          <a:off x="0" y="0"/>
          <a:ext cx="0" cy="0"/>
          <a:chOff x="0" y="0"/>
          <a:chExt cx="0" cy="0"/>
        </a:xfrm>
      </p:grpSpPr>
      <p:sp>
        <p:nvSpPr>
          <p:cNvPr id="4" name="div">
            <a:extLst>
              <a:ext uri="{FF2B5EF4-FFF2-40B4-BE49-F238E27FC236}">
                <a16:creationId xmlns:a16="http://schemas.microsoft.com/office/drawing/2014/main" id="{92AC9B52-0F26-F73D-F1EF-71BD84373856}"/>
              </a:ext>
            </a:extLst>
          </p:cNvPr>
          <p:cNvSpPr/>
          <p:nvPr/>
        </p:nvSpPr>
        <p:spPr>
          <a:xfrm>
            <a:off x="1041400" y="19050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card0">
            <a:extLst>
              <a:ext uri="{FF2B5EF4-FFF2-40B4-BE49-F238E27FC236}">
                <a16:creationId xmlns:a16="http://schemas.microsoft.com/office/drawing/2014/main" id="{0FF0C8C7-BB02-82FD-41ED-B8BEDA3440E2}"/>
              </a:ext>
            </a:extLst>
          </p:cNvPr>
          <p:cNvSpPr/>
          <p:nvPr/>
        </p:nvSpPr>
        <p:spPr>
          <a:xfrm>
            <a:off x="10414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1">
            <a:extLst>
              <a:ext uri="{FF2B5EF4-FFF2-40B4-BE49-F238E27FC236}">
                <a16:creationId xmlns:a16="http://schemas.microsoft.com/office/drawing/2014/main" id="{049E7D7B-C1BC-3C75-2D0D-BD7F9C02E746}"/>
              </a:ext>
            </a:extLst>
          </p:cNvPr>
          <p:cNvSpPr/>
          <p:nvPr/>
        </p:nvSpPr>
        <p:spPr>
          <a:xfrm>
            <a:off x="36195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2">
            <a:extLst>
              <a:ext uri="{FF2B5EF4-FFF2-40B4-BE49-F238E27FC236}">
                <a16:creationId xmlns:a16="http://schemas.microsoft.com/office/drawing/2014/main" id="{A46AC714-A223-31B9-A50F-478CC60D1FF8}"/>
              </a:ext>
            </a:extLst>
          </p:cNvPr>
          <p:cNvSpPr/>
          <p:nvPr/>
        </p:nvSpPr>
        <p:spPr>
          <a:xfrm>
            <a:off x="61976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card3">
            <a:extLst>
              <a:ext uri="{FF2B5EF4-FFF2-40B4-BE49-F238E27FC236}">
                <a16:creationId xmlns:a16="http://schemas.microsoft.com/office/drawing/2014/main" id="{E509E5FF-8FD0-31D2-A65C-D09E31B86734}"/>
              </a:ext>
            </a:extLst>
          </p:cNvPr>
          <p:cNvSpPr/>
          <p:nvPr/>
        </p:nvSpPr>
        <p:spPr>
          <a:xfrm>
            <a:off x="87757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2BC7D97-9B31-36C5-FE0A-BA702ADC449B}"/>
              </a:ext>
            </a:extLst>
          </p:cNvPr>
          <p:cNvSpPr txBox="1"/>
          <p:nvPr/>
        </p:nvSpPr>
        <p:spPr>
          <a:xfrm>
            <a:off x="1651000" y="990600"/>
            <a:ext cx="910442" cy="461665"/>
          </a:xfrm>
          <a:prstGeom prst="rect">
            <a:avLst/>
          </a:prstGeom>
          <a:noFill/>
        </p:spPr>
        <p:txBody>
          <a:bodyPr wrap="none" rtlCol="0">
            <a:spAutoFit/>
          </a:bodyPr>
          <a:lstStyle/>
          <a:p>
            <a:pPr algn="l"/>
            <a:r>
              <a:rPr lang="en-US" sz="2400" b="1" dirty="0">
                <a:solidFill>
                  <a:srgbClr val="1F3A5F"/>
                </a:solidFill>
              </a:rPr>
              <a:t>Tests</a:t>
            </a:r>
          </a:p>
        </p:txBody>
      </p:sp>
      <p:sp>
        <p:nvSpPr>
          <p:cNvPr id="3" name="TextBox 2">
            <a:extLst>
              <a:ext uri="{FF2B5EF4-FFF2-40B4-BE49-F238E27FC236}">
                <a16:creationId xmlns:a16="http://schemas.microsoft.com/office/drawing/2014/main" id="{B28A7543-72C6-2DB8-793B-629508561D3B}"/>
              </a:ext>
            </a:extLst>
          </p:cNvPr>
          <p:cNvSpPr txBox="1"/>
          <p:nvPr/>
        </p:nvSpPr>
        <p:spPr>
          <a:xfrm>
            <a:off x="1219200" y="3048000"/>
            <a:ext cx="2019300" cy="1278523"/>
          </a:xfrm>
          <a:prstGeom prst="rect">
            <a:avLst/>
          </a:prstGeom>
          <a:noFill/>
        </p:spPr>
        <p:txBody>
          <a:bodyPr wrap="square" rtlCol="0" anchor="t" anchorCtr="0">
            <a:noAutofit/>
          </a:bodyPr>
          <a:lstStyle/>
          <a:p>
            <a:pPr algn="l"/>
            <a:r>
              <a:rPr lang="en-US" sz="2400" b="1" dirty="0">
                <a:solidFill>
                  <a:srgbClr val="FFFFFF"/>
                </a:solidFill>
              </a:rPr>
              <a:t>Unit &amp;</a:t>
            </a:r>
          </a:p>
          <a:p>
            <a:pPr algn="l"/>
            <a:r>
              <a:rPr lang="en-US" sz="2400" b="1" dirty="0">
                <a:solidFill>
                  <a:srgbClr val="FFFFFF"/>
                </a:solidFill>
              </a:rPr>
              <a:t>Full Stack </a:t>
            </a:r>
          </a:p>
          <a:p>
            <a:pPr algn="l"/>
            <a:r>
              <a:rPr lang="en-US" sz="2400" b="1" dirty="0">
                <a:solidFill>
                  <a:srgbClr val="FFFFFF"/>
                </a:solidFill>
              </a:rPr>
              <a:t>Tests</a:t>
            </a:r>
            <a:endParaRPr lang="en-US" sz="1200" dirty="0">
              <a:solidFill>
                <a:srgbClr val="DCE3EC"/>
              </a:solidFill>
            </a:endParaRPr>
          </a:p>
        </p:txBody>
      </p:sp>
      <p:sp>
        <p:nvSpPr>
          <p:cNvPr id="5" name="TextBox 4">
            <a:extLst>
              <a:ext uri="{FF2B5EF4-FFF2-40B4-BE49-F238E27FC236}">
                <a16:creationId xmlns:a16="http://schemas.microsoft.com/office/drawing/2014/main" id="{8F24B436-4127-EEA3-B456-1AED3D9147B4}"/>
              </a:ext>
            </a:extLst>
          </p:cNvPr>
          <p:cNvSpPr txBox="1"/>
          <p:nvPr/>
        </p:nvSpPr>
        <p:spPr>
          <a:xfrm>
            <a:off x="3797300" y="3048000"/>
            <a:ext cx="2019300" cy="1278523"/>
          </a:xfrm>
          <a:prstGeom prst="rect">
            <a:avLst/>
          </a:prstGeom>
          <a:noFill/>
        </p:spPr>
        <p:txBody>
          <a:bodyPr wrap="square" rtlCol="0" anchor="t" anchorCtr="0">
            <a:noAutofit/>
          </a:bodyPr>
          <a:lstStyle/>
          <a:p>
            <a:pPr algn="l"/>
            <a:r>
              <a:rPr lang="en-US" sz="2400" b="1" dirty="0">
                <a:solidFill>
                  <a:srgbClr val="FFFFFF"/>
                </a:solidFill>
              </a:rPr>
              <a:t>Reproduce</a:t>
            </a:r>
          </a:p>
          <a:p>
            <a:pPr algn="l"/>
            <a:r>
              <a:rPr lang="en-US" sz="2400" b="1" dirty="0">
                <a:solidFill>
                  <a:srgbClr val="FFFFFF"/>
                </a:solidFill>
              </a:rPr>
              <a:t>Production </a:t>
            </a:r>
          </a:p>
          <a:p>
            <a:pPr algn="l"/>
            <a:r>
              <a:rPr lang="en-US" sz="2400" b="1" dirty="0">
                <a:solidFill>
                  <a:srgbClr val="FFFFFF"/>
                </a:solidFill>
              </a:rPr>
              <a:t>Bugs</a:t>
            </a:r>
            <a:endParaRPr lang="en-US" sz="1350" b="1" dirty="0">
              <a:solidFill>
                <a:srgbClr val="DCE3EC"/>
              </a:solidFill>
            </a:endParaRPr>
          </a:p>
        </p:txBody>
      </p:sp>
      <p:sp>
        <p:nvSpPr>
          <p:cNvPr id="6" name="TextBox 5">
            <a:extLst>
              <a:ext uri="{FF2B5EF4-FFF2-40B4-BE49-F238E27FC236}">
                <a16:creationId xmlns:a16="http://schemas.microsoft.com/office/drawing/2014/main" id="{02C994AD-632C-322B-ADBD-24B3D3CD90A3}"/>
              </a:ext>
            </a:extLst>
          </p:cNvPr>
          <p:cNvSpPr txBox="1"/>
          <p:nvPr/>
        </p:nvSpPr>
        <p:spPr>
          <a:xfrm>
            <a:off x="6375400" y="3048000"/>
            <a:ext cx="2019300" cy="1063732"/>
          </a:xfrm>
          <a:prstGeom prst="rect">
            <a:avLst/>
          </a:prstGeom>
          <a:noFill/>
        </p:spPr>
        <p:txBody>
          <a:bodyPr wrap="square" rtlCol="0" anchor="t" anchorCtr="0">
            <a:noAutofit/>
          </a:bodyPr>
          <a:lstStyle/>
          <a:p>
            <a:pPr algn="l"/>
            <a:r>
              <a:rPr lang="en-US" sz="2400" b="1" dirty="0">
                <a:solidFill>
                  <a:srgbClr val="FFFFFF"/>
                </a:solidFill>
              </a:rPr>
              <a:t>Test in CI</a:t>
            </a:r>
            <a:endParaRPr lang="en-US" sz="1350" b="1" dirty="0">
              <a:solidFill>
                <a:srgbClr val="DCE3EC"/>
              </a:solidFill>
            </a:endParaRPr>
          </a:p>
        </p:txBody>
      </p:sp>
      <p:sp>
        <p:nvSpPr>
          <p:cNvPr id="7" name="TextBox 6">
            <a:extLst>
              <a:ext uri="{FF2B5EF4-FFF2-40B4-BE49-F238E27FC236}">
                <a16:creationId xmlns:a16="http://schemas.microsoft.com/office/drawing/2014/main" id="{3CAFBC6C-6C5E-B8BB-453A-B474215DC2F8}"/>
              </a:ext>
            </a:extLst>
          </p:cNvPr>
          <p:cNvSpPr txBox="1"/>
          <p:nvPr/>
        </p:nvSpPr>
        <p:spPr>
          <a:xfrm>
            <a:off x="8953500" y="3048000"/>
            <a:ext cx="2019300" cy="1149648"/>
          </a:xfrm>
          <a:prstGeom prst="rect">
            <a:avLst/>
          </a:prstGeom>
          <a:noFill/>
        </p:spPr>
        <p:txBody>
          <a:bodyPr wrap="square" rtlCol="0" anchor="t" anchorCtr="0">
            <a:noAutofit/>
          </a:bodyPr>
          <a:lstStyle/>
          <a:p>
            <a:r>
              <a:rPr lang="en-US" sz="2400" b="1" dirty="0">
                <a:solidFill>
                  <a:srgbClr val="FFFFFF"/>
                </a:solidFill>
              </a:rPr>
              <a:t>65% Coverage</a:t>
            </a:r>
            <a:endParaRPr lang="en-US" sz="1200" dirty="0">
              <a:solidFill>
                <a:srgbClr val="DCE3EC"/>
              </a:solidFill>
            </a:endParaRPr>
          </a:p>
        </p:txBody>
      </p:sp>
      <p:pic>
        <p:nvPicPr>
          <p:cNvPr id="13" name="Graphic 9" descr="Tests">
            <a:extLst>
              <a:ext uri="{FF2B5EF4-FFF2-40B4-BE49-F238E27FC236}">
                <a16:creationId xmlns:a16="http://schemas.microsoft.com/office/drawing/2014/main" id="{55723B0A-A2EC-7CB8-7BFC-CEF29D8145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1115" y="838200"/>
            <a:ext cx="762000" cy="762000"/>
          </a:xfrm>
          <a:prstGeom prst="rect">
            <a:avLst/>
          </a:prstGeom>
        </p:spPr>
      </p:pic>
    </p:spTree>
    <p:extLst>
      <p:ext uri="{BB962C8B-B14F-4D97-AF65-F5344CB8AC3E}">
        <p14:creationId xmlns:p14="http://schemas.microsoft.com/office/powerpoint/2010/main" val="19006910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7EC18-1CAA-5215-C728-E7F2C0FFF51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5D8005A-4282-3F4A-56E7-D8DC54EF722F}"/>
              </a:ext>
            </a:extLst>
          </p:cNvPr>
          <p:cNvSpPr txBox="1"/>
          <p:nvPr/>
        </p:nvSpPr>
        <p:spPr>
          <a:xfrm>
            <a:off x="3460214" y="2819400"/>
            <a:ext cx="5271571" cy="707886"/>
          </a:xfrm>
          <a:prstGeom prst="rect">
            <a:avLst/>
          </a:prstGeom>
          <a:noFill/>
        </p:spPr>
        <p:txBody>
          <a:bodyPr wrap="none" rtlCol="0">
            <a:spAutoFit/>
          </a:bodyPr>
          <a:lstStyle/>
          <a:p>
            <a:pPr algn="ctr">
              <a:buNone/>
            </a:pPr>
            <a:r>
              <a:rPr lang="en-US" sz="4000" b="1" dirty="0">
                <a:solidFill>
                  <a:srgbClr val="1F3A5F"/>
                </a:solidFill>
              </a:rPr>
              <a:t>How did we get there?</a:t>
            </a:r>
          </a:p>
        </p:txBody>
      </p:sp>
      <p:sp>
        <p:nvSpPr>
          <p:cNvPr id="50" name="accent">
            <a:extLst>
              <a:ext uri="{FF2B5EF4-FFF2-40B4-BE49-F238E27FC236}">
                <a16:creationId xmlns:a16="http://schemas.microsoft.com/office/drawing/2014/main" id="{D82BD7B6-6347-61DA-4C94-B635E7FE7746}"/>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714814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0BF83-F008-7535-F647-639820AB695A}"/>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EA41FA55-86B4-1D26-BCE1-DD60440007C1}"/>
              </a:ext>
            </a:extLst>
          </p:cNvPr>
          <p:cNvSpPr/>
          <p:nvPr/>
        </p:nvSpPr>
        <p:spPr>
          <a:xfrm>
            <a:off x="1719951" y="2014215"/>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C1FD0D8A-ABFB-8613-33AB-D83DFBF1558D}"/>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FED1BB91-6B87-7E8C-5E39-4566E098E280}"/>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Run the server</a:t>
            </a:r>
          </a:p>
          <a:p>
            <a:pPr algn="l">
              <a:lnSpc>
                <a:spcPts val="4000"/>
              </a:lnSpc>
              <a:buNone/>
            </a:pPr>
            <a:r>
              <a:rPr lang="en-US" sz="2000" b="1" dirty="0">
                <a:solidFill>
                  <a:srgbClr val="415A77"/>
                </a:solidFill>
                <a:latin typeface="Consolas"/>
              </a:rPr>
              <a:t>[ ]  </a:t>
            </a:r>
            <a:r>
              <a:rPr lang="en-US" sz="2000" dirty="0">
                <a:solidFill>
                  <a:srgbClr val="1F3A5F"/>
                </a:solidFill>
              </a:rPr>
              <a:t>Run the tests</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a:extLst>
              <a:ext uri="{FF2B5EF4-FFF2-40B4-BE49-F238E27FC236}">
                <a16:creationId xmlns:a16="http://schemas.microsoft.com/office/drawing/2014/main" id="{43BADB20-DB57-B5FD-F8A5-81F295842209}"/>
              </a:ext>
            </a:extLst>
          </p:cNvPr>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21614526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E75F1-1018-4820-0267-230738D4D6A1}"/>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56B8933D-4B2D-D804-E8A9-67AEB12D555A}"/>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A89237C3-3782-8700-1C0F-2086EF9F755A}"/>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318CEC46-BFC0-35BE-F6D2-9836DC89AFCD}"/>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66EF874B-25D3-5775-FDF6-F8DB2F6ED91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ACF0EBF-8731-D72A-25CD-1AB58F9A233F}"/>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5ACDF38A-F00F-DB6E-C94E-92D9F961D1B7}"/>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3D74986A-8B49-E026-8BE7-8B892B7CC714}"/>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802108AA-EA69-3282-2DA2-530418268254}"/>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A8767EE5-EB1F-C1B8-D1F1-619462E20C0F}"/>
              </a:ext>
            </a:extLst>
          </p:cNvPr>
          <p:cNvSpPr/>
          <p:nvPr/>
        </p:nvSpPr>
        <p:spPr>
          <a:xfrm>
            <a:off x="6226068"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F6DE3F17-BB41-54F2-3797-21FCCDAC26E0}"/>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4" name="TextBox 13">
            <a:extLst>
              <a:ext uri="{FF2B5EF4-FFF2-40B4-BE49-F238E27FC236}">
                <a16:creationId xmlns:a16="http://schemas.microsoft.com/office/drawing/2014/main" id="{AE2716D7-8431-CC84-797B-345219C5194F}"/>
              </a:ext>
            </a:extLst>
          </p:cNvPr>
          <p:cNvSpPr txBox="1"/>
          <p:nvPr/>
        </p:nvSpPr>
        <p:spPr>
          <a:xfrm>
            <a:off x="6357842" y="1418252"/>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Terminal</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818382F9-820C-A22B-C366-7C83A2110E40}"/>
              </a:ext>
            </a:extLst>
          </p:cNvPr>
          <p:cNvSpPr txBox="1"/>
          <p:nvPr/>
        </p:nvSpPr>
        <p:spPr>
          <a:xfrm>
            <a:off x="6357842" y="1679257"/>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spTree>
    <p:extLst>
      <p:ext uri="{BB962C8B-B14F-4D97-AF65-F5344CB8AC3E}">
        <p14:creationId xmlns:p14="http://schemas.microsoft.com/office/powerpoint/2010/main" val="4865949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01C3D-B924-A794-245F-2C219376DB81}"/>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A2B000C8-3D4E-CF71-3145-42832017585A}"/>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231C29B3-B873-600C-5D21-5927DF1D088A}"/>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73350B14-B700-9275-E114-623B87B0355C}"/>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AB3BB3F2-B401-0EA4-D8DA-CA792110AB4B}"/>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33151AF-AF06-9AF6-F6A5-03164EA93B23}"/>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44C9316D-3A4D-BE1D-CE8C-CAC855EBA63C}"/>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5139150E-7B4D-BE5C-6896-CB266E699946}"/>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F2779079-7CEF-A49E-D02F-37E56C564C45}"/>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8F757CE2-E814-29DE-FE98-057B5A6B2487}"/>
              </a:ext>
            </a:extLst>
          </p:cNvPr>
          <p:cNvSpPr/>
          <p:nvPr/>
        </p:nvSpPr>
        <p:spPr>
          <a:xfrm>
            <a:off x="6226068"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8830F802-DF00-2189-FE18-A50AA71ED240}"/>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4" name="TextBox 13">
            <a:extLst>
              <a:ext uri="{FF2B5EF4-FFF2-40B4-BE49-F238E27FC236}">
                <a16:creationId xmlns:a16="http://schemas.microsoft.com/office/drawing/2014/main" id="{84134CD0-C38A-B68C-9C9F-30044E492804}"/>
              </a:ext>
            </a:extLst>
          </p:cNvPr>
          <p:cNvSpPr txBox="1"/>
          <p:nvPr/>
        </p:nvSpPr>
        <p:spPr>
          <a:xfrm>
            <a:off x="6357842" y="1418252"/>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Terminal</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F2DD3B49-0EDB-14A3-9704-F8DB8972630A}"/>
              </a:ext>
            </a:extLst>
          </p:cNvPr>
          <p:cNvSpPr txBox="1"/>
          <p:nvPr/>
        </p:nvSpPr>
        <p:spPr>
          <a:xfrm>
            <a:off x="6357842" y="1679257"/>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sp>
        <p:nvSpPr>
          <p:cNvPr id="8" name="term">
            <a:extLst>
              <a:ext uri="{FF2B5EF4-FFF2-40B4-BE49-F238E27FC236}">
                <a16:creationId xmlns:a16="http://schemas.microsoft.com/office/drawing/2014/main" id="{4187A2BA-ED63-0B8F-5178-11106F12D686}"/>
              </a:ext>
            </a:extLst>
          </p:cNvPr>
          <p:cNvSpPr/>
          <p:nvPr/>
        </p:nvSpPr>
        <p:spPr>
          <a:xfrm>
            <a:off x="1450527" y="1839878"/>
            <a:ext cx="5188590" cy="2436832"/>
          </a:xfrm>
          <a:prstGeom prst="roundRect">
            <a:avLst>
              <a:gd name="adj" fmla="val 7000"/>
            </a:avLst>
          </a:prstGeom>
          <a:solidFill>
            <a:srgbClr val="1F3A5F"/>
          </a:solidFill>
          <a:ln>
            <a:solidFill>
              <a:schemeClr val="bg1"/>
            </a:solidFill>
          </a:ln>
        </p:spPr>
        <p:txBody>
          <a:bodyPr wrap="square" lIns="0" tIns="0" rIns="0" bIns="0"/>
          <a:lstStyle/>
          <a:p>
            <a:endParaRPr/>
          </a:p>
        </p:txBody>
      </p:sp>
      <p:sp>
        <p:nvSpPr>
          <p:cNvPr id="10" name="term">
            <a:extLst>
              <a:ext uri="{FF2B5EF4-FFF2-40B4-BE49-F238E27FC236}">
                <a16:creationId xmlns:a16="http://schemas.microsoft.com/office/drawing/2014/main" id="{B0120919-C806-660A-9D94-E0EEA73EEAA1}"/>
              </a:ext>
            </a:extLst>
          </p:cNvPr>
          <p:cNvSpPr/>
          <p:nvPr/>
        </p:nvSpPr>
        <p:spPr>
          <a:xfrm>
            <a:off x="4991526" y="3322149"/>
            <a:ext cx="5188590" cy="2436832"/>
          </a:xfrm>
          <a:prstGeom prst="roundRect">
            <a:avLst>
              <a:gd name="adj" fmla="val 7000"/>
            </a:avLst>
          </a:prstGeom>
          <a:solidFill>
            <a:srgbClr val="1F3A5F"/>
          </a:solidFill>
          <a:ln>
            <a:solidFill>
              <a:schemeClr val="bg1"/>
            </a:solidFill>
          </a:ln>
        </p:spPr>
        <p:txBody>
          <a:bodyPr wrap="square" lIns="0" tIns="0" rIns="0" bIns="0"/>
          <a:lstStyle/>
          <a:p>
            <a:endParaRPr/>
          </a:p>
        </p:txBody>
      </p:sp>
      <p:sp>
        <p:nvSpPr>
          <p:cNvPr id="12" name="TextBox 11">
            <a:extLst>
              <a:ext uri="{FF2B5EF4-FFF2-40B4-BE49-F238E27FC236}">
                <a16:creationId xmlns:a16="http://schemas.microsoft.com/office/drawing/2014/main" id="{6F1E3B98-13A0-AAC0-DFDB-E51A1CA1C163}"/>
              </a:ext>
            </a:extLst>
          </p:cNvPr>
          <p:cNvSpPr txBox="1"/>
          <p:nvPr/>
        </p:nvSpPr>
        <p:spPr>
          <a:xfrm>
            <a:off x="1514795" y="2000499"/>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err="1">
                <a:solidFill>
                  <a:srgbClr val="FFFFFF"/>
                </a:solidFill>
                <a:latin typeface="Consolas"/>
              </a:rPr>
              <a:t>back_end</a:t>
            </a:r>
            <a:endParaRPr lang="en-US" sz="1400" dirty="0">
              <a:solidFill>
                <a:srgbClr val="7FB280"/>
              </a:solidFill>
              <a:latin typeface="Consolas"/>
            </a:endParaRPr>
          </a:p>
        </p:txBody>
      </p:sp>
      <p:sp>
        <p:nvSpPr>
          <p:cNvPr id="16" name="TextBox 15">
            <a:extLst>
              <a:ext uri="{FF2B5EF4-FFF2-40B4-BE49-F238E27FC236}">
                <a16:creationId xmlns:a16="http://schemas.microsoft.com/office/drawing/2014/main" id="{013CA935-7ABF-06A5-E20B-339C23CE697B}"/>
              </a:ext>
            </a:extLst>
          </p:cNvPr>
          <p:cNvSpPr txBox="1"/>
          <p:nvPr/>
        </p:nvSpPr>
        <p:spPr>
          <a:xfrm>
            <a:off x="5159751" y="3449494"/>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err="1">
                <a:solidFill>
                  <a:srgbClr val="FFFFFF"/>
                </a:solidFill>
                <a:latin typeface="Consolas"/>
              </a:rPr>
              <a:t>front_end</a:t>
            </a:r>
            <a:endParaRPr lang="en-US" sz="1400" dirty="0">
              <a:solidFill>
                <a:srgbClr val="7FB280"/>
              </a:solidFill>
              <a:latin typeface="Consolas"/>
            </a:endParaRPr>
          </a:p>
        </p:txBody>
      </p:sp>
    </p:spTree>
    <p:extLst>
      <p:ext uri="{BB962C8B-B14F-4D97-AF65-F5344CB8AC3E}">
        <p14:creationId xmlns:p14="http://schemas.microsoft.com/office/powerpoint/2010/main" val="1981854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BC194-86C8-26CD-8C41-D5275CCB11A6}"/>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CF3D1F10-E71B-CE44-85B2-74BB315D9085}"/>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A9B38ECB-D0D5-A90D-DCC4-3AD007F85EC4}"/>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BF435A68-CC45-3CA6-C28C-E210AC42A8E5}"/>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C0158254-1B26-788C-566C-D2575A18BB23}"/>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497E02B-9B2E-F740-023E-3E48E646A88D}"/>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F6C4A960-9952-47D2-4084-41367FE09C9D}"/>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B6916684-17D5-ACA5-EDE1-068F82063D06}"/>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811DA398-2E6F-CE45-5BD4-F830233F245C}"/>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A66184D3-4A67-C085-86A0-821B52F1CBBE}"/>
              </a:ext>
            </a:extLst>
          </p:cNvPr>
          <p:cNvSpPr/>
          <p:nvPr/>
        </p:nvSpPr>
        <p:spPr>
          <a:xfrm>
            <a:off x="6219931"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9ECB49AF-B909-EFAE-E6A5-6FEC2AF228CC}"/>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F2ADAE4C-3211-D33A-8DFB-A0CC3A7A6B22}"/>
              </a:ext>
            </a:extLst>
          </p:cNvPr>
          <p:cNvSpPr txBox="1"/>
          <p:nvPr/>
        </p:nvSpPr>
        <p:spPr>
          <a:xfrm>
            <a:off x="6357842" y="1793155"/>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grpSp>
        <p:nvGrpSpPr>
          <p:cNvPr id="19" name="Group 18">
            <a:extLst>
              <a:ext uri="{FF2B5EF4-FFF2-40B4-BE49-F238E27FC236}">
                <a16:creationId xmlns:a16="http://schemas.microsoft.com/office/drawing/2014/main" id="{E694FDAE-5AEC-0FCC-B80D-033045042FF0}"/>
              </a:ext>
            </a:extLst>
          </p:cNvPr>
          <p:cNvGrpSpPr/>
          <p:nvPr/>
        </p:nvGrpSpPr>
        <p:grpSpPr>
          <a:xfrm>
            <a:off x="6238296" y="1240388"/>
            <a:ext cx="1489824" cy="448587"/>
            <a:chOff x="9149329" y="2206102"/>
            <a:chExt cx="1489824" cy="448587"/>
          </a:xfrm>
        </p:grpSpPr>
        <p:sp>
          <p:nvSpPr>
            <p:cNvPr id="16" name="TextBox 15">
              <a:extLst>
                <a:ext uri="{FF2B5EF4-FFF2-40B4-BE49-F238E27FC236}">
                  <a16:creationId xmlns:a16="http://schemas.microsoft.com/office/drawing/2014/main" id="{04BFDAAD-27C3-1A1A-85ED-04355D92E422}"/>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a:solidFill>
                    <a:srgbClr val="FFFFFF"/>
                  </a:solidFill>
                  <a:latin typeface="Consolas"/>
                </a:rPr>
                <a:t>Terminal</a:t>
              </a:r>
              <a:endParaRPr lang="en-US" sz="1400" dirty="0">
                <a:solidFill>
                  <a:srgbClr val="7FB280"/>
                </a:solidFill>
                <a:latin typeface="Consolas"/>
              </a:endParaRPr>
            </a:p>
          </p:txBody>
        </p:sp>
        <p:sp>
          <p:nvSpPr>
            <p:cNvPr id="17" name="term">
              <a:extLst>
                <a:ext uri="{FF2B5EF4-FFF2-40B4-BE49-F238E27FC236}">
                  <a16:creationId xmlns:a16="http://schemas.microsoft.com/office/drawing/2014/main" id="{2CC8797B-B51B-FAB5-9B82-893F1A26B5FE}"/>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grpSp>
        <p:nvGrpSpPr>
          <p:cNvPr id="22" name="Group 21">
            <a:extLst>
              <a:ext uri="{FF2B5EF4-FFF2-40B4-BE49-F238E27FC236}">
                <a16:creationId xmlns:a16="http://schemas.microsoft.com/office/drawing/2014/main" id="{B80D663B-F733-C360-8A81-F51501DB6417}"/>
              </a:ext>
            </a:extLst>
          </p:cNvPr>
          <p:cNvGrpSpPr/>
          <p:nvPr/>
        </p:nvGrpSpPr>
        <p:grpSpPr>
          <a:xfrm>
            <a:off x="7737027" y="1240388"/>
            <a:ext cx="1489824" cy="448587"/>
            <a:chOff x="9149329" y="2206102"/>
            <a:chExt cx="1489824" cy="448587"/>
          </a:xfrm>
        </p:grpSpPr>
        <p:sp>
          <p:nvSpPr>
            <p:cNvPr id="23" name="TextBox 22">
              <a:extLst>
                <a:ext uri="{FF2B5EF4-FFF2-40B4-BE49-F238E27FC236}">
                  <a16:creationId xmlns:a16="http://schemas.microsoft.com/office/drawing/2014/main" id="{BB11550E-EEDA-195B-86DD-06861173CBB3}"/>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err="1">
                  <a:solidFill>
                    <a:srgbClr val="FFFFFF"/>
                  </a:solidFill>
                  <a:latin typeface="Consolas"/>
                </a:rPr>
                <a:t>back_end</a:t>
              </a:r>
              <a:endParaRPr lang="en-US" sz="1400" dirty="0">
                <a:solidFill>
                  <a:srgbClr val="7FB280"/>
                </a:solidFill>
                <a:latin typeface="Consolas"/>
              </a:endParaRPr>
            </a:p>
          </p:txBody>
        </p:sp>
        <p:sp>
          <p:nvSpPr>
            <p:cNvPr id="24" name="term">
              <a:extLst>
                <a:ext uri="{FF2B5EF4-FFF2-40B4-BE49-F238E27FC236}">
                  <a16:creationId xmlns:a16="http://schemas.microsoft.com/office/drawing/2014/main" id="{B5C0285C-6ECA-C6BF-AF82-E89CCBF5316C}"/>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grpSp>
        <p:nvGrpSpPr>
          <p:cNvPr id="25" name="Group 24">
            <a:extLst>
              <a:ext uri="{FF2B5EF4-FFF2-40B4-BE49-F238E27FC236}">
                <a16:creationId xmlns:a16="http://schemas.microsoft.com/office/drawing/2014/main" id="{2D3975C4-E81E-238B-45CA-26AD558F234E}"/>
              </a:ext>
            </a:extLst>
          </p:cNvPr>
          <p:cNvGrpSpPr/>
          <p:nvPr/>
        </p:nvGrpSpPr>
        <p:grpSpPr>
          <a:xfrm>
            <a:off x="9228084" y="1240388"/>
            <a:ext cx="1489824" cy="448587"/>
            <a:chOff x="9149329" y="2206102"/>
            <a:chExt cx="1489824" cy="448587"/>
          </a:xfrm>
        </p:grpSpPr>
        <p:sp>
          <p:nvSpPr>
            <p:cNvPr id="26" name="TextBox 25">
              <a:extLst>
                <a:ext uri="{FF2B5EF4-FFF2-40B4-BE49-F238E27FC236}">
                  <a16:creationId xmlns:a16="http://schemas.microsoft.com/office/drawing/2014/main" id="{6FE19833-0CB4-917A-AAB1-82EB4DC6CEDC}"/>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err="1">
                  <a:solidFill>
                    <a:srgbClr val="FFFFFF"/>
                  </a:solidFill>
                  <a:latin typeface="Consolas"/>
                </a:rPr>
                <a:t>front_end</a:t>
              </a:r>
              <a:endParaRPr lang="en-US" sz="1400" dirty="0">
                <a:solidFill>
                  <a:srgbClr val="7FB280"/>
                </a:solidFill>
                <a:latin typeface="Consolas"/>
              </a:endParaRPr>
            </a:p>
          </p:txBody>
        </p:sp>
        <p:sp>
          <p:nvSpPr>
            <p:cNvPr id="27" name="term">
              <a:extLst>
                <a:ext uri="{FF2B5EF4-FFF2-40B4-BE49-F238E27FC236}">
                  <a16:creationId xmlns:a16="http://schemas.microsoft.com/office/drawing/2014/main" id="{622A28EF-F428-1461-67F3-4ADBA80D3F05}"/>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spTree>
    <p:extLst>
      <p:ext uri="{BB962C8B-B14F-4D97-AF65-F5344CB8AC3E}">
        <p14:creationId xmlns:p14="http://schemas.microsoft.com/office/powerpoint/2010/main" val="16080187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C146-ABE9-DCE4-B4CF-0371C36FB1D1}"/>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7B952FEC-0C2C-433A-F749-5B75488705D7}"/>
              </a:ext>
            </a:extLst>
          </p:cNvPr>
          <p:cNvSpPr/>
          <p:nvPr/>
        </p:nvSpPr>
        <p:spPr>
          <a:xfrm>
            <a:off x="1719951" y="2535853"/>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EC94ABB8-E6E8-4F78-B052-37A51BA47138}"/>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507BC317-6D87-8C94-7C6B-8E19D2B06C21}"/>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Run the server</a:t>
            </a:r>
          </a:p>
          <a:p>
            <a:pPr algn="l">
              <a:lnSpc>
                <a:spcPts val="4000"/>
              </a:lnSpc>
              <a:buNone/>
            </a:pPr>
            <a:r>
              <a:rPr lang="en-US" sz="2000" b="1" dirty="0">
                <a:solidFill>
                  <a:srgbClr val="415A77"/>
                </a:solidFill>
                <a:latin typeface="Consolas"/>
              </a:rPr>
              <a:t>[ ]  </a:t>
            </a:r>
            <a:r>
              <a:rPr lang="en-US" sz="2000" dirty="0">
                <a:solidFill>
                  <a:srgbClr val="1F3A5F"/>
                </a:solidFill>
              </a:rPr>
              <a:t>Run the tests</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a:extLst>
              <a:ext uri="{FF2B5EF4-FFF2-40B4-BE49-F238E27FC236}">
                <a16:creationId xmlns:a16="http://schemas.microsoft.com/office/drawing/2014/main" id="{E9102323-E85E-CF53-418C-C7F2E4D8CEB0}"/>
              </a:ext>
            </a:extLst>
          </p:cNvPr>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1914057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C42D1-A8BC-933E-967C-E58ED874A3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97D839E-B870-758B-2710-77418458E2A5}"/>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build-and-</a:t>
            </a:r>
            <a:r>
              <a:rPr lang="en-US" sz="2000" b="1" dirty="0" err="1">
                <a:solidFill>
                  <a:srgbClr val="1F3A5F"/>
                </a:solidFill>
                <a:latin typeface="Consolas"/>
              </a:rPr>
              <a:t>test</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39E67557-70F0-ED06-A10B-8AFE77291BC3}"/>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1835B930-C9FF-CA8E-D31D-E446CF9080D9}"/>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E8A4D76A-F1CB-98CD-97C5-7DF4CF3CAA82}"/>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3455FE3-8592-1A53-9F04-8285E99A15A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8570C438-861D-A126-0C98-A2EDFD40FF63}"/>
              </a:ext>
            </a:extLst>
          </p:cNvPr>
          <p:cNvSpPr/>
          <p:nvPr/>
        </p:nvSpPr>
        <p:spPr>
          <a:xfrm>
            <a:off x="457199" y="1267714"/>
            <a:ext cx="7094953" cy="137160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EEEAE89-86DA-B019-5A52-298D051FE4A5}"/>
              </a:ext>
            </a:extLst>
          </p:cNvPr>
          <p:cNvSpPr txBox="1"/>
          <p:nvPr/>
        </p:nvSpPr>
        <p:spPr>
          <a:xfrm>
            <a:off x="711199" y="1496314"/>
            <a:ext cx="7094953" cy="741742"/>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./build-and-</a:t>
            </a:r>
            <a:r>
              <a:rPr lang="en-US" sz="2000" dirty="0" err="1">
                <a:solidFill>
                  <a:srgbClr val="FFFFFF"/>
                </a:solidFill>
                <a:latin typeface="Consolas"/>
              </a:rPr>
              <a:t>test.sh</a:t>
            </a:r>
            <a:endParaRPr lang="en-US" sz="2000" dirty="0">
              <a:solidFill>
                <a:srgbClr val="FFFFFF"/>
              </a:solidFill>
              <a:latin typeface="Consolas"/>
            </a:endParaRPr>
          </a:p>
          <a:p>
            <a:pPr>
              <a:lnSpc>
                <a:spcPts val="2600"/>
              </a:lnSpc>
            </a:pPr>
            <a:r>
              <a:rPr lang="en-US" sz="2000" dirty="0">
                <a:solidFill>
                  <a:srgbClr val="FFFFFF"/>
                </a:solidFill>
                <a:latin typeface="Consolas"/>
              </a:rPr>
              <a:t>Test summary: total: 1, failed: 0, </a:t>
            </a:r>
            <a:r>
              <a:rPr lang="en-US" sz="2000" b="1" dirty="0">
                <a:solidFill>
                  <a:srgbClr val="7FB280"/>
                </a:solidFill>
                <a:latin typeface="Consolas"/>
              </a:rPr>
              <a:t>succeeded: 1</a:t>
            </a:r>
          </a:p>
        </p:txBody>
      </p:sp>
      <p:grpSp>
        <p:nvGrpSpPr>
          <p:cNvPr id="11" name="Group 10">
            <a:extLst>
              <a:ext uri="{FF2B5EF4-FFF2-40B4-BE49-F238E27FC236}">
                <a16:creationId xmlns:a16="http://schemas.microsoft.com/office/drawing/2014/main" id="{A1BC5F88-378E-4A26-BE94-DFAE240433B1}"/>
              </a:ext>
            </a:extLst>
          </p:cNvPr>
          <p:cNvGrpSpPr/>
          <p:nvPr/>
        </p:nvGrpSpPr>
        <p:grpSpPr>
          <a:xfrm>
            <a:off x="8246946" y="1345261"/>
            <a:ext cx="1665284" cy="461665"/>
            <a:chOff x="6359523" y="2343503"/>
            <a:chExt cx="1665284" cy="461665"/>
          </a:xfrm>
        </p:grpSpPr>
        <p:sp>
          <p:nvSpPr>
            <p:cNvPr id="13" name="Rounded Rectangle 12">
              <a:extLst>
                <a:ext uri="{FF2B5EF4-FFF2-40B4-BE49-F238E27FC236}">
                  <a16:creationId xmlns:a16="http://schemas.microsoft.com/office/drawing/2014/main" id="{3CE01CBB-CF24-DFA0-0224-E75CBFFF8F5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513F560-D307-7F12-8A11-78325109A2F2}"/>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2155087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9EEA-8B4B-7219-ABF2-0993768A12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6002B76-BAF1-54ED-B182-3463FF6CF60C}"/>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./build-and-</a:t>
            </a:r>
            <a:r>
              <a:rPr lang="en-US" sz="2000" b="1" dirty="0" err="1">
                <a:solidFill>
                  <a:srgbClr val="1F3A5F"/>
                </a:solidFill>
                <a:latin typeface="Consolas"/>
              </a:rPr>
              <a:t>test.sh</a:t>
            </a:r>
            <a:endParaRPr lang="en-US" sz="2000" b="1" dirty="0">
              <a:solidFill>
                <a:srgbClr val="1F3A5F"/>
              </a:solidFill>
              <a:latin typeface="Consolas"/>
            </a:endParaRPr>
          </a:p>
        </p:txBody>
      </p:sp>
      <p:sp>
        <p:nvSpPr>
          <p:cNvPr id="50" name="div">
            <a:extLst>
              <a:ext uri="{FF2B5EF4-FFF2-40B4-BE49-F238E27FC236}">
                <a16:creationId xmlns:a16="http://schemas.microsoft.com/office/drawing/2014/main" id="{DF3C5EF6-D86E-9A6B-1D0A-A250F00C7CFA}"/>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63183222-3526-54A4-B8C9-56D07F486307}"/>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D2643DF6-FEE6-D6F7-0FF5-A1CEB4E5063E}"/>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A96B31-769C-5523-07E9-40C0CDE65531}"/>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1A336D61-0DCB-6EB9-CC74-542FEA71BA44}"/>
              </a:ext>
            </a:extLst>
          </p:cNvPr>
          <p:cNvSpPr/>
          <p:nvPr/>
        </p:nvSpPr>
        <p:spPr>
          <a:xfrm>
            <a:off x="457199" y="1267713"/>
            <a:ext cx="7094953" cy="5433795"/>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0237736F-4CD5-D738-E672-B309205E2399}"/>
              </a:ext>
            </a:extLst>
          </p:cNvPr>
          <p:cNvSpPr txBox="1"/>
          <p:nvPr/>
        </p:nvSpPr>
        <p:spPr>
          <a:xfrm>
            <a:off x="711199" y="1496314"/>
            <a:ext cx="7094953" cy="507632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./build-and-</a:t>
            </a:r>
            <a:r>
              <a:rPr lang="en-US" sz="2000" dirty="0" err="1">
                <a:solidFill>
                  <a:srgbClr val="FFFFFF"/>
                </a:solidFill>
                <a:latin typeface="Consolas"/>
              </a:rPr>
              <a:t>test.sh</a:t>
            </a:r>
            <a:endParaRPr lang="en-US" sz="2000" dirty="0">
              <a:solidFill>
                <a:srgbClr val="FFFFFF"/>
              </a:solidFill>
              <a:latin typeface="Consolas"/>
            </a:endParaRP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54 warnings</a:t>
            </a:r>
          </a:p>
          <a:p>
            <a:pPr>
              <a:lnSpc>
                <a:spcPts val="2600"/>
              </a:lnSpc>
            </a:pPr>
            <a:r>
              <a:rPr lang="en-US" sz="2000" dirty="0">
                <a:solidFill>
                  <a:srgbClr val="FFFFFF"/>
                </a:solidFill>
                <a:latin typeface="Consolas"/>
              </a:rPr>
              <a:t>Test summary: total: 1, failed: 0, </a:t>
            </a:r>
            <a:r>
              <a:rPr lang="en-US" sz="2000" b="1" dirty="0">
                <a:solidFill>
                  <a:srgbClr val="7FB280"/>
                </a:solidFill>
                <a:latin typeface="Consolas"/>
              </a:rPr>
              <a:t>succeeded: 1</a:t>
            </a:r>
          </a:p>
        </p:txBody>
      </p:sp>
      <p:grpSp>
        <p:nvGrpSpPr>
          <p:cNvPr id="11" name="Group 10">
            <a:extLst>
              <a:ext uri="{FF2B5EF4-FFF2-40B4-BE49-F238E27FC236}">
                <a16:creationId xmlns:a16="http://schemas.microsoft.com/office/drawing/2014/main" id="{A9CA83FB-DD12-676E-3B44-536563DB8D23}"/>
              </a:ext>
            </a:extLst>
          </p:cNvPr>
          <p:cNvGrpSpPr/>
          <p:nvPr/>
        </p:nvGrpSpPr>
        <p:grpSpPr>
          <a:xfrm>
            <a:off x="8246946" y="1345261"/>
            <a:ext cx="1665284" cy="461665"/>
            <a:chOff x="6359523" y="2343503"/>
            <a:chExt cx="1665284" cy="461665"/>
          </a:xfrm>
        </p:grpSpPr>
        <p:sp>
          <p:nvSpPr>
            <p:cNvPr id="13" name="Rounded Rectangle 12">
              <a:extLst>
                <a:ext uri="{FF2B5EF4-FFF2-40B4-BE49-F238E27FC236}">
                  <a16:creationId xmlns:a16="http://schemas.microsoft.com/office/drawing/2014/main" id="{29C4E1F6-B12E-C903-491F-1DC31DA9A42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AA6D062-3287-4CBB-3C5C-AA51B356DAEB}"/>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594218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rd">
            <a:extLst>
              <a:ext uri="{FF2B5EF4-FFF2-40B4-BE49-F238E27FC236}">
                <a16:creationId xmlns:a16="http://schemas.microsoft.com/office/drawing/2014/main" id="{5A72E69A-D8B6-B699-02E6-B4891A8A5261}"/>
              </a:ext>
            </a:extLst>
          </p:cNvPr>
          <p:cNvSpPr/>
          <p:nvPr/>
        </p:nvSpPr>
        <p:spPr>
          <a:xfrm>
            <a:off x="568387" y="1534227"/>
            <a:ext cx="3218087" cy="1644694"/>
          </a:xfrm>
          <a:prstGeom prst="roundRect">
            <a:avLst>
              <a:gd name="adj" fmla="val 6000"/>
            </a:avLst>
          </a:prstGeom>
          <a:solidFill>
            <a:srgbClr val="1F3A5F"/>
          </a:solidFill>
          <a:ln>
            <a:noFill/>
          </a:ln>
        </p:spPr>
        <p:txBody>
          <a:bodyPr lIns="102870" tIns="102870" rIns="102870" bIns="102870" anchor="t"/>
          <a:lstStyle/>
          <a:p>
            <a:pPr algn="l">
              <a:buNone/>
            </a:pPr>
            <a:endParaRPr lang="en-US" sz="1050" dirty="0">
              <a:solidFill>
                <a:srgbClr val="DCE3EC"/>
              </a:solidFill>
            </a:endParaRPr>
          </a:p>
        </p:txBody>
      </p:sp>
      <p:sp>
        <p:nvSpPr>
          <p:cNvPr id="3" name="card">
            <a:extLst>
              <a:ext uri="{FF2B5EF4-FFF2-40B4-BE49-F238E27FC236}">
                <a16:creationId xmlns:a16="http://schemas.microsoft.com/office/drawing/2014/main" id="{206019C1-EE6F-2592-1CB3-29DCEA6954C4}"/>
              </a:ext>
            </a:extLst>
          </p:cNvPr>
          <p:cNvSpPr/>
          <p:nvPr/>
        </p:nvSpPr>
        <p:spPr>
          <a:xfrm>
            <a:off x="4943924" y="1534227"/>
            <a:ext cx="5568608" cy="2154057"/>
          </a:xfrm>
          <a:prstGeom prst="roundRect">
            <a:avLst>
              <a:gd name="adj" fmla="val 6000"/>
            </a:avLst>
          </a:prstGeom>
          <a:solidFill>
            <a:srgbClr val="415A77"/>
          </a:solidFill>
          <a:ln>
            <a:noFill/>
          </a:ln>
        </p:spPr>
        <p:txBody>
          <a:bodyPr lIns="102870" tIns="102870" rIns="102870" bIns="102870" anchor="t"/>
          <a:lstStyle/>
          <a:p>
            <a:pPr algn="l">
              <a:buNone/>
            </a:pPr>
            <a:endParaRPr lang="en-US" sz="1050" dirty="0">
              <a:solidFill>
                <a:srgbClr val="DCE3EC"/>
              </a:solidFill>
            </a:endParaRPr>
          </a:p>
        </p:txBody>
      </p:sp>
      <p:sp>
        <p:nvSpPr>
          <p:cNvPr id="4" name="TextBox 3">
            <a:extLst>
              <a:ext uri="{FF2B5EF4-FFF2-40B4-BE49-F238E27FC236}">
                <a16:creationId xmlns:a16="http://schemas.microsoft.com/office/drawing/2014/main" id="{640E8998-0B26-39D7-97DC-8172AA5484E1}"/>
              </a:ext>
            </a:extLst>
          </p:cNvPr>
          <p:cNvSpPr txBox="1"/>
          <p:nvPr/>
        </p:nvSpPr>
        <p:spPr>
          <a:xfrm>
            <a:off x="568388" y="1693788"/>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Run build-and-test</a:t>
            </a:r>
            <a:endParaRPr lang="en-US" sz="2000" b="1" dirty="0">
              <a:solidFill>
                <a:srgbClr val="7FB280"/>
              </a:solidFill>
              <a:latin typeface="Consolas"/>
            </a:endParaRPr>
          </a:p>
        </p:txBody>
      </p:sp>
      <p:sp>
        <p:nvSpPr>
          <p:cNvPr id="5" name="TextBox 4">
            <a:extLst>
              <a:ext uri="{FF2B5EF4-FFF2-40B4-BE49-F238E27FC236}">
                <a16:creationId xmlns:a16="http://schemas.microsoft.com/office/drawing/2014/main" id="{2679E977-E926-1CB2-909A-B644B35CABDC}"/>
              </a:ext>
            </a:extLst>
          </p:cNvPr>
          <p:cNvSpPr txBox="1"/>
          <p:nvPr/>
        </p:nvSpPr>
        <p:spPr>
          <a:xfrm>
            <a:off x="568388" y="2031318"/>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Pick a warning</a:t>
            </a:r>
            <a:endParaRPr lang="en-US" sz="2000" b="1" dirty="0">
              <a:solidFill>
                <a:srgbClr val="7FB280"/>
              </a:solidFill>
              <a:latin typeface="Consolas"/>
            </a:endParaRPr>
          </a:p>
        </p:txBody>
      </p:sp>
      <p:sp>
        <p:nvSpPr>
          <p:cNvPr id="6" name="TextBox 5">
            <a:extLst>
              <a:ext uri="{FF2B5EF4-FFF2-40B4-BE49-F238E27FC236}">
                <a16:creationId xmlns:a16="http://schemas.microsoft.com/office/drawing/2014/main" id="{0D1D6EFF-FEFC-5C51-A3B8-B8AB375A024C}"/>
              </a:ext>
            </a:extLst>
          </p:cNvPr>
          <p:cNvSpPr txBox="1"/>
          <p:nvPr/>
        </p:nvSpPr>
        <p:spPr>
          <a:xfrm>
            <a:off x="5016627" y="1592251"/>
            <a:ext cx="3433901" cy="741806"/>
          </a:xfrm>
          <a:prstGeom prst="rect">
            <a:avLst/>
          </a:prstGeom>
          <a:noFill/>
        </p:spPr>
        <p:txBody>
          <a:bodyPr wrap="square">
            <a:spAutoFit/>
          </a:bodyPr>
          <a:lstStyle/>
          <a:p>
            <a:pPr marL="457200" indent="-457200">
              <a:lnSpc>
                <a:spcPts val="2600"/>
              </a:lnSpc>
              <a:buAutoNum type="arabicPeriod"/>
            </a:pPr>
            <a:r>
              <a:rPr lang="en-US" sz="2000" dirty="0">
                <a:solidFill>
                  <a:srgbClr val="FFFFFF"/>
                </a:solidFill>
                <a:latin typeface="Consolas"/>
              </a:rPr>
              <a:t>Fix all warnings</a:t>
            </a:r>
          </a:p>
          <a:p>
            <a:pPr>
              <a:lnSpc>
                <a:spcPts val="2600"/>
              </a:lnSpc>
            </a:pPr>
            <a:r>
              <a:rPr lang="en-US" sz="2000" dirty="0">
                <a:solidFill>
                  <a:srgbClr val="FFFFFF"/>
                </a:solidFill>
                <a:latin typeface="Consolas"/>
              </a:rPr>
              <a:t>   of type X</a:t>
            </a:r>
            <a:endParaRPr lang="en-US" sz="2000" b="1" dirty="0">
              <a:solidFill>
                <a:srgbClr val="7FB280"/>
              </a:solidFill>
              <a:latin typeface="Consolas"/>
            </a:endParaRPr>
          </a:p>
        </p:txBody>
      </p:sp>
      <p:sp>
        <p:nvSpPr>
          <p:cNvPr id="7" name="TextBox 6">
            <a:extLst>
              <a:ext uri="{FF2B5EF4-FFF2-40B4-BE49-F238E27FC236}">
                <a16:creationId xmlns:a16="http://schemas.microsoft.com/office/drawing/2014/main" id="{02F39C6D-D320-8D0E-39F1-B9B975494861}"/>
              </a:ext>
            </a:extLst>
          </p:cNvPr>
          <p:cNvSpPr txBox="1"/>
          <p:nvPr/>
        </p:nvSpPr>
        <p:spPr>
          <a:xfrm>
            <a:off x="5016628" y="2334057"/>
            <a:ext cx="2562460" cy="408382"/>
          </a:xfrm>
          <a:prstGeom prst="rect">
            <a:avLst/>
          </a:prstGeom>
          <a:noFill/>
        </p:spPr>
        <p:txBody>
          <a:bodyPr wrap="square">
            <a:spAutoFit/>
          </a:bodyPr>
          <a:lstStyle/>
          <a:p>
            <a:pPr>
              <a:lnSpc>
                <a:spcPts val="2600"/>
              </a:lnSpc>
            </a:pPr>
            <a:r>
              <a:rPr lang="en-US" sz="2000" dirty="0">
                <a:solidFill>
                  <a:srgbClr val="FFFFFF"/>
                </a:solidFill>
                <a:latin typeface="Consolas"/>
              </a:rPr>
              <a:t>2. build-and-test</a:t>
            </a:r>
            <a:endParaRPr lang="en-US" sz="2000" b="1" dirty="0">
              <a:solidFill>
                <a:srgbClr val="7FB280"/>
              </a:solidFill>
              <a:latin typeface="Consolas"/>
            </a:endParaRPr>
          </a:p>
        </p:txBody>
      </p:sp>
      <p:sp>
        <p:nvSpPr>
          <p:cNvPr id="8" name="TextBox 7">
            <a:extLst>
              <a:ext uri="{FF2B5EF4-FFF2-40B4-BE49-F238E27FC236}">
                <a16:creationId xmlns:a16="http://schemas.microsoft.com/office/drawing/2014/main" id="{CFBA0B15-CC6E-8548-4FD0-2080595B8DA2}"/>
              </a:ext>
            </a:extLst>
          </p:cNvPr>
          <p:cNvSpPr txBox="1"/>
          <p:nvPr/>
        </p:nvSpPr>
        <p:spPr>
          <a:xfrm>
            <a:off x="5016627" y="2871672"/>
            <a:ext cx="5790476" cy="408382"/>
          </a:xfrm>
          <a:prstGeom prst="rect">
            <a:avLst/>
          </a:prstGeom>
          <a:noFill/>
        </p:spPr>
        <p:txBody>
          <a:bodyPr wrap="square">
            <a:spAutoFit/>
          </a:bodyPr>
          <a:lstStyle/>
          <a:p>
            <a:pPr>
              <a:lnSpc>
                <a:spcPts val="2600"/>
              </a:lnSpc>
            </a:pPr>
            <a:r>
              <a:rPr lang="en-US" sz="2000" dirty="0">
                <a:solidFill>
                  <a:srgbClr val="FFFFFF"/>
                </a:solidFill>
                <a:latin typeface="Consolas"/>
              </a:rPr>
              <a:t>3. commit `! r fixed warning &lt;type&gt;</a:t>
            </a:r>
            <a:endParaRPr lang="en-US" sz="2000" b="1" dirty="0">
              <a:solidFill>
                <a:srgbClr val="7FB280"/>
              </a:solidFill>
              <a:latin typeface="Consolas"/>
            </a:endParaRPr>
          </a:p>
        </p:txBody>
      </p:sp>
      <p:sp>
        <p:nvSpPr>
          <p:cNvPr id="9" name="TextBox 8">
            <a:extLst>
              <a:ext uri="{FF2B5EF4-FFF2-40B4-BE49-F238E27FC236}">
                <a16:creationId xmlns:a16="http://schemas.microsoft.com/office/drawing/2014/main" id="{33BB612C-6019-BF32-3792-CFB2CD7A8031}"/>
              </a:ext>
            </a:extLst>
          </p:cNvPr>
          <p:cNvSpPr txBox="1"/>
          <p:nvPr/>
        </p:nvSpPr>
        <p:spPr>
          <a:xfrm>
            <a:off x="592511" y="2439700"/>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Repeat till done</a:t>
            </a:r>
            <a:endParaRPr lang="en-US" sz="2000" b="1" dirty="0">
              <a:solidFill>
                <a:srgbClr val="7FB280"/>
              </a:solidFill>
              <a:latin typeface="Consolas"/>
            </a:endParaRPr>
          </a:p>
        </p:txBody>
      </p:sp>
      <p:cxnSp>
        <p:nvCxnSpPr>
          <p:cNvPr id="11" name="Straight Arrow Connector 10">
            <a:extLst>
              <a:ext uri="{FF2B5EF4-FFF2-40B4-BE49-F238E27FC236}">
                <a16:creationId xmlns:a16="http://schemas.microsoft.com/office/drawing/2014/main" id="{A686D7A2-4102-5581-70A2-53ED1B29AD41}"/>
              </a:ext>
            </a:extLst>
          </p:cNvPr>
          <p:cNvCxnSpPr>
            <a:cxnSpLocks/>
          </p:cNvCxnSpPr>
          <p:nvPr/>
        </p:nvCxnSpPr>
        <p:spPr>
          <a:xfrm>
            <a:off x="3866255" y="2356574"/>
            <a:ext cx="98190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AEEB412E-BBAD-C86D-55C5-DD0B2DC0E35D}"/>
              </a:ext>
            </a:extLst>
          </p:cNvPr>
          <p:cNvGrpSpPr/>
          <p:nvPr/>
        </p:nvGrpSpPr>
        <p:grpSpPr>
          <a:xfrm>
            <a:off x="3268035" y="1692873"/>
            <a:ext cx="918266" cy="461665"/>
            <a:chOff x="9249844" y="2055101"/>
            <a:chExt cx="918266" cy="461665"/>
          </a:xfrm>
        </p:grpSpPr>
        <p:sp>
          <p:nvSpPr>
            <p:cNvPr id="15" name="Rounded Rectangle 14">
              <a:extLst>
                <a:ext uri="{FF2B5EF4-FFF2-40B4-BE49-F238E27FC236}">
                  <a16:creationId xmlns:a16="http://schemas.microsoft.com/office/drawing/2014/main" id="{87712C71-7EDA-2ED2-F75D-C92E99F20CC8}"/>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1550E943-7DB6-1C36-0F81-15271A69A477}"/>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7" name="Group 16">
            <a:extLst>
              <a:ext uri="{FF2B5EF4-FFF2-40B4-BE49-F238E27FC236}">
                <a16:creationId xmlns:a16="http://schemas.microsoft.com/office/drawing/2014/main" id="{CC07AF07-D1D9-9CFD-EB01-5CE5E90578E0}"/>
              </a:ext>
            </a:extLst>
          </p:cNvPr>
          <p:cNvGrpSpPr/>
          <p:nvPr/>
        </p:nvGrpSpPr>
        <p:grpSpPr>
          <a:xfrm>
            <a:off x="9419869" y="381000"/>
            <a:ext cx="1730731" cy="461665"/>
            <a:chOff x="3888023" y="2248422"/>
            <a:chExt cx="1730731" cy="461665"/>
          </a:xfrm>
        </p:grpSpPr>
        <p:sp>
          <p:nvSpPr>
            <p:cNvPr id="18" name="Rounded Rectangle 17">
              <a:extLst>
                <a:ext uri="{FF2B5EF4-FFF2-40B4-BE49-F238E27FC236}">
                  <a16:creationId xmlns:a16="http://schemas.microsoft.com/office/drawing/2014/main" id="{5405AE80-9B74-0729-AF5B-2D3069066913}"/>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3D77BFA-5031-EF38-DE02-412BF792D383}"/>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0" name="Group 19">
            <a:extLst>
              <a:ext uri="{FF2B5EF4-FFF2-40B4-BE49-F238E27FC236}">
                <a16:creationId xmlns:a16="http://schemas.microsoft.com/office/drawing/2014/main" id="{9B8E43F5-5655-7659-5139-1B10EB5A4E0B}"/>
              </a:ext>
            </a:extLst>
          </p:cNvPr>
          <p:cNvGrpSpPr/>
          <p:nvPr/>
        </p:nvGrpSpPr>
        <p:grpSpPr>
          <a:xfrm>
            <a:off x="7544734" y="2334057"/>
            <a:ext cx="1665284" cy="461665"/>
            <a:chOff x="6359523" y="2343503"/>
            <a:chExt cx="1665284" cy="461665"/>
          </a:xfrm>
        </p:grpSpPr>
        <p:sp>
          <p:nvSpPr>
            <p:cNvPr id="21" name="Rounded Rectangle 20">
              <a:extLst>
                <a:ext uri="{FF2B5EF4-FFF2-40B4-BE49-F238E27FC236}">
                  <a16:creationId xmlns:a16="http://schemas.microsoft.com/office/drawing/2014/main" id="{57CE5221-31C0-21BE-7D7F-013E55432079}"/>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A9556CB-A3EF-747B-4ED8-A60E8944C6D1}"/>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	</a:t>
              </a:r>
              <a:r>
                <a:rPr lang="en-US" sz="2400" b="1" dirty="0" err="1">
                  <a:solidFill>
                    <a:srgbClr val="1F3A5F"/>
                  </a:solidFill>
                </a:rPr>
                <a:t>eedback</a:t>
              </a:r>
              <a:endParaRPr lang="en-US" sz="2400" b="1" dirty="0">
                <a:solidFill>
                  <a:srgbClr val="1F3A5F"/>
                </a:solidFill>
              </a:endParaRPr>
            </a:p>
          </p:txBody>
        </p:sp>
      </p:grpSp>
      <p:sp>
        <p:nvSpPr>
          <p:cNvPr id="23" name="TextBox 22">
            <a:extLst>
              <a:ext uri="{FF2B5EF4-FFF2-40B4-BE49-F238E27FC236}">
                <a16:creationId xmlns:a16="http://schemas.microsoft.com/office/drawing/2014/main" id="{B9000C7D-5917-9391-FC07-D4BEBA4CC507}"/>
              </a:ext>
            </a:extLst>
          </p:cNvPr>
          <p:cNvSpPr txBox="1"/>
          <p:nvPr/>
        </p:nvSpPr>
        <p:spPr>
          <a:xfrm>
            <a:off x="1041400" y="381000"/>
            <a:ext cx="6858000" cy="406400"/>
          </a:xfrm>
          <a:prstGeom prst="rect">
            <a:avLst/>
          </a:prstGeom>
          <a:noFill/>
        </p:spPr>
        <p:txBody>
          <a:bodyPr wrap="square">
            <a:spAutoFit/>
          </a:bodyPr>
          <a:lstStyle/>
          <a:p>
            <a:pPr algn="l">
              <a:buNone/>
            </a:pPr>
            <a:r>
              <a:rPr lang="en-US" sz="2000" b="1" dirty="0">
                <a:solidFill>
                  <a:srgbClr val="1F3A5F"/>
                </a:solidFill>
                <a:latin typeface="Consolas"/>
              </a:rPr>
              <a:t>fix-</a:t>
            </a:r>
            <a:r>
              <a:rPr lang="en-US" sz="2000" b="1" dirty="0" err="1">
                <a:solidFill>
                  <a:srgbClr val="1F3A5F"/>
                </a:solidFill>
                <a:latin typeface="Consolas"/>
              </a:rPr>
              <a:t>warnings</a:t>
            </a:r>
            <a:r>
              <a:rPr lang="en-US" sz="2000" b="1" dirty="0" err="1">
                <a:solidFill>
                  <a:srgbClr val="6B7280"/>
                </a:solidFill>
                <a:latin typeface="Consolas"/>
              </a:rPr>
              <a:t>.process.md</a:t>
            </a:r>
            <a:endParaRPr lang="en-US" sz="2000" b="1" dirty="0">
              <a:solidFill>
                <a:srgbClr val="6B7280"/>
              </a:solidFill>
              <a:latin typeface="Consolas"/>
            </a:endParaRPr>
          </a:p>
        </p:txBody>
      </p:sp>
      <p:sp>
        <p:nvSpPr>
          <p:cNvPr id="24" name="div">
            <a:extLst>
              <a:ext uri="{FF2B5EF4-FFF2-40B4-BE49-F238E27FC236}">
                <a16:creationId xmlns:a16="http://schemas.microsoft.com/office/drawing/2014/main" id="{6899EF6D-B9C8-F245-43C8-C978086CDF0F}"/>
              </a:ext>
            </a:extLst>
          </p:cNvPr>
          <p:cNvSpPr/>
          <p:nvPr/>
        </p:nvSpPr>
        <p:spPr>
          <a:xfrm>
            <a:off x="1041400" y="939800"/>
            <a:ext cx="10109200" cy="12700"/>
          </a:xfrm>
          <a:prstGeom prst="rect">
            <a:avLst/>
          </a:prstGeom>
          <a:solidFill>
            <a:srgbClr val="DCE3EC"/>
          </a:solidFill>
          <a:ln>
            <a:noFill/>
          </a:ln>
        </p:spPr>
        <p:txBody>
          <a:bodyPr wrap="square" lIns="0" tIns="0" rIns="0" bIns="0"/>
          <a:lstStyle/>
          <a:p>
            <a:endParaRPr/>
          </a:p>
        </p:txBody>
      </p:sp>
      <p:grpSp>
        <p:nvGrpSpPr>
          <p:cNvPr id="26" name="Group 25">
            <a:extLst>
              <a:ext uri="{FF2B5EF4-FFF2-40B4-BE49-F238E27FC236}">
                <a16:creationId xmlns:a16="http://schemas.microsoft.com/office/drawing/2014/main" id="{3D7CA4D5-082B-E08C-A8F5-40509AAF7CCD}"/>
              </a:ext>
            </a:extLst>
          </p:cNvPr>
          <p:cNvGrpSpPr/>
          <p:nvPr/>
        </p:nvGrpSpPr>
        <p:grpSpPr>
          <a:xfrm>
            <a:off x="9458903" y="1592251"/>
            <a:ext cx="1030218" cy="461665"/>
            <a:chOff x="9193869" y="2055101"/>
            <a:chExt cx="1030218" cy="461665"/>
          </a:xfrm>
        </p:grpSpPr>
        <p:sp>
          <p:nvSpPr>
            <p:cNvPr id="27" name="Rounded Rectangle 26">
              <a:extLst>
                <a:ext uri="{FF2B5EF4-FFF2-40B4-BE49-F238E27FC236}">
                  <a16:creationId xmlns:a16="http://schemas.microsoft.com/office/drawing/2014/main" id="{7A286639-CE7F-515C-09FD-BD4510FA6A3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4157334E-AAE5-3382-17DA-6A097FB7513B}"/>
                </a:ext>
              </a:extLst>
            </p:cNvPr>
            <p:cNvSpPr txBox="1"/>
            <p:nvPr/>
          </p:nvSpPr>
          <p:spPr>
            <a:xfrm>
              <a:off x="9193869"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spTree>
    <p:extLst>
      <p:ext uri="{BB962C8B-B14F-4D97-AF65-F5344CB8AC3E}">
        <p14:creationId xmlns:p14="http://schemas.microsoft.com/office/powerpoint/2010/main" val="2251737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500"/>
                                        <p:tgtEl>
                                          <p:spTgt spid="11"/>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left)">
                                      <p:cBhvr>
                                        <p:cTn id="15" dur="500"/>
                                        <p:tgtEl>
                                          <p:spTgt spid="3"/>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wipe(left)">
                                      <p:cBhvr>
                                        <p:cTn id="28" dur="5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p:bldP spid="8" grpId="0"/>
      <p:bldP spid="9"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BA60E-0924-F1EF-1002-66FB56F45E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1536328-BB64-38EA-D423-94B0139D0BE9}"/>
              </a:ext>
            </a:extLst>
          </p:cNvPr>
          <p:cNvSpPr txBox="1"/>
          <p:nvPr/>
        </p:nvSpPr>
        <p:spPr>
          <a:xfrm>
            <a:off x="4925392" y="2819400"/>
            <a:ext cx="2341218" cy="707886"/>
          </a:xfrm>
          <a:prstGeom prst="rect">
            <a:avLst/>
          </a:prstGeom>
          <a:noFill/>
        </p:spPr>
        <p:txBody>
          <a:bodyPr wrap="none" rtlCol="0">
            <a:spAutoFit/>
          </a:bodyPr>
          <a:lstStyle/>
          <a:p>
            <a:pPr algn="ctr">
              <a:buNone/>
            </a:pPr>
            <a:r>
              <a:rPr lang="en-US" sz="4000" b="1" dirty="0">
                <a:solidFill>
                  <a:srgbClr val="1F3A5F"/>
                </a:solidFill>
              </a:rPr>
              <a:t>Validate?</a:t>
            </a:r>
          </a:p>
        </p:txBody>
      </p:sp>
      <p:sp>
        <p:nvSpPr>
          <p:cNvPr id="50" name="accent">
            <a:extLst>
              <a:ext uri="{FF2B5EF4-FFF2-40B4-BE49-F238E27FC236}">
                <a16:creationId xmlns:a16="http://schemas.microsoft.com/office/drawing/2014/main" id="{0B178B9B-451E-6CE7-DB4F-9BD9226B7D42}"/>
              </a:ext>
            </a:extLst>
          </p:cNvPr>
          <p:cNvSpPr/>
          <p:nvPr/>
        </p:nvSpPr>
        <p:spPr>
          <a:xfrm>
            <a:off x="5461000" y="3810000"/>
            <a:ext cx="1270000" cy="63500"/>
          </a:xfrm>
          <a:prstGeom prst="rect">
            <a:avLst/>
          </a:prstGeom>
          <a:solidFill>
            <a:srgbClr val="5A7D5A"/>
          </a:solidFill>
          <a:ln>
            <a:noFill/>
          </a:ln>
        </p:spPr>
        <p:txBody>
          <a:bodyPr/>
          <a:lstStyle/>
          <a:p>
            <a:endParaRPr/>
          </a:p>
        </p:txBody>
      </p:sp>
      <p:grpSp>
        <p:nvGrpSpPr>
          <p:cNvPr id="4" name="Group 3">
            <a:extLst>
              <a:ext uri="{FF2B5EF4-FFF2-40B4-BE49-F238E27FC236}">
                <a16:creationId xmlns:a16="http://schemas.microsoft.com/office/drawing/2014/main" id="{AE109C79-7685-1379-5BAC-3012B6D28B16}"/>
              </a:ext>
            </a:extLst>
          </p:cNvPr>
          <p:cNvGrpSpPr/>
          <p:nvPr/>
        </p:nvGrpSpPr>
        <p:grpSpPr>
          <a:xfrm>
            <a:off x="9243724" y="793326"/>
            <a:ext cx="1665284" cy="461665"/>
            <a:chOff x="6359523" y="2343503"/>
            <a:chExt cx="1665284" cy="461665"/>
          </a:xfrm>
        </p:grpSpPr>
        <p:sp>
          <p:nvSpPr>
            <p:cNvPr id="5" name="Rounded Rectangle 4">
              <a:extLst>
                <a:ext uri="{FF2B5EF4-FFF2-40B4-BE49-F238E27FC236}">
                  <a16:creationId xmlns:a16="http://schemas.microsoft.com/office/drawing/2014/main" id="{64A37417-6A5E-C3C9-B410-B0E579929663}"/>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1C35B38-FDF3-77CB-DDDD-16B0DF75DD31}"/>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D71AD770-1F11-AC39-0D00-A5A2223C0A4A}"/>
              </a:ext>
            </a:extLst>
          </p:cNvPr>
          <p:cNvSpPr txBox="1"/>
          <p:nvPr/>
        </p:nvSpPr>
        <p:spPr>
          <a:xfrm>
            <a:off x="4747910" y="4101238"/>
            <a:ext cx="2518700" cy="261610"/>
          </a:xfrm>
          <a:prstGeom prst="rect">
            <a:avLst/>
          </a:prstGeom>
          <a:noFill/>
        </p:spPr>
        <p:txBody>
          <a:bodyPr wrap="square">
            <a:spAutoFit/>
          </a:bodyPr>
          <a:lstStyle/>
          <a:p>
            <a:pPr algn="ctr">
              <a:lnSpc>
                <a:spcPct val="100000"/>
              </a:lnSpc>
              <a:buNone/>
            </a:pPr>
            <a:r>
              <a:rPr lang="en-US" sz="1100" dirty="0">
                <a:solidFill>
                  <a:srgbClr val="415A77"/>
                </a:solidFill>
                <a:latin typeface="Consolas"/>
              </a:rPr>
              <a:t>Let’s look at the commit…</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3657569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7D4FD-D285-67D4-8197-D4735E5C0B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A0EE39-D701-1040-9E28-2513EB00D34C}"/>
              </a:ext>
            </a:extLst>
          </p:cNvPr>
          <p:cNvSpPr txBox="1"/>
          <p:nvPr/>
        </p:nvSpPr>
        <p:spPr>
          <a:xfrm>
            <a:off x="3977154" y="2819400"/>
            <a:ext cx="4237700" cy="707886"/>
          </a:xfrm>
          <a:prstGeom prst="rect">
            <a:avLst/>
          </a:prstGeom>
          <a:noFill/>
        </p:spPr>
        <p:txBody>
          <a:bodyPr wrap="none" rtlCol="0">
            <a:spAutoFit/>
          </a:bodyPr>
          <a:lstStyle/>
          <a:p>
            <a:pPr algn="ctr">
              <a:buNone/>
            </a:pPr>
            <a:r>
              <a:rPr lang="en-US" sz="4000" b="1" dirty="0">
                <a:solidFill>
                  <a:srgbClr val="1F3A5F"/>
                </a:solidFill>
              </a:rPr>
              <a:t>Bug - </a:t>
            </a:r>
            <a:r>
              <a:rPr lang="en-US" sz="4000" b="1" dirty="0" err="1">
                <a:solidFill>
                  <a:srgbClr val="1F3A5F"/>
                </a:solidFill>
              </a:rPr>
              <a:t>Quickbooks</a:t>
            </a:r>
            <a:endParaRPr lang="en-US" sz="4000" b="1" dirty="0">
              <a:solidFill>
                <a:srgbClr val="1F3A5F"/>
              </a:solidFill>
            </a:endParaRPr>
          </a:p>
        </p:txBody>
      </p:sp>
      <p:sp>
        <p:nvSpPr>
          <p:cNvPr id="50" name="accent">
            <a:extLst>
              <a:ext uri="{FF2B5EF4-FFF2-40B4-BE49-F238E27FC236}">
                <a16:creationId xmlns:a16="http://schemas.microsoft.com/office/drawing/2014/main" id="{88D79A54-0571-3A19-7FC9-DBD5B64BDA94}"/>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0199357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5DE03E-3066-9DC9-5507-D92D83900B19}"/>
              </a:ext>
            </a:extLst>
          </p:cNvPr>
          <p:cNvSpPr/>
          <p:nvPr/>
        </p:nvSpPr>
        <p:spPr>
          <a:xfrm>
            <a:off x="774700" y="1511300"/>
            <a:ext cx="9144000" cy="2743200"/>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28A46F-365C-420B-BD7A-9F7D37DC2703}"/>
              </a:ext>
            </a:extLst>
          </p:cNvPr>
          <p:cNvSpPr txBox="1"/>
          <p:nvPr/>
        </p:nvSpPr>
        <p:spPr>
          <a:xfrm>
            <a:off x="10160000" y="2717800"/>
            <a:ext cx="1143000" cy="338554"/>
          </a:xfrm>
          <a:prstGeom prst="rect">
            <a:avLst/>
          </a:prstGeom>
          <a:noFill/>
        </p:spPr>
        <p:txBody>
          <a:bodyPr wrap="none" rtlCol="0">
            <a:spAutoFit/>
          </a:bodyPr>
          <a:lstStyle/>
          <a:p>
            <a:pPr algn="l">
              <a:buNone/>
            </a:pPr>
            <a:r>
              <a:rPr lang="en-US" sz="1600" b="1" dirty="0">
                <a:solidFill>
                  <a:srgbClr val="415A77"/>
                </a:solidFill>
              </a:rPr>
              <a:t>Arrange</a:t>
            </a:r>
          </a:p>
        </p:txBody>
      </p:sp>
      <p:sp>
        <p:nvSpPr>
          <p:cNvPr id="10" name="Rectangle 9">
            <a:extLst>
              <a:ext uri="{FF2B5EF4-FFF2-40B4-BE49-F238E27FC236}">
                <a16:creationId xmlns:a16="http://schemas.microsoft.com/office/drawing/2014/main" id="{B382CD1F-0A93-95D0-548C-4522BD86BCF9}"/>
              </a:ext>
            </a:extLst>
          </p:cNvPr>
          <p:cNvSpPr/>
          <p:nvPr/>
        </p:nvSpPr>
        <p:spPr>
          <a:xfrm>
            <a:off x="774700" y="4445000"/>
            <a:ext cx="9144000" cy="546100"/>
          </a:xfrm>
          <a:prstGeom prst="rect">
            <a:avLst/>
          </a:prstGeom>
          <a:noFill/>
          <a:ln w="28575" cap="flat" cmpd="sng" algn="ctr">
            <a:solidFill>
              <a:schemeClr val="accent6">
                <a:lumMod val="75000"/>
              </a:schemeClr>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11" name="TextBox 10">
            <a:extLst>
              <a:ext uri="{FF2B5EF4-FFF2-40B4-BE49-F238E27FC236}">
                <a16:creationId xmlns:a16="http://schemas.microsoft.com/office/drawing/2014/main" id="{8F6999A3-A5E1-2FEC-F4E3-B3E734F8FC53}"/>
              </a:ext>
            </a:extLst>
          </p:cNvPr>
          <p:cNvSpPr txBox="1"/>
          <p:nvPr/>
        </p:nvSpPr>
        <p:spPr>
          <a:xfrm>
            <a:off x="10160000" y="4546600"/>
            <a:ext cx="1143000" cy="338554"/>
          </a:xfrm>
          <a:prstGeom prst="rect">
            <a:avLst/>
          </a:prstGeom>
          <a:noFill/>
          <a:ln>
            <a:solidFill>
              <a:schemeClr val="accent6">
                <a:lumMod val="75000"/>
              </a:schemeClr>
            </a:solidFill>
          </a:ln>
        </p:spPr>
        <p:txBody>
          <a:bodyPr wrap="none" rtlCol="0">
            <a:spAutoFit/>
          </a:bodyPr>
          <a:lstStyle/>
          <a:p>
            <a:pPr algn="l">
              <a:buNone/>
            </a:pPr>
            <a:r>
              <a:rPr lang="en-US" sz="1600" b="1" dirty="0">
                <a:solidFill>
                  <a:schemeClr val="accent6">
                    <a:lumMod val="75000"/>
                  </a:schemeClr>
                </a:solidFill>
              </a:rPr>
              <a:t>Act</a:t>
            </a:r>
          </a:p>
        </p:txBody>
      </p:sp>
      <p:grpSp>
        <p:nvGrpSpPr>
          <p:cNvPr id="14" name="Group 13">
            <a:extLst>
              <a:ext uri="{FF2B5EF4-FFF2-40B4-BE49-F238E27FC236}">
                <a16:creationId xmlns:a16="http://schemas.microsoft.com/office/drawing/2014/main" id="{3F4066E8-41BA-CFF5-C703-81B67BFB0AF0}"/>
              </a:ext>
            </a:extLst>
          </p:cNvPr>
          <p:cNvGrpSpPr/>
          <p:nvPr/>
        </p:nvGrpSpPr>
        <p:grpSpPr>
          <a:xfrm>
            <a:off x="9419869" y="381000"/>
            <a:ext cx="1730731" cy="461665"/>
            <a:chOff x="3888023" y="2248422"/>
            <a:chExt cx="1730731" cy="461665"/>
          </a:xfrm>
        </p:grpSpPr>
        <p:sp>
          <p:nvSpPr>
            <p:cNvPr id="15" name="Rounded Rectangle 14">
              <a:extLst>
                <a:ext uri="{FF2B5EF4-FFF2-40B4-BE49-F238E27FC236}">
                  <a16:creationId xmlns:a16="http://schemas.microsoft.com/office/drawing/2014/main" id="{16AA5D7D-B182-3EC0-989F-F8B3B1CB2DC9}"/>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84727E6-15CF-05BB-F278-80FAA0AB5C2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7" name="Group 16">
            <a:extLst>
              <a:ext uri="{FF2B5EF4-FFF2-40B4-BE49-F238E27FC236}">
                <a16:creationId xmlns:a16="http://schemas.microsoft.com/office/drawing/2014/main" id="{7D991E43-1A96-608E-5498-ACCBA8143281}"/>
              </a:ext>
            </a:extLst>
          </p:cNvPr>
          <p:cNvGrpSpPr/>
          <p:nvPr/>
        </p:nvGrpSpPr>
        <p:grpSpPr>
          <a:xfrm>
            <a:off x="10166887" y="1017476"/>
            <a:ext cx="918266" cy="461665"/>
            <a:chOff x="9249844" y="2055101"/>
            <a:chExt cx="918266" cy="461665"/>
          </a:xfrm>
        </p:grpSpPr>
        <p:sp>
          <p:nvSpPr>
            <p:cNvPr id="18" name="Rounded Rectangle 17">
              <a:extLst>
                <a:ext uri="{FF2B5EF4-FFF2-40B4-BE49-F238E27FC236}">
                  <a16:creationId xmlns:a16="http://schemas.microsoft.com/office/drawing/2014/main" id="{4D494AF8-E443-D28A-1F52-6EF3D49C397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9815FF6-993F-A921-EBE5-AA18D3B5022C}"/>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6" name="TextBox 5">
            <a:extLst>
              <a:ext uri="{FF2B5EF4-FFF2-40B4-BE49-F238E27FC236}">
                <a16:creationId xmlns:a16="http://schemas.microsoft.com/office/drawing/2014/main" id="{DB3DBC51-3692-7269-417D-F38F244125EF}"/>
              </a:ext>
            </a:extLst>
          </p:cNvPr>
          <p:cNvSpPr txBox="1"/>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151059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heel(1)">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1" presetClass="entr" presetSubtype="1"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heel(1)">
                                      <p:cBhvr>
                                        <p:cTn id="16" dur="500"/>
                                        <p:tgtEl>
                                          <p:spTgt spid="10"/>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57575AE-6229-4FBD-25CA-7C712082A07C}"/>
              </a:ext>
            </a:extLst>
          </p:cNvPr>
          <p:cNvPicPr>
            <a:picLocks noChangeAspect="1"/>
          </p:cNvPicPr>
          <p:nvPr/>
        </p:nvPicPr>
        <p:blipFill>
          <a:blip r:embed="rId2"/>
          <a:stretch>
            <a:fillRect/>
          </a:stretch>
        </p:blipFill>
        <p:spPr>
          <a:xfrm>
            <a:off x="357847" y="958958"/>
            <a:ext cx="11490887" cy="5592319"/>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86ED0661-46ED-C48E-A63B-FF34B2E90E1C}"/>
              </a:ext>
            </a:extLst>
          </p:cNvPr>
          <p:cNvGrpSpPr/>
          <p:nvPr/>
        </p:nvGrpSpPr>
        <p:grpSpPr>
          <a:xfrm>
            <a:off x="10183450" y="346156"/>
            <a:ext cx="1665284" cy="461665"/>
            <a:chOff x="6359523" y="2343503"/>
            <a:chExt cx="1665284" cy="461665"/>
          </a:xfrm>
        </p:grpSpPr>
        <p:sp>
          <p:nvSpPr>
            <p:cNvPr id="4" name="Rounded Rectangle 3">
              <a:extLst>
                <a:ext uri="{FF2B5EF4-FFF2-40B4-BE49-F238E27FC236}">
                  <a16:creationId xmlns:a16="http://schemas.microsoft.com/office/drawing/2014/main" id="{CD0A16FE-A5CC-1623-F48A-719FD50EEEEF}"/>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9659801-4D9D-D052-EC87-E6A6DE8A0B98}"/>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8911375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36360-80C5-4D66-9F6F-AAC5A0FDE49C}"/>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2FED46FC-A2B3-B037-D4B6-A75C248F0801}"/>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A2C7CDE9-3504-263D-2D65-53AB640A5EB9}"/>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366841AC-1FE5-681A-AAB9-D196F8348E2A}"/>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EFD6D464-9909-4C63-2840-12126652A2CB}"/>
              </a:ext>
            </a:extLst>
          </p:cNvPr>
          <p:cNvSpPr txBox="1"/>
          <p:nvPr/>
        </p:nvSpPr>
        <p:spPr>
          <a:xfrm>
            <a:off x="1346200" y="1498600"/>
            <a:ext cx="7782932" cy="334130"/>
          </a:xfrm>
          <a:prstGeom prst="rect">
            <a:avLst/>
          </a:prstGeom>
          <a:noFill/>
        </p:spPr>
        <p:txBody>
          <a:bodyPr wrap="square">
            <a:spAutoFit/>
          </a:bodyPr>
          <a:lstStyle/>
          <a:p>
            <a:pPr>
              <a:lnSpc>
                <a:spcPts val="1950"/>
              </a:lnSpc>
            </a:pPr>
            <a:r>
              <a:rPr lang="en-US" sz="1500" dirty="0">
                <a:solidFill>
                  <a:srgbClr val="1F3A5F"/>
                </a:solidFill>
                <a:latin typeface="Consolas"/>
              </a:rPr>
              <a:t>Run the test, they highlight a bug. Please fix it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48B0FD54-9A62-3C9D-FDE4-F1865DCC07F0}"/>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6" name="Group 5">
            <a:extLst>
              <a:ext uri="{FF2B5EF4-FFF2-40B4-BE49-F238E27FC236}">
                <a16:creationId xmlns:a16="http://schemas.microsoft.com/office/drawing/2014/main" id="{C172496C-AA06-E337-3DC3-DBC848E3B750}"/>
              </a:ext>
            </a:extLst>
          </p:cNvPr>
          <p:cNvGrpSpPr/>
          <p:nvPr/>
        </p:nvGrpSpPr>
        <p:grpSpPr>
          <a:xfrm>
            <a:off x="4761727" y="4068761"/>
            <a:ext cx="918266" cy="461665"/>
            <a:chOff x="9249844" y="2055101"/>
            <a:chExt cx="918266" cy="461665"/>
          </a:xfrm>
        </p:grpSpPr>
        <p:sp>
          <p:nvSpPr>
            <p:cNvPr id="10" name="Rounded Rectangle 9">
              <a:extLst>
                <a:ext uri="{FF2B5EF4-FFF2-40B4-BE49-F238E27FC236}">
                  <a16:creationId xmlns:a16="http://schemas.microsoft.com/office/drawing/2014/main" id="{5B501893-206D-A90F-39D6-4F017F569C05}"/>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5784486-71E8-4A87-E1E5-A08D53A3E4B5}"/>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6" name="Group 15">
            <a:extLst>
              <a:ext uri="{FF2B5EF4-FFF2-40B4-BE49-F238E27FC236}">
                <a16:creationId xmlns:a16="http://schemas.microsoft.com/office/drawing/2014/main" id="{4B088DC2-9AA5-E87B-101F-04B3F728A0AD}"/>
              </a:ext>
            </a:extLst>
          </p:cNvPr>
          <p:cNvGrpSpPr/>
          <p:nvPr/>
        </p:nvGrpSpPr>
        <p:grpSpPr>
          <a:xfrm>
            <a:off x="2614987" y="4068761"/>
            <a:ext cx="1730731" cy="461665"/>
            <a:chOff x="3888023" y="2248422"/>
            <a:chExt cx="1730731" cy="461665"/>
          </a:xfrm>
        </p:grpSpPr>
        <p:sp>
          <p:nvSpPr>
            <p:cNvPr id="17" name="Rounded Rectangle 16">
              <a:extLst>
                <a:ext uri="{FF2B5EF4-FFF2-40B4-BE49-F238E27FC236}">
                  <a16:creationId xmlns:a16="http://schemas.microsoft.com/office/drawing/2014/main" id="{E134A010-E7A5-A54E-0EC5-4EC19E0208D4}"/>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7C332E7-9107-17AB-1CC4-B83BA6CBBB2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9" name="Group 18">
            <a:extLst>
              <a:ext uri="{FF2B5EF4-FFF2-40B4-BE49-F238E27FC236}">
                <a16:creationId xmlns:a16="http://schemas.microsoft.com/office/drawing/2014/main" id="{30529F15-A83B-755A-BF56-5D0836F1FC30}"/>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A74891EA-5D58-CDA4-108F-154996E16DC5}"/>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E6512C6-1CA7-29A6-0F6F-04AFC8E533F2}"/>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3" name="TextBox 22">
            <a:extLst>
              <a:ext uri="{FF2B5EF4-FFF2-40B4-BE49-F238E27FC236}">
                <a16:creationId xmlns:a16="http://schemas.microsoft.com/office/drawing/2014/main" id="{DF5FA4C6-737A-1DB5-5C82-63D4E4596AE7}"/>
              </a:ext>
            </a:extLst>
          </p:cNvPr>
          <p:cNvSpPr txBox="1"/>
          <p:nvPr/>
        </p:nvSpPr>
        <p:spPr>
          <a:xfrm>
            <a:off x="4378835" y="406876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24" name="TextBox 23">
            <a:extLst>
              <a:ext uri="{FF2B5EF4-FFF2-40B4-BE49-F238E27FC236}">
                <a16:creationId xmlns:a16="http://schemas.microsoft.com/office/drawing/2014/main" id="{4EFA7F74-8E65-FD59-5713-F13886501CD8}"/>
              </a:ext>
            </a:extLst>
          </p:cNvPr>
          <p:cNvSpPr txBox="1"/>
          <p:nvPr/>
        </p:nvSpPr>
        <p:spPr>
          <a:xfrm>
            <a:off x="5713109" y="4068761"/>
            <a:ext cx="349775" cy="461665"/>
          </a:xfrm>
          <a:prstGeom prst="rect">
            <a:avLst/>
          </a:prstGeom>
          <a:noFill/>
          <a:ln>
            <a:noFill/>
          </a:ln>
        </p:spPr>
        <p:txBody>
          <a:bodyPr wrap="none" rtlCol="0">
            <a:spAutoFit/>
          </a:bodyPr>
          <a:lstStyle/>
          <a:p>
            <a:pPr algn="ctr"/>
            <a:r>
              <a:rPr lang="en-US" sz="2400" b="1" dirty="0">
                <a:solidFill>
                  <a:srgbClr val="1F3A5F"/>
                </a:solidFill>
              </a:rPr>
              <a:t>+</a:t>
            </a:r>
          </a:p>
        </p:txBody>
      </p:sp>
      <p:grpSp>
        <p:nvGrpSpPr>
          <p:cNvPr id="26" name="Group 25">
            <a:extLst>
              <a:ext uri="{FF2B5EF4-FFF2-40B4-BE49-F238E27FC236}">
                <a16:creationId xmlns:a16="http://schemas.microsoft.com/office/drawing/2014/main" id="{65588F93-F0C7-1506-840D-74D2A76B536B}"/>
              </a:ext>
            </a:extLst>
          </p:cNvPr>
          <p:cNvGrpSpPr/>
          <p:nvPr/>
        </p:nvGrpSpPr>
        <p:grpSpPr>
          <a:xfrm>
            <a:off x="3752695" y="4867872"/>
            <a:ext cx="1030218" cy="461665"/>
            <a:chOff x="9193869" y="2055101"/>
            <a:chExt cx="1030218" cy="461665"/>
          </a:xfrm>
        </p:grpSpPr>
        <p:sp>
          <p:nvSpPr>
            <p:cNvPr id="27" name="Rounded Rectangle 26">
              <a:extLst>
                <a:ext uri="{FF2B5EF4-FFF2-40B4-BE49-F238E27FC236}">
                  <a16:creationId xmlns:a16="http://schemas.microsoft.com/office/drawing/2014/main" id="{089F589F-0596-BA84-FA79-82282A86A3AC}"/>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CD63C1B-3904-3BF7-E9E9-D4435EB6AED6}"/>
                </a:ext>
              </a:extLst>
            </p:cNvPr>
            <p:cNvSpPr txBox="1"/>
            <p:nvPr/>
          </p:nvSpPr>
          <p:spPr>
            <a:xfrm>
              <a:off x="9193869"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sp>
        <p:nvSpPr>
          <p:cNvPr id="29" name="TextBox 28">
            <a:extLst>
              <a:ext uri="{FF2B5EF4-FFF2-40B4-BE49-F238E27FC236}">
                <a16:creationId xmlns:a16="http://schemas.microsoft.com/office/drawing/2014/main" id="{9C61227C-F68F-B11D-A4B1-DD0C23D0A06E}"/>
              </a:ext>
            </a:extLst>
          </p:cNvPr>
          <p:cNvSpPr txBox="1"/>
          <p:nvPr/>
        </p:nvSpPr>
        <p:spPr>
          <a:xfrm>
            <a:off x="4858832" y="4836743"/>
            <a:ext cx="349775" cy="461665"/>
          </a:xfrm>
          <a:prstGeom prst="rect">
            <a:avLst/>
          </a:prstGeom>
          <a:noFill/>
          <a:ln>
            <a:noFill/>
          </a:ln>
        </p:spPr>
        <p:txBody>
          <a:bodyPr wrap="none" rtlCol="0">
            <a:spAutoFit/>
          </a:bodyPr>
          <a:lstStyle/>
          <a:p>
            <a:pPr algn="ctr"/>
            <a:r>
              <a:rPr lang="en-US" sz="2400" b="1" dirty="0">
                <a:solidFill>
                  <a:srgbClr val="1F3A5F"/>
                </a:solidFill>
              </a:rPr>
              <a:t>+</a:t>
            </a:r>
          </a:p>
        </p:txBody>
      </p:sp>
      <p:grpSp>
        <p:nvGrpSpPr>
          <p:cNvPr id="31" name="Group 30">
            <a:extLst>
              <a:ext uri="{FF2B5EF4-FFF2-40B4-BE49-F238E27FC236}">
                <a16:creationId xmlns:a16="http://schemas.microsoft.com/office/drawing/2014/main" id="{C4BB2674-94EC-B6B1-803C-311E0982A059}"/>
              </a:ext>
            </a:extLst>
          </p:cNvPr>
          <p:cNvGrpSpPr/>
          <p:nvPr/>
        </p:nvGrpSpPr>
        <p:grpSpPr>
          <a:xfrm>
            <a:off x="5284526" y="4867872"/>
            <a:ext cx="1716786" cy="461665"/>
            <a:chOff x="3888023" y="2248422"/>
            <a:chExt cx="1716786" cy="461665"/>
          </a:xfrm>
        </p:grpSpPr>
        <p:sp>
          <p:nvSpPr>
            <p:cNvPr id="32" name="Rounded Rectangle 31">
              <a:extLst>
                <a:ext uri="{FF2B5EF4-FFF2-40B4-BE49-F238E27FC236}">
                  <a16:creationId xmlns:a16="http://schemas.microsoft.com/office/drawing/2014/main" id="{6BB39579-959C-E5B2-6951-9E6F31F51AAA}"/>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721082A3-318E-D183-DEA9-0349A9D22CC7}"/>
                </a:ext>
              </a:extLst>
            </p:cNvPr>
            <p:cNvSpPr txBox="1"/>
            <p:nvPr/>
          </p:nvSpPr>
          <p:spPr>
            <a:xfrm>
              <a:off x="3901971" y="2248422"/>
              <a:ext cx="1702838" cy="461665"/>
            </a:xfrm>
            <a:prstGeom prst="rect">
              <a:avLst/>
            </a:prstGeom>
            <a:noFill/>
            <a:ln>
              <a:noFill/>
            </a:ln>
          </p:spPr>
          <p:txBody>
            <a:bodyPr wrap="none" rtlCol="0">
              <a:spAutoFit/>
            </a:bodyPr>
            <a:lstStyle/>
            <a:p>
              <a:pPr algn="ctr"/>
              <a:r>
                <a:rPr lang="en-US" sz="2400" b="1" dirty="0">
                  <a:solidFill>
                    <a:srgbClr val="1F3A5F"/>
                  </a:solidFill>
                </a:rPr>
                <a:t>Small Step</a:t>
              </a:r>
            </a:p>
          </p:txBody>
        </p:sp>
      </p:grpSp>
    </p:spTree>
    <p:extLst>
      <p:ext uri="{BB962C8B-B14F-4D97-AF65-F5344CB8AC3E}">
        <p14:creationId xmlns:p14="http://schemas.microsoft.com/office/powerpoint/2010/main" val="205770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F0D4B-4598-D447-6D8A-53645ABE2D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E1B2E0-74FC-28BB-3289-A7D648BA94BD}"/>
              </a:ext>
            </a:extLst>
          </p:cNvPr>
          <p:cNvSpPr txBox="1"/>
          <p:nvPr/>
        </p:nvSpPr>
        <p:spPr>
          <a:xfrm>
            <a:off x="4282983" y="2819400"/>
            <a:ext cx="3626057" cy="707886"/>
          </a:xfrm>
          <a:prstGeom prst="rect">
            <a:avLst/>
          </a:prstGeom>
          <a:noFill/>
        </p:spPr>
        <p:txBody>
          <a:bodyPr wrap="none" rtlCol="0">
            <a:spAutoFit/>
          </a:bodyPr>
          <a:lstStyle/>
          <a:p>
            <a:pPr algn="ctr">
              <a:buNone/>
            </a:pPr>
            <a:r>
              <a:rPr lang="en-US" sz="4000" b="1" dirty="0">
                <a:solidFill>
                  <a:srgbClr val="1F3A5F"/>
                </a:solidFill>
              </a:rPr>
              <a:t>Static Analysis</a:t>
            </a:r>
          </a:p>
        </p:txBody>
      </p:sp>
      <p:sp>
        <p:nvSpPr>
          <p:cNvPr id="50" name="accent">
            <a:extLst>
              <a:ext uri="{FF2B5EF4-FFF2-40B4-BE49-F238E27FC236}">
                <a16:creationId xmlns:a16="http://schemas.microsoft.com/office/drawing/2014/main" id="{9F46BBA6-29EE-BEB4-C9AA-0829730146EC}"/>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13028340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8DF68-8EAE-9733-89CA-146742B67B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2B2D0F-7FCD-D9CB-E66A-816258EC0690}"/>
              </a:ext>
            </a:extLst>
          </p:cNvPr>
          <p:cNvSpPr txBox="1"/>
          <p:nvPr/>
        </p:nvSpPr>
        <p:spPr>
          <a:xfrm>
            <a:off x="457200" y="330200"/>
            <a:ext cx="5334000" cy="406400"/>
          </a:xfrm>
          <a:prstGeom prst="rect">
            <a:avLst/>
          </a:prstGeom>
          <a:noFill/>
        </p:spPr>
        <p:txBody>
          <a:bodyPr wrap="square">
            <a:spAutoFit/>
          </a:bodyPr>
          <a:lstStyle/>
          <a:p>
            <a:r>
              <a:rPr lang="en-US" sz="2000" b="1" dirty="0">
                <a:solidFill>
                  <a:srgbClr val="1F3A5F"/>
                </a:solidFill>
                <a:latin typeface="Consolas"/>
              </a:rPr>
              <a:t>create-code-</a:t>
            </a:r>
            <a:r>
              <a:rPr lang="en-US" sz="2000" b="1" dirty="0" err="1">
                <a:solidFill>
                  <a:srgbClr val="1F3A5F"/>
                </a:solidFill>
                <a:latin typeface="Consolas"/>
              </a:rPr>
              <a:t>analysis</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A3E1ECAD-36C7-CD13-9A89-D7DD39F9C7A2}"/>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E34235D0-2B0E-3E7F-E9A1-0CBB7E5BE561}"/>
              </a:ext>
            </a:extLst>
          </p:cNvPr>
          <p:cNvGrpSpPr/>
          <p:nvPr/>
        </p:nvGrpSpPr>
        <p:grpSpPr>
          <a:xfrm>
            <a:off x="4416149" y="274935"/>
            <a:ext cx="918266" cy="461665"/>
            <a:chOff x="9249844" y="2055101"/>
            <a:chExt cx="918266" cy="461665"/>
          </a:xfrm>
        </p:grpSpPr>
        <p:sp>
          <p:nvSpPr>
            <p:cNvPr id="7" name="Rounded Rectangle 6">
              <a:extLst>
                <a:ext uri="{FF2B5EF4-FFF2-40B4-BE49-F238E27FC236}">
                  <a16:creationId xmlns:a16="http://schemas.microsoft.com/office/drawing/2014/main" id="{D1D47AA9-0E57-1719-78EE-C75D843A1F8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9B7F58A-F57C-1AFB-7290-5DB4E0401DEB}"/>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56176344-86CF-A9D3-F8E7-A6674480C195}"/>
              </a:ext>
            </a:extLst>
          </p:cNvPr>
          <p:cNvSpPr/>
          <p:nvPr/>
        </p:nvSpPr>
        <p:spPr>
          <a:xfrm>
            <a:off x="457199" y="1267714"/>
            <a:ext cx="10958644" cy="135036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500E4ED8-4F60-5CFB-5EAB-D911C2351911}"/>
              </a:ext>
            </a:extLst>
          </p:cNvPr>
          <p:cNvSpPr txBox="1"/>
          <p:nvPr/>
        </p:nvSpPr>
        <p:spPr>
          <a:xfrm>
            <a:off x="711199" y="1496314"/>
            <a:ext cx="10958644"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./create-code-</a:t>
            </a:r>
            <a:r>
              <a:rPr lang="en-US" sz="2000" dirty="0" err="1">
                <a:solidFill>
                  <a:srgbClr val="FFFFFF"/>
                </a:solidFill>
                <a:latin typeface="Consolas"/>
              </a:rPr>
              <a:t>analysis.sh</a:t>
            </a:r>
            <a:endParaRPr lang="en-US" sz="2000" dirty="0">
              <a:solidFill>
                <a:srgbClr val="FFFFFF"/>
              </a:solidFill>
              <a:latin typeface="Consolas"/>
            </a:endParaRPr>
          </a:p>
          <a:p>
            <a:pPr>
              <a:lnSpc>
                <a:spcPts val="2600"/>
              </a:lnSpc>
            </a:pPr>
            <a:r>
              <a:rPr lang="en-US" sz="2000" dirty="0">
                <a:solidFill>
                  <a:srgbClr val="FFFFFF"/>
                </a:solidFill>
                <a:latin typeface="Consolas"/>
              </a:rPr>
              <a:t>Cyclomatic complexity report written to .reports/cyclomatic-</a:t>
            </a:r>
            <a:r>
              <a:rPr lang="en-US" sz="2000" dirty="0" err="1">
                <a:solidFill>
                  <a:srgbClr val="FFFFFF"/>
                </a:solidFill>
                <a:latin typeface="Consolas"/>
              </a:rPr>
              <a:t>complexity.txt</a:t>
            </a:r>
            <a:endParaRPr lang="en-US" sz="2000" b="1" dirty="0">
              <a:solidFill>
                <a:srgbClr val="7FB280"/>
              </a:solidFill>
              <a:latin typeface="Consolas"/>
            </a:endParaRPr>
          </a:p>
        </p:txBody>
      </p:sp>
      <p:grpSp>
        <p:nvGrpSpPr>
          <p:cNvPr id="11" name="Group 10">
            <a:extLst>
              <a:ext uri="{FF2B5EF4-FFF2-40B4-BE49-F238E27FC236}">
                <a16:creationId xmlns:a16="http://schemas.microsoft.com/office/drawing/2014/main" id="{2A5BC8F2-B265-F033-053A-C3D6E0C2BD21}"/>
              </a:ext>
            </a:extLst>
          </p:cNvPr>
          <p:cNvGrpSpPr/>
          <p:nvPr/>
        </p:nvGrpSpPr>
        <p:grpSpPr>
          <a:xfrm>
            <a:off x="8351877" y="806049"/>
            <a:ext cx="1665284" cy="461665"/>
            <a:chOff x="6359523" y="2343503"/>
            <a:chExt cx="1665284" cy="461665"/>
          </a:xfrm>
        </p:grpSpPr>
        <p:sp>
          <p:nvSpPr>
            <p:cNvPr id="13" name="Rounded Rectangle 12">
              <a:extLst>
                <a:ext uri="{FF2B5EF4-FFF2-40B4-BE49-F238E27FC236}">
                  <a16:creationId xmlns:a16="http://schemas.microsoft.com/office/drawing/2014/main" id="{A9A18721-BCF8-B9D3-7226-DB8AB5D0C151}"/>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E74D21B-541E-ACEF-CDFC-E8312E3C26A6}"/>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231874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409C0-D654-7E13-A55D-BBE34D35348B}"/>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DFEDD0DA-753B-E252-6635-2199AF4CD62E}"/>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7507A0F2-6ACD-CF75-4593-9B594EEAF914}"/>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43D8FDD3-8154-55AA-C4A6-D7687097EC59}"/>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E305BCC6-EDBA-206A-9638-29315AE532C7}"/>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Read @</a:t>
            </a:r>
            <a:r>
              <a:rPr lang="en-US" sz="1500" dirty="0">
                <a:solidFill>
                  <a:srgbClr val="A14B4B"/>
                </a:solidFill>
                <a:latin typeface="Consolas"/>
              </a:rPr>
              <a:t>reduce-</a:t>
            </a:r>
            <a:r>
              <a:rPr lang="en-US" sz="1500" dirty="0" err="1">
                <a:solidFill>
                  <a:srgbClr val="A14B4B"/>
                </a:solidFill>
                <a:latin typeface="Consolas"/>
              </a:rPr>
              <a:t>complexity.process.md</a:t>
            </a:r>
            <a:r>
              <a:rPr lang="en-US" sz="1500" dirty="0">
                <a:solidFill>
                  <a:srgbClr val="1F3A5F"/>
                </a:solidFill>
                <a:latin typeface="Consolas"/>
              </a:rPr>
              <a:t> apply it to @</a:t>
            </a:r>
            <a:r>
              <a:rPr lang="en-US" sz="1500" dirty="0">
                <a:solidFill>
                  <a:srgbClr val="A14B4B"/>
                </a:solidFill>
                <a:latin typeface="Consolas"/>
              </a:rPr>
              <a:t>cyclomatic-</a:t>
            </a:r>
            <a:r>
              <a:rPr lang="en-US" sz="1500" dirty="0" err="1">
                <a:solidFill>
                  <a:srgbClr val="A14B4B"/>
                </a:solidFill>
                <a:latin typeface="Consolas"/>
              </a:rPr>
              <a:t>complexity.txt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57658C6F-2316-1C11-B301-4CCFF3B5091E}"/>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19" name="Group 18">
            <a:extLst>
              <a:ext uri="{FF2B5EF4-FFF2-40B4-BE49-F238E27FC236}">
                <a16:creationId xmlns:a16="http://schemas.microsoft.com/office/drawing/2014/main" id="{81579F66-D187-3B6C-2B63-6AEE4B25E5F8}"/>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FD445E48-76FF-C97B-1CC1-C84520A2C70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364E2B72-8904-A752-0DD6-1243C29EB11B}"/>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4" name="TextBox 23">
            <a:extLst>
              <a:ext uri="{FF2B5EF4-FFF2-40B4-BE49-F238E27FC236}">
                <a16:creationId xmlns:a16="http://schemas.microsoft.com/office/drawing/2014/main" id="{60FEFEC6-077C-315E-541A-7B1CFD5802A4}"/>
              </a:ext>
            </a:extLst>
          </p:cNvPr>
          <p:cNvSpPr txBox="1"/>
          <p:nvPr/>
        </p:nvSpPr>
        <p:spPr>
          <a:xfrm>
            <a:off x="7761284" y="4075508"/>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Tree>
    <p:extLst>
      <p:ext uri="{BB962C8B-B14F-4D97-AF65-F5344CB8AC3E}">
        <p14:creationId xmlns:p14="http://schemas.microsoft.com/office/powerpoint/2010/main" val="3437345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90FD-4583-50C9-D2C2-D390A46D448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FFCAEC-9C48-3E24-E848-2EBACD10EC16}"/>
              </a:ext>
            </a:extLst>
          </p:cNvPr>
          <p:cNvSpPr txBox="1"/>
          <p:nvPr/>
        </p:nvSpPr>
        <p:spPr>
          <a:xfrm>
            <a:off x="4911771" y="2819400"/>
            <a:ext cx="2368470" cy="707886"/>
          </a:xfrm>
          <a:prstGeom prst="rect">
            <a:avLst/>
          </a:prstGeom>
          <a:noFill/>
        </p:spPr>
        <p:txBody>
          <a:bodyPr wrap="none" rtlCol="0">
            <a:spAutoFit/>
          </a:bodyPr>
          <a:lstStyle/>
          <a:p>
            <a:pPr algn="ctr">
              <a:buNone/>
            </a:pPr>
            <a:r>
              <a:rPr lang="en-US" sz="4000" b="1" dirty="0">
                <a:solidFill>
                  <a:srgbClr val="1F3A5F"/>
                </a:solidFill>
              </a:rPr>
              <a:t>Coverage</a:t>
            </a:r>
          </a:p>
        </p:txBody>
      </p:sp>
      <p:sp>
        <p:nvSpPr>
          <p:cNvPr id="50" name="accent">
            <a:extLst>
              <a:ext uri="{FF2B5EF4-FFF2-40B4-BE49-F238E27FC236}">
                <a16:creationId xmlns:a16="http://schemas.microsoft.com/office/drawing/2014/main" id="{C018AAC7-0654-2485-8DCA-00C145C7A192}"/>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2154388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C070-31F3-9850-F92E-5009703D39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4195C1-2DBA-8A80-BE9E-3B05AE52E6F6}"/>
              </a:ext>
            </a:extLst>
          </p:cNvPr>
          <p:cNvSpPr txBox="1"/>
          <p:nvPr/>
        </p:nvSpPr>
        <p:spPr>
          <a:xfrm>
            <a:off x="457200" y="330200"/>
            <a:ext cx="5334000" cy="406400"/>
          </a:xfrm>
          <a:prstGeom prst="rect">
            <a:avLst/>
          </a:prstGeom>
          <a:noFill/>
        </p:spPr>
        <p:txBody>
          <a:bodyPr wrap="square">
            <a:spAutoFit/>
          </a:bodyPr>
          <a:lstStyle/>
          <a:p>
            <a:r>
              <a:rPr lang="en-US" sz="2000" b="1" dirty="0">
                <a:solidFill>
                  <a:srgbClr val="1F3A5F"/>
                </a:solidFill>
                <a:latin typeface="Consolas"/>
              </a:rPr>
              <a:t>create-code-</a:t>
            </a:r>
            <a:r>
              <a:rPr lang="en-US" sz="2000" b="1" dirty="0" err="1">
                <a:solidFill>
                  <a:srgbClr val="1F3A5F"/>
                </a:solidFill>
                <a:latin typeface="Consolas"/>
              </a:rPr>
              <a:t>coverage</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1750710A-05C0-8129-0E42-F8022C60CFFD}"/>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FE60AA9A-9CA4-F8DB-104D-2F8542EE1771}"/>
              </a:ext>
            </a:extLst>
          </p:cNvPr>
          <p:cNvGrpSpPr/>
          <p:nvPr/>
        </p:nvGrpSpPr>
        <p:grpSpPr>
          <a:xfrm>
            <a:off x="4416149" y="274935"/>
            <a:ext cx="918266" cy="461665"/>
            <a:chOff x="9249844" y="2055101"/>
            <a:chExt cx="918266" cy="461665"/>
          </a:xfrm>
        </p:grpSpPr>
        <p:sp>
          <p:nvSpPr>
            <p:cNvPr id="7" name="Rounded Rectangle 6">
              <a:extLst>
                <a:ext uri="{FF2B5EF4-FFF2-40B4-BE49-F238E27FC236}">
                  <a16:creationId xmlns:a16="http://schemas.microsoft.com/office/drawing/2014/main" id="{AECD4F37-13B7-F373-409E-53CFAB08A344}"/>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F50C92C-9779-C88F-7465-1BDFECD61EB2}"/>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8B3BDAE8-34BA-D59B-A967-3D62F1069241}"/>
              </a:ext>
            </a:extLst>
          </p:cNvPr>
          <p:cNvSpPr/>
          <p:nvPr/>
        </p:nvSpPr>
        <p:spPr>
          <a:xfrm>
            <a:off x="457199" y="1267714"/>
            <a:ext cx="10958644" cy="135036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0F798E6-2325-104F-7C1E-A429164F064A}"/>
              </a:ext>
            </a:extLst>
          </p:cNvPr>
          <p:cNvSpPr txBox="1"/>
          <p:nvPr/>
        </p:nvSpPr>
        <p:spPr>
          <a:xfrm>
            <a:off x="711199" y="1496314"/>
            <a:ext cx="10958644"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./create-code-</a:t>
            </a:r>
            <a:r>
              <a:rPr lang="en-US" sz="2000" dirty="0" err="1">
                <a:solidFill>
                  <a:srgbClr val="FFFFFF"/>
                </a:solidFill>
                <a:latin typeface="Consolas"/>
              </a:rPr>
              <a:t>coverage.sh</a:t>
            </a:r>
            <a:endParaRPr lang="en-US" sz="2000" dirty="0">
              <a:solidFill>
                <a:srgbClr val="FFFFFF"/>
              </a:solidFill>
              <a:latin typeface="Consolas"/>
            </a:endParaRPr>
          </a:p>
          <a:p>
            <a:pPr>
              <a:lnSpc>
                <a:spcPts val="2600"/>
              </a:lnSpc>
            </a:pPr>
            <a:r>
              <a:rPr lang="en-US" sz="2000" dirty="0">
                <a:solidFill>
                  <a:srgbClr val="FFFFFF"/>
                </a:solidFill>
                <a:latin typeface="Consolas"/>
              </a:rPr>
              <a:t>Coverage report generated at ...</a:t>
            </a:r>
            <a:endParaRPr lang="en-US" sz="2000" b="1" dirty="0">
              <a:solidFill>
                <a:srgbClr val="7FB280"/>
              </a:solidFill>
              <a:latin typeface="Consolas"/>
            </a:endParaRPr>
          </a:p>
        </p:txBody>
      </p:sp>
    </p:spTree>
    <p:extLst>
      <p:ext uri="{BB962C8B-B14F-4D97-AF65-F5344CB8AC3E}">
        <p14:creationId xmlns:p14="http://schemas.microsoft.com/office/powerpoint/2010/main" val="40192011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3CF720-6636-49F3-F6C7-308856601805}"/>
              </a:ext>
            </a:extLst>
          </p:cNvPr>
          <p:cNvPicPr>
            <a:picLocks noChangeAspect="1"/>
          </p:cNvPicPr>
          <p:nvPr/>
        </p:nvPicPr>
        <p:blipFill>
          <a:blip r:embed="rId3"/>
          <a:stretch>
            <a:fillRect/>
          </a:stretch>
        </p:blipFill>
        <p:spPr>
          <a:xfrm>
            <a:off x="599607" y="49980"/>
            <a:ext cx="9501770" cy="6758040"/>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440B9F87-DE79-4EE7-386A-F9748DF6F36A}"/>
              </a:ext>
            </a:extLst>
          </p:cNvPr>
          <p:cNvGrpSpPr/>
          <p:nvPr/>
        </p:nvGrpSpPr>
        <p:grpSpPr>
          <a:xfrm>
            <a:off x="10390539" y="416304"/>
            <a:ext cx="1665284" cy="461665"/>
            <a:chOff x="6359523" y="2343503"/>
            <a:chExt cx="1665284" cy="461665"/>
          </a:xfrm>
        </p:grpSpPr>
        <p:sp>
          <p:nvSpPr>
            <p:cNvPr id="4" name="Rounded Rectangle 3">
              <a:extLst>
                <a:ext uri="{FF2B5EF4-FFF2-40B4-BE49-F238E27FC236}">
                  <a16:creationId xmlns:a16="http://schemas.microsoft.com/office/drawing/2014/main" id="{026D3D28-2B23-9420-E593-9829A29D591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C0AB318-39FD-BC32-AC83-E457EC2D07B9}"/>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707251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1BB02-1557-13B0-62CC-7C26DC6435D9}"/>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73D0DBDE-9B5E-C0F7-5E81-D2AF3065312F}"/>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AE156215-0C91-6FC2-4D44-A34A06836B4D}"/>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750F787F-CBA1-0C7A-AD78-AC94189D97B7}"/>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8A670E6F-91C6-CBE8-EA5B-51A2A42E1D86}"/>
              </a:ext>
            </a:extLst>
          </p:cNvPr>
          <p:cNvSpPr txBox="1"/>
          <p:nvPr/>
        </p:nvSpPr>
        <p:spPr>
          <a:xfrm>
            <a:off x="1346199" y="1498600"/>
            <a:ext cx="8359931" cy="590611"/>
          </a:xfrm>
          <a:prstGeom prst="rect">
            <a:avLst/>
          </a:prstGeom>
          <a:noFill/>
        </p:spPr>
        <p:txBody>
          <a:bodyPr wrap="square">
            <a:spAutoFit/>
          </a:bodyPr>
          <a:lstStyle/>
          <a:p>
            <a:pPr>
              <a:lnSpc>
                <a:spcPts val="1950"/>
              </a:lnSpc>
            </a:pPr>
            <a:r>
              <a:rPr lang="en-US" sz="1500" dirty="0">
                <a:solidFill>
                  <a:srgbClr val="1F3A5F"/>
                </a:solidFill>
                <a:latin typeface="Consolas"/>
              </a:rPr>
              <a:t>Run create-code-</a:t>
            </a:r>
            <a:r>
              <a:rPr lang="en-US" sz="1500" dirty="0" err="1">
                <a:solidFill>
                  <a:srgbClr val="1F3A5F"/>
                </a:solidFill>
                <a:latin typeface="Consolas"/>
              </a:rPr>
              <a:t>coverage.sh</a:t>
            </a:r>
            <a:r>
              <a:rPr lang="en-US" sz="1500" dirty="0">
                <a:solidFill>
                  <a:srgbClr val="1F3A5F"/>
                </a:solidFill>
                <a:latin typeface="Consolas"/>
              </a:rPr>
              <a:t> and create a list of the top classes that need</a:t>
            </a:r>
          </a:p>
          <a:p>
            <a:pPr>
              <a:lnSpc>
                <a:spcPts val="1950"/>
              </a:lnSpc>
            </a:pPr>
            <a:r>
              <a:rPr lang="en-US" sz="1500" dirty="0">
                <a:solidFill>
                  <a:srgbClr val="1F3A5F"/>
                </a:solidFill>
                <a:latin typeface="Consolas"/>
              </a:rPr>
              <a:t>Tests. Place it in @</a:t>
            </a:r>
            <a:r>
              <a:rPr lang="en-US" sz="1500" dirty="0" err="1">
                <a:solidFill>
                  <a:srgbClr val="1F3A5F"/>
                </a:solidFill>
                <a:latin typeface="Consolas"/>
              </a:rPr>
              <a:t>InternalDocuments</a:t>
            </a:r>
            <a:r>
              <a:rPr lang="en-US" sz="1500" dirty="0">
                <a:solidFill>
                  <a:srgbClr val="1F3A5F"/>
                </a:solidFill>
                <a:latin typeface="Consolas"/>
              </a:rPr>
              <a:t>/</a:t>
            </a:r>
            <a:r>
              <a:rPr lang="en-US" sz="1500" dirty="0" err="1">
                <a:solidFill>
                  <a:srgbClr val="1F3A5F"/>
                </a:solidFill>
                <a:latin typeface="Consolas"/>
              </a:rPr>
              <a:t>increase_test_coverage.md</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58267B2F-E9A8-3B50-8529-90127FE74695}"/>
              </a:ext>
            </a:extLst>
          </p:cNvPr>
          <p:cNvSpPr/>
          <p:nvPr/>
        </p:nvSpPr>
        <p:spPr>
          <a:xfrm>
            <a:off x="1041400" y="1320800"/>
            <a:ext cx="50800" cy="1320800"/>
          </a:xfrm>
          <a:prstGeom prst="rect">
            <a:avLst/>
          </a:prstGeom>
          <a:solidFill>
            <a:srgbClr val="415A77"/>
          </a:solidFill>
          <a:ln>
            <a:noFill/>
          </a:ln>
        </p:spPr>
        <p:txBody>
          <a:bodyPr/>
          <a:lstStyle/>
          <a:p>
            <a:endParaRPr/>
          </a:p>
        </p:txBody>
      </p:sp>
    </p:spTree>
    <p:extLst>
      <p:ext uri="{BB962C8B-B14F-4D97-AF65-F5344CB8AC3E}">
        <p14:creationId xmlns:p14="http://schemas.microsoft.com/office/powerpoint/2010/main" val="1165860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4E4D-F8A6-D1D3-48C1-F7DFC8331DF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60E502-5C8D-E6A1-CD5E-BABA5D5BAFBD}"/>
              </a:ext>
            </a:extLst>
          </p:cNvPr>
          <p:cNvSpPr txBox="1"/>
          <p:nvPr/>
        </p:nvSpPr>
        <p:spPr>
          <a:xfrm>
            <a:off x="3729755" y="2819400"/>
            <a:ext cx="4732513" cy="707886"/>
          </a:xfrm>
          <a:prstGeom prst="rect">
            <a:avLst/>
          </a:prstGeom>
          <a:noFill/>
        </p:spPr>
        <p:txBody>
          <a:bodyPr wrap="none" rtlCol="0">
            <a:spAutoFit/>
          </a:bodyPr>
          <a:lstStyle/>
          <a:p>
            <a:pPr algn="ctr">
              <a:buNone/>
            </a:pPr>
            <a:r>
              <a:rPr lang="en-US" sz="4000" b="1" dirty="0">
                <a:solidFill>
                  <a:srgbClr val="1F3A5F"/>
                </a:solidFill>
              </a:rPr>
              <a:t>Property based test</a:t>
            </a:r>
          </a:p>
        </p:txBody>
      </p:sp>
      <p:sp>
        <p:nvSpPr>
          <p:cNvPr id="50" name="accent">
            <a:extLst>
              <a:ext uri="{FF2B5EF4-FFF2-40B4-BE49-F238E27FC236}">
                <a16:creationId xmlns:a16="http://schemas.microsoft.com/office/drawing/2014/main" id="{A0865CED-DFC1-0A76-E085-15F6D80A464E}"/>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E7EAF681-E697-7D8D-968B-662C1D9421B8}"/>
              </a:ext>
            </a:extLst>
          </p:cNvPr>
          <p:cNvSpPr txBox="1"/>
          <p:nvPr/>
        </p:nvSpPr>
        <p:spPr>
          <a:xfrm>
            <a:off x="3729755" y="2485270"/>
            <a:ext cx="2506273" cy="334130"/>
          </a:xfrm>
          <a:prstGeom prst="rect">
            <a:avLst/>
          </a:prstGeom>
          <a:noFill/>
        </p:spPr>
        <p:txBody>
          <a:bodyPr wrap="square">
            <a:spAutoFit/>
          </a:bodyPr>
          <a:lstStyle/>
          <a:p>
            <a:pPr>
              <a:lnSpc>
                <a:spcPts val="1950"/>
              </a:lnSpc>
            </a:pPr>
            <a:r>
              <a:rPr lang="en-US" sz="1500" dirty="0">
                <a:solidFill>
                  <a:srgbClr val="1F3A5F"/>
                </a:solidFill>
                <a:latin typeface="Consolas"/>
              </a:rPr>
              <a:t>Side Note:</a:t>
            </a:r>
            <a:endParaRPr lang="en-US" sz="1500" dirty="0">
              <a:solidFill>
                <a:srgbClr val="A14B4B"/>
              </a:solidFill>
              <a:latin typeface="Consolas"/>
            </a:endParaRPr>
          </a:p>
        </p:txBody>
      </p:sp>
      <p:grpSp>
        <p:nvGrpSpPr>
          <p:cNvPr id="4" name="Group 3">
            <a:extLst>
              <a:ext uri="{FF2B5EF4-FFF2-40B4-BE49-F238E27FC236}">
                <a16:creationId xmlns:a16="http://schemas.microsoft.com/office/drawing/2014/main" id="{82B5B19C-9048-395B-9EBE-F5B6CDFAA5C0}"/>
              </a:ext>
            </a:extLst>
          </p:cNvPr>
          <p:cNvGrpSpPr/>
          <p:nvPr/>
        </p:nvGrpSpPr>
        <p:grpSpPr>
          <a:xfrm>
            <a:off x="6731537" y="2357735"/>
            <a:ext cx="1730731" cy="461665"/>
            <a:chOff x="3888023" y="2248422"/>
            <a:chExt cx="1730731" cy="461665"/>
          </a:xfrm>
        </p:grpSpPr>
        <p:sp>
          <p:nvSpPr>
            <p:cNvPr id="5" name="Rounded Rectangle 4">
              <a:extLst>
                <a:ext uri="{FF2B5EF4-FFF2-40B4-BE49-F238E27FC236}">
                  <a16:creationId xmlns:a16="http://schemas.microsoft.com/office/drawing/2014/main" id="{228771FF-37AB-6CA0-1041-8F751D8EA81E}"/>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A8F7B86-ECD5-BE39-B0DC-DF6E78D20B49}"/>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3399063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2AA45-806C-12C2-143B-4DD131F80FA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5643BE-94E8-40FA-628F-7B232EEE2978}"/>
              </a:ext>
            </a:extLst>
          </p:cNvPr>
          <p:cNvSpPr txBox="1"/>
          <p:nvPr/>
        </p:nvSpPr>
        <p:spPr>
          <a:xfrm>
            <a:off x="4067668" y="2819400"/>
            <a:ext cx="4056687" cy="707886"/>
          </a:xfrm>
          <a:prstGeom prst="rect">
            <a:avLst/>
          </a:prstGeom>
          <a:noFill/>
        </p:spPr>
        <p:txBody>
          <a:bodyPr wrap="none" rtlCol="0">
            <a:spAutoFit/>
          </a:bodyPr>
          <a:lstStyle/>
          <a:p>
            <a:pPr algn="ctr">
              <a:buNone/>
            </a:pPr>
            <a:r>
              <a:rPr lang="en-US" sz="4000" b="1" dirty="0">
                <a:solidFill>
                  <a:srgbClr val="1F3A5F"/>
                </a:solidFill>
              </a:rPr>
              <a:t>Steve's coverage</a:t>
            </a:r>
          </a:p>
        </p:txBody>
      </p:sp>
      <p:sp>
        <p:nvSpPr>
          <p:cNvPr id="50" name="accent">
            <a:extLst>
              <a:ext uri="{FF2B5EF4-FFF2-40B4-BE49-F238E27FC236}">
                <a16:creationId xmlns:a16="http://schemas.microsoft.com/office/drawing/2014/main" id="{E99827BA-36A9-62FB-ECB0-A5BD42E104AB}"/>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A86F4CEA-ED99-3CD7-7195-131AC1937CC2}"/>
              </a:ext>
            </a:extLst>
          </p:cNvPr>
          <p:cNvSpPr txBox="1"/>
          <p:nvPr/>
        </p:nvSpPr>
        <p:spPr>
          <a:xfrm>
            <a:off x="2553949" y="4156214"/>
            <a:ext cx="6097248" cy="323165"/>
          </a:xfrm>
          <a:prstGeom prst="rect">
            <a:avLst/>
          </a:prstGeom>
          <a:noFill/>
        </p:spPr>
        <p:txBody>
          <a:bodyPr wrap="square">
            <a:spAutoFit/>
          </a:bodyPr>
          <a:lstStyle/>
          <a:p>
            <a:r>
              <a:rPr lang="en-US" sz="1500" dirty="0" err="1">
                <a:solidFill>
                  <a:srgbClr val="1F3A5F"/>
                </a:solidFill>
                <a:latin typeface="Consolas"/>
              </a:rPr>
              <a:t>kuoman</a:t>
            </a:r>
            <a:r>
              <a:rPr lang="en-US" sz="1500" dirty="0">
                <a:solidFill>
                  <a:srgbClr val="1F3A5F"/>
                </a:solidFill>
                <a:latin typeface="Consolas"/>
              </a:rPr>
              <a:t>/skills/pinning-test-builder</a:t>
            </a:r>
          </a:p>
        </p:txBody>
      </p:sp>
    </p:spTree>
    <p:extLst>
      <p:ext uri="{BB962C8B-B14F-4D97-AF65-F5344CB8AC3E}">
        <p14:creationId xmlns:p14="http://schemas.microsoft.com/office/powerpoint/2010/main" val="30626174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0B4E-98BA-935D-EBE0-54C78E1407A9}"/>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41102D55-B78F-F8A5-F987-513D5574C781}"/>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336268A3-B2AD-58FE-FAC7-A8C7C0346AE0}"/>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F66C5813-F155-FC82-545A-0A3167D762A0}"/>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DDEB8C8C-B1FF-4DBF-5CB2-B0BBD7FD79BD}"/>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/pinning-test-builder </a:t>
            </a:r>
            <a:r>
              <a:rPr lang="en-US" sz="1500" dirty="0" err="1">
                <a:solidFill>
                  <a:srgbClr val="1F3A5F"/>
                </a:solidFill>
                <a:latin typeface="Consolas"/>
              </a:rPr>
              <a:t>CourseController.cs</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B1CA61E1-9F0A-6E89-D006-E4371F1416E7}"/>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3" name="Group 2">
            <a:extLst>
              <a:ext uri="{FF2B5EF4-FFF2-40B4-BE49-F238E27FC236}">
                <a16:creationId xmlns:a16="http://schemas.microsoft.com/office/drawing/2014/main" id="{B3886DBA-B80A-DB31-3ED1-2BDE5443A076}"/>
              </a:ext>
            </a:extLst>
          </p:cNvPr>
          <p:cNvGrpSpPr/>
          <p:nvPr/>
        </p:nvGrpSpPr>
        <p:grpSpPr>
          <a:xfrm>
            <a:off x="2288350" y="431800"/>
            <a:ext cx="918266" cy="461665"/>
            <a:chOff x="9249844" y="2055101"/>
            <a:chExt cx="918266" cy="461665"/>
          </a:xfrm>
        </p:grpSpPr>
        <p:sp>
          <p:nvSpPr>
            <p:cNvPr id="4" name="Rounded Rectangle 3">
              <a:extLst>
                <a:ext uri="{FF2B5EF4-FFF2-40B4-BE49-F238E27FC236}">
                  <a16:creationId xmlns:a16="http://schemas.microsoft.com/office/drawing/2014/main" id="{C1D458BD-EC61-5D54-C431-BF808CE92B1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177251C-97D4-66C1-1242-AA32C9514C8B}"/>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Tree>
    <p:extLst>
      <p:ext uri="{BB962C8B-B14F-4D97-AF65-F5344CB8AC3E}">
        <p14:creationId xmlns:p14="http://schemas.microsoft.com/office/powerpoint/2010/main" val="39414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1A051-7BDD-6DD2-1725-B0E38E0A7A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51144D-C324-8B50-25EC-74FCF14C8D25}"/>
              </a:ext>
            </a:extLst>
          </p:cNvPr>
          <p:cNvSpPr txBox="1"/>
          <p:nvPr/>
        </p:nvSpPr>
        <p:spPr>
          <a:xfrm>
            <a:off x="4282983" y="2819400"/>
            <a:ext cx="3626057" cy="707886"/>
          </a:xfrm>
          <a:prstGeom prst="rect">
            <a:avLst/>
          </a:prstGeom>
          <a:noFill/>
        </p:spPr>
        <p:txBody>
          <a:bodyPr wrap="none" rtlCol="0">
            <a:spAutoFit/>
          </a:bodyPr>
          <a:lstStyle/>
          <a:p>
            <a:pPr algn="ctr">
              <a:buNone/>
            </a:pPr>
            <a:r>
              <a:rPr lang="en-US" sz="4000" b="1" dirty="0">
                <a:solidFill>
                  <a:srgbClr val="1F3A5F"/>
                </a:solidFill>
              </a:rPr>
              <a:t>Static Analysis</a:t>
            </a:r>
          </a:p>
        </p:txBody>
      </p:sp>
      <p:sp>
        <p:nvSpPr>
          <p:cNvPr id="50" name="accent">
            <a:extLst>
              <a:ext uri="{FF2B5EF4-FFF2-40B4-BE49-F238E27FC236}">
                <a16:creationId xmlns:a16="http://schemas.microsoft.com/office/drawing/2014/main" id="{6EA16B63-ECA3-49C9-F937-225FBE087A6F}"/>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480555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749D6-7214-8738-9EE0-FB339E2CF6B8}"/>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9B1ECF1A-558D-F03D-75E8-2F7273A3595D}"/>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1E57FEF0-C2C1-BBA6-3729-C8E38146C173}"/>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34602F2D-5E53-0C89-70F9-C535D9A5B6D4}"/>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54E0673D-411E-CFE1-1564-97A736084D78}"/>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Read @</a:t>
            </a:r>
            <a:r>
              <a:rPr lang="en-US" sz="1500" dirty="0">
                <a:solidFill>
                  <a:srgbClr val="A14B4B"/>
                </a:solidFill>
                <a:latin typeface="Consolas"/>
              </a:rPr>
              <a:t>reduce-</a:t>
            </a:r>
            <a:r>
              <a:rPr lang="en-US" sz="1500" dirty="0" err="1">
                <a:solidFill>
                  <a:srgbClr val="A14B4B"/>
                </a:solidFill>
                <a:latin typeface="Consolas"/>
              </a:rPr>
              <a:t>complexity.process.md</a:t>
            </a:r>
            <a:r>
              <a:rPr lang="en-US" sz="1500" dirty="0">
                <a:solidFill>
                  <a:srgbClr val="1F3A5F"/>
                </a:solidFill>
                <a:latin typeface="Consolas"/>
              </a:rPr>
              <a:t> apply it to @</a:t>
            </a:r>
            <a:r>
              <a:rPr lang="en-US" sz="1500" dirty="0">
                <a:solidFill>
                  <a:srgbClr val="A14B4B"/>
                </a:solidFill>
                <a:latin typeface="Consolas"/>
              </a:rPr>
              <a:t>cyclomatic-</a:t>
            </a:r>
            <a:r>
              <a:rPr lang="en-US" sz="1500" dirty="0" err="1">
                <a:solidFill>
                  <a:srgbClr val="A14B4B"/>
                </a:solidFill>
                <a:latin typeface="Consolas"/>
              </a:rPr>
              <a:t>complexity.txt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946A4C89-A85F-68B0-08E6-AA39FE97BC6E}"/>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19" name="Group 18">
            <a:extLst>
              <a:ext uri="{FF2B5EF4-FFF2-40B4-BE49-F238E27FC236}">
                <a16:creationId xmlns:a16="http://schemas.microsoft.com/office/drawing/2014/main" id="{86BF5776-D787-4AA4-0D71-B211DCE1837D}"/>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6BE2EA89-910F-F7CE-54FE-4D5F3D1CDD1A}"/>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21F1980-2F34-FFD7-B48B-3B96AB798C08}"/>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91906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75FDC-D9BB-566A-67AE-A7EAB0939F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79F8FE-9C71-8CD4-925E-D10CA433FAE8}"/>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309F6E14-A11A-8933-E967-FCDEF8B857AE}"/>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6FACC7B6-416C-16CB-DD6D-60550CC20916}"/>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37E16D50-D700-6BC1-5B34-9F474A73AF44}"/>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57DA2113-5DE0-FD46-45C5-C21257C9585C}"/>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a:extLst>
              <a:ext uri="{FF2B5EF4-FFF2-40B4-BE49-F238E27FC236}">
                <a16:creationId xmlns:a16="http://schemas.microsoft.com/office/drawing/2014/main" id="{43CE29F5-E8F8-AA29-4B73-CEC78B227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a:extLst>
              <a:ext uri="{FF2B5EF4-FFF2-40B4-BE49-F238E27FC236}">
                <a16:creationId xmlns:a16="http://schemas.microsoft.com/office/drawing/2014/main" id="{64588670-8A35-AC2C-AE8E-02AE7B0739A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4A2B0671-5DA6-EF5A-9E29-FF66D767B194}"/>
              </a:ext>
            </a:extLst>
          </p:cNvPr>
          <p:cNvSpPr/>
          <p:nvPr/>
        </p:nvSpPr>
        <p:spPr>
          <a:xfrm>
            <a:off x="9402174" y="1242512"/>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5837994B-7D78-D823-5DA6-A219B9AA2F4B}"/>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3388901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1A15-4398-FA42-98F0-F0C383BB58F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DE208D3-D013-771F-9A7B-B24F9329093B}"/>
              </a:ext>
            </a:extLst>
          </p:cNvPr>
          <p:cNvSpPr/>
          <p:nvPr/>
        </p:nvSpPr>
        <p:spPr>
          <a:xfrm>
            <a:off x="561298" y="3480496"/>
            <a:ext cx="9144000" cy="546100"/>
          </a:xfrm>
          <a:prstGeom prst="rect">
            <a:avLst/>
          </a:prstGeom>
          <a:noFill/>
          <a:ln w="28575" cap="flat" cmpd="sng" algn="ctr">
            <a:solidFill>
              <a:schemeClr val="accent6">
                <a:lumMod val="75000"/>
              </a:schemeClr>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6" name="TextBox 5">
            <a:extLst>
              <a:ext uri="{FF2B5EF4-FFF2-40B4-BE49-F238E27FC236}">
                <a16:creationId xmlns:a16="http://schemas.microsoft.com/office/drawing/2014/main" id="{1CF604F2-D574-2B95-F26B-4810546CBDEA}"/>
              </a:ext>
            </a:extLst>
          </p:cNvPr>
          <p:cNvSpPr txBox="1"/>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904135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heel(1)">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10F72-6F95-85B9-72C2-2B90A1F59AAD}"/>
            </a:ext>
          </a:extLst>
        </p:cNvPr>
        <p:cNvGrpSpPr/>
        <p:nvPr/>
      </p:nvGrpSpPr>
      <p:grpSpPr>
        <a:xfrm>
          <a:off x="0" y="0"/>
          <a:ext cx="0" cy="0"/>
          <a:chOff x="0" y="0"/>
          <a:chExt cx="0" cy="0"/>
        </a:xfrm>
      </p:grpSpPr>
      <p:sp>
        <p:nvSpPr>
          <p:cNvPr id="6" name="EndCode">
            <a:extLst>
              <a:ext uri="{FF2B5EF4-FFF2-40B4-BE49-F238E27FC236}">
                <a16:creationId xmlns:a16="http://schemas.microsoft.com/office/drawing/2014/main" id="{FC15F58C-CAFB-A8E9-E8AC-9690803EFFC7}"/>
              </a:ext>
            </a:extLst>
          </p:cNvPr>
          <p:cNvSpPr txBox="1"/>
          <p:nvPr/>
        </p:nvSpPr>
        <p:spPr>
          <a:xfrm>
            <a:off x="508000" y="787400"/>
            <a:ext cx="11429304" cy="584775"/>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p:txBody>
      </p:sp>
      <p:sp>
        <p:nvSpPr>
          <p:cNvPr id="7" name="fade 1">
            <a:extLst>
              <a:ext uri="{FF2B5EF4-FFF2-40B4-BE49-F238E27FC236}">
                <a16:creationId xmlns:a16="http://schemas.microsoft.com/office/drawing/2014/main" id="{5801421E-ADE3-2F34-67AC-205EDB724F34}"/>
              </a:ext>
            </a:extLst>
          </p:cNvPr>
          <p:cNvSpPr/>
          <p:nvPr/>
        </p:nvSpPr>
        <p:spPr>
          <a:xfrm>
            <a:off x="508000" y="682518"/>
            <a:ext cx="8285271" cy="794537"/>
          </a:xfrm>
          <a:prstGeom prst="roundRect">
            <a:avLst>
              <a:gd name="adj" fmla="val 4000"/>
            </a:avLst>
          </a:prstGeom>
          <a:solidFill>
            <a:srgbClr val="F2F5F9">
              <a:alpha val="70196"/>
            </a:srgbClr>
          </a:solidFill>
          <a:ln>
            <a:noFill/>
          </a:ln>
        </p:spPr>
        <p:txBody>
          <a:bodyPr/>
          <a:lstStyle/>
          <a:p>
            <a:endParaRPr/>
          </a:p>
        </p:txBody>
      </p:sp>
      <p:sp>
        <p:nvSpPr>
          <p:cNvPr id="2" name="Empty">
            <a:extLst>
              <a:ext uri="{FF2B5EF4-FFF2-40B4-BE49-F238E27FC236}">
                <a16:creationId xmlns:a16="http://schemas.microsoft.com/office/drawing/2014/main" id="{CED04336-6528-5C71-FFEE-C920B7167D51}"/>
              </a:ext>
            </a:extLst>
          </p:cNvPr>
          <p:cNvSpPr txBox="1"/>
          <p:nvPr/>
        </p:nvSpPr>
        <p:spPr>
          <a:xfrm>
            <a:off x="508000" y="1641079"/>
            <a:ext cx="11429304" cy="338554"/>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dirty="0">
                <a:solidFill>
                  <a:srgbClr val="0000FF"/>
                </a:solidFill>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8" name="fade 2">
            <a:extLst>
              <a:ext uri="{FF2B5EF4-FFF2-40B4-BE49-F238E27FC236}">
                <a16:creationId xmlns:a16="http://schemas.microsoft.com/office/drawing/2014/main" id="{DF3E456C-F1D4-10FE-33DF-0E3579BD2B1F}"/>
              </a:ext>
            </a:extLst>
          </p:cNvPr>
          <p:cNvSpPr/>
          <p:nvPr/>
        </p:nvSpPr>
        <p:spPr>
          <a:xfrm>
            <a:off x="508000" y="1590976"/>
            <a:ext cx="8285271" cy="530908"/>
          </a:xfrm>
          <a:prstGeom prst="roundRect">
            <a:avLst>
              <a:gd name="adj" fmla="val 4000"/>
            </a:avLst>
          </a:prstGeom>
          <a:solidFill>
            <a:srgbClr val="F2F5F9">
              <a:alpha val="70196"/>
            </a:srgbClr>
          </a:solidFill>
          <a:ln>
            <a:noFill/>
          </a:ln>
        </p:spPr>
        <p:txBody>
          <a:bodyPr/>
          <a:lstStyle/>
          <a:p>
            <a:endParaRPr/>
          </a:p>
        </p:txBody>
      </p:sp>
      <p:sp>
        <p:nvSpPr>
          <p:cNvPr id="3" name="CreateNull">
            <a:extLst>
              <a:ext uri="{FF2B5EF4-FFF2-40B4-BE49-F238E27FC236}">
                <a16:creationId xmlns:a16="http://schemas.microsoft.com/office/drawing/2014/main" id="{0D3A6645-CF4F-9A9C-5B2E-A274214C9154}"/>
              </a:ext>
            </a:extLst>
          </p:cNvPr>
          <p:cNvSpPr txBox="1"/>
          <p:nvPr/>
        </p:nvSpPr>
        <p:spPr>
          <a:xfrm>
            <a:off x="508000" y="2390788"/>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225190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1" animBg="1"/>
      <p:bldP spid="2" grpId="0"/>
      <p:bldP spid="8" grpId="1" animBg="1"/>
      <p:bldP spid="3"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32C85-496C-58CF-4348-09F0DD7A94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0B7A1E-5A12-A91F-56B1-F10B202E07D7}"/>
              </a:ext>
            </a:extLst>
          </p:cNvPr>
          <p:cNvSpPr txBox="1"/>
          <p:nvPr/>
        </p:nvSpPr>
        <p:spPr>
          <a:xfrm>
            <a:off x="4460245" y="2819400"/>
            <a:ext cx="3271537" cy="707886"/>
          </a:xfrm>
          <a:prstGeom prst="rect">
            <a:avLst/>
          </a:prstGeom>
          <a:noFill/>
        </p:spPr>
        <p:txBody>
          <a:bodyPr wrap="none" rtlCol="0">
            <a:spAutoFit/>
          </a:bodyPr>
          <a:lstStyle/>
          <a:p>
            <a:pPr algn="ctr">
              <a:buNone/>
            </a:pPr>
            <a:r>
              <a:rPr lang="en-US" sz="4000" b="1" dirty="0">
                <a:solidFill>
                  <a:srgbClr val="1F3A5F"/>
                </a:solidFill>
              </a:rPr>
              <a:t>Constructors</a:t>
            </a:r>
          </a:p>
        </p:txBody>
      </p:sp>
      <p:sp>
        <p:nvSpPr>
          <p:cNvPr id="50" name="accent">
            <a:extLst>
              <a:ext uri="{FF2B5EF4-FFF2-40B4-BE49-F238E27FC236}">
                <a16:creationId xmlns:a16="http://schemas.microsoft.com/office/drawing/2014/main" id="{97D2A42E-4159-2B3B-4319-6FE73AC2989E}"/>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418158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9CF66-F309-5E4A-C558-C814E607293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E21B15-1BAF-49A7-334F-CF192132895E}"/>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7" name="TextBox 6">
            <a:extLst>
              <a:ext uri="{FF2B5EF4-FFF2-40B4-BE49-F238E27FC236}">
                <a16:creationId xmlns:a16="http://schemas.microsoft.com/office/drawing/2014/main" id="{CB8F5773-DCEE-1F0C-A6E3-A0120CD6E6C2}"/>
              </a:ext>
            </a:extLst>
          </p:cNvPr>
          <p:cNvSpPr txBox="1"/>
          <p:nvPr/>
        </p:nvSpPr>
        <p:spPr>
          <a:xfrm>
            <a:off x="632564" y="1778696"/>
            <a:ext cx="7647140" cy="3539430"/>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3253843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1C894-6FFC-9DDF-4D76-B63CE37235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ABAF6D-4F7A-20B3-B0AC-A9D905AA6352}"/>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5" name="TextBox 4">
            <a:extLst>
              <a:ext uri="{FF2B5EF4-FFF2-40B4-BE49-F238E27FC236}">
                <a16:creationId xmlns:a16="http://schemas.microsoft.com/office/drawing/2014/main" id="{2FA92737-A95B-2191-6797-A89DAFAB1B5D}"/>
              </a:ext>
            </a:extLst>
          </p:cNvPr>
          <p:cNvSpPr txBox="1"/>
          <p:nvPr/>
        </p:nvSpPr>
        <p:spPr>
          <a:xfrm>
            <a:off x="508000" y="1778696"/>
            <a:ext cx="9526043" cy="3539430"/>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CompanyManager.CreateNull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LanguageManager.CreateNull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dirty="0">
                <a:solidFill>
                  <a:srgbClr val="000000"/>
                </a:solidFill>
                <a:latin typeface="Fira Code" panose="020B0809050000020004" pitchFamily="49" charset="0"/>
                <a:ea typeface="Fira Code" panose="020B0809050000020004" pitchFamily="49" charset="0"/>
              </a:rPr>
              <a:t>    </a:t>
            </a:r>
            <a:r>
              <a:rPr lang="en-US" sz="1600" dirty="0" err="1">
                <a:solidFill>
                  <a:srgbClr val="000000"/>
                </a:solidFill>
                <a:latin typeface="Fira Code" panose="020B0809050000020004" pitchFamily="49" charset="0"/>
                <a:ea typeface="Fira Code" panose="020B0809050000020004" pitchFamily="49" charset="0"/>
              </a:rPr>
              <a:t>SurveyManager</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BlobStorageService.CreateNull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HubSpotService.CreateNull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NullOptions.Create</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PaymentAuditService.CreateNull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ConsoleLogger.CreateNull</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221133563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35502-D024-E53E-B077-1CB8D7CF91F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A9D1A1E-E75F-3F4F-52BF-A383EF8F8E2A}"/>
              </a:ext>
            </a:extLst>
          </p:cNvPr>
          <p:cNvSpPr txBox="1"/>
          <p:nvPr/>
        </p:nvSpPr>
        <p:spPr>
          <a:xfrm>
            <a:off x="234822" y="226512"/>
            <a:ext cx="3755836" cy="707886"/>
          </a:xfrm>
          <a:prstGeom prst="rect">
            <a:avLst/>
          </a:prstGeom>
          <a:noFill/>
        </p:spPr>
        <p:txBody>
          <a:bodyPr wrap="none" rtlCol="0">
            <a:spAutoFit/>
          </a:bodyPr>
          <a:lstStyle/>
          <a:p>
            <a:pPr algn="ctr">
              <a:buNone/>
            </a:pPr>
            <a:r>
              <a:rPr lang="en-US" sz="4000" b="1" dirty="0">
                <a:solidFill>
                  <a:srgbClr val="1F3A5F"/>
                </a:solidFill>
              </a:rPr>
              <a:t>17 Create Nulls</a:t>
            </a:r>
          </a:p>
        </p:txBody>
      </p:sp>
      <p:sp>
        <p:nvSpPr>
          <p:cNvPr id="50" name="accent">
            <a:extLst>
              <a:ext uri="{FF2B5EF4-FFF2-40B4-BE49-F238E27FC236}">
                <a16:creationId xmlns:a16="http://schemas.microsoft.com/office/drawing/2014/main" id="{8890F66E-B14D-A3C7-C2A6-B1E257E199AD}"/>
              </a:ext>
            </a:extLst>
          </p:cNvPr>
          <p:cNvSpPr/>
          <p:nvPr/>
        </p:nvSpPr>
        <p:spPr>
          <a:xfrm>
            <a:off x="1477723" y="1217112"/>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1C319D12-8091-1A1B-B56F-D3543EFFE80E}"/>
              </a:ext>
            </a:extLst>
          </p:cNvPr>
          <p:cNvSpPr txBox="1"/>
          <p:nvPr/>
        </p:nvSpPr>
        <p:spPr>
          <a:xfrm>
            <a:off x="5755710" y="1578682"/>
            <a:ext cx="6100174" cy="4708981"/>
          </a:xfrm>
          <a:prstGeom prst="rect">
            <a:avLst/>
          </a:prstGeom>
          <a:noFill/>
        </p:spPr>
        <p:txBody>
          <a:bodyPr wrap="square">
            <a:spAutoFit/>
          </a:bodyPr>
          <a:lstStyle/>
          <a:p>
            <a:pPr marL="0" marR="0">
              <a:buNone/>
            </a:pPr>
            <a:r>
              <a:rPr lang="en-US" sz="1200" dirty="0">
                <a:solidFill>
                  <a:srgbClr val="000000"/>
                </a:solidFill>
                <a:effectLst/>
                <a:latin typeface="Menlo" panose="020B0609030804020204" pitchFamily="49" charset="0"/>
              </a:rPr>
              <a:t>  </a:t>
            </a:r>
            <a:r>
              <a:rPr lang="en-US" sz="1200" dirty="0">
                <a:solidFill>
                  <a:srgbClr val="A14B4B"/>
                </a:solidFill>
                <a:effectLst/>
                <a:latin typeface="Menlo" panose="020B0609030804020204" pitchFamily="49" charset="0"/>
              </a:rPr>
              <a:t>MemberOrganizationController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CompanyManager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LanguageManager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SurveyManager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BlobStorageService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HubSpotService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&lt;HubSpotService&gt;</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QuickBooksService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QuickBooksTokenService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QuickBooksTokenManager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 </a:t>
            </a:r>
            <a:r>
              <a:rPr lang="en-US" sz="1200" dirty="0">
                <a:solidFill>
                  <a:srgbClr val="A14B4B"/>
                </a:solidFill>
                <a:effectLst/>
                <a:latin typeface="Menlo" panose="020B0609030804020204" pitchFamily="49" charset="0"/>
              </a:rPr>
              <a:t>QuickbooksTokenValue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&lt;QuickBooksTokenService&gt;</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QuickbooksApi</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Clock</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&lt;QuickBooksService&gt;</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QuickbooksHelperWrapper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PaymentAuditService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PaymentHistoryManager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&lt;PaymentAuditService&gt;</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&lt;MemberOrganizationController&gt;</a:t>
            </a:r>
          </a:p>
        </p:txBody>
      </p:sp>
    </p:spTree>
    <p:extLst>
      <p:ext uri="{BB962C8B-B14F-4D97-AF65-F5344CB8AC3E}">
        <p14:creationId xmlns:p14="http://schemas.microsoft.com/office/powerpoint/2010/main" val="11662545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7B35B-41AD-E63D-5C6A-8F2CB943AA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3424745-B9A3-5EB3-EB03-F991A300D4F8}"/>
              </a:ext>
            </a:extLst>
          </p:cNvPr>
          <p:cNvSpPr txBox="1"/>
          <p:nvPr/>
        </p:nvSpPr>
        <p:spPr>
          <a:xfrm>
            <a:off x="3683177" y="2819400"/>
            <a:ext cx="4825680" cy="707886"/>
          </a:xfrm>
          <a:prstGeom prst="rect">
            <a:avLst/>
          </a:prstGeom>
          <a:noFill/>
        </p:spPr>
        <p:txBody>
          <a:bodyPr wrap="none" rtlCol="0">
            <a:spAutoFit/>
          </a:bodyPr>
          <a:lstStyle/>
          <a:p>
            <a:pPr algn="ctr">
              <a:buNone/>
            </a:pPr>
            <a:r>
              <a:rPr lang="en-US" sz="4000" b="1" dirty="0">
                <a:solidFill>
                  <a:srgbClr val="1F3A5F"/>
                </a:solidFill>
              </a:rPr>
              <a:t>Constructor Pattern</a:t>
            </a:r>
          </a:p>
        </p:txBody>
      </p:sp>
      <p:sp>
        <p:nvSpPr>
          <p:cNvPr id="50" name="accent">
            <a:extLst>
              <a:ext uri="{FF2B5EF4-FFF2-40B4-BE49-F238E27FC236}">
                <a16:creationId xmlns:a16="http://schemas.microsoft.com/office/drawing/2014/main" id="{3CB18364-74CF-2FBE-47D7-842C1BC16CC4}"/>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D753C775-2284-F2B3-96D6-62DF5B02FE1A}"/>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84B5531D-08E1-4DD2-0908-A1A7C3C59BEB}"/>
              </a:ext>
            </a:extLst>
          </p:cNvPr>
          <p:cNvSpPr txBox="1"/>
          <p:nvPr/>
        </p:nvSpPr>
        <p:spPr>
          <a:xfrm>
            <a:off x="2468153" y="4353490"/>
            <a:ext cx="8340745" cy="461665"/>
          </a:xfrm>
          <a:prstGeom prst="rect">
            <a:avLst/>
          </a:prstGeom>
          <a:noFill/>
        </p:spPr>
        <p:txBody>
          <a:bodyPr wrap="none" rtlCol="0">
            <a:spAutoFit/>
          </a:bodyPr>
          <a:lstStyle/>
          <a:p>
            <a:pPr algn="l">
              <a:buNone/>
            </a:pPr>
            <a:r>
              <a:rPr lang="en-US" sz="2400" b="1" dirty="0">
                <a:solidFill>
                  <a:srgbClr val="1F3A5F"/>
                </a:solidFill>
                <a:latin typeface="Consolas"/>
              </a:rPr>
              <a:t>Call new() with a </a:t>
            </a:r>
            <a:r>
              <a:rPr lang="en-US" sz="2400" b="1" dirty="0" err="1">
                <a:solidFill>
                  <a:srgbClr val="1F3A5F"/>
                </a:solidFill>
                <a:latin typeface="Consolas"/>
              </a:rPr>
              <a:t>CreateNull</a:t>
            </a:r>
            <a:r>
              <a:rPr lang="en-US" sz="2400" b="1" dirty="0">
                <a:solidFill>
                  <a:srgbClr val="1F3A5F"/>
                </a:solidFill>
                <a:latin typeface="Consolas"/>
              </a:rPr>
              <a:t> for every parameter</a:t>
            </a:r>
          </a:p>
        </p:txBody>
      </p:sp>
    </p:spTree>
    <p:extLst>
      <p:ext uri="{BB962C8B-B14F-4D97-AF65-F5344CB8AC3E}">
        <p14:creationId xmlns:p14="http://schemas.microsoft.com/office/powerpoint/2010/main" val="33964505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6DB41-9966-DCA8-5C69-67C2D47F05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64C0D3A-ED29-E68A-C428-594005EE7264}"/>
              </a:ext>
            </a:extLst>
          </p:cNvPr>
          <p:cNvSpPr txBox="1"/>
          <p:nvPr/>
        </p:nvSpPr>
        <p:spPr>
          <a:xfrm>
            <a:off x="4812490" y="2819400"/>
            <a:ext cx="2567049" cy="707886"/>
          </a:xfrm>
          <a:prstGeom prst="rect">
            <a:avLst/>
          </a:prstGeom>
          <a:noFill/>
        </p:spPr>
        <p:txBody>
          <a:bodyPr wrap="none" rtlCol="0">
            <a:spAutoFit/>
          </a:bodyPr>
          <a:lstStyle/>
          <a:p>
            <a:pPr algn="ctr">
              <a:buNone/>
            </a:pPr>
            <a:r>
              <a:rPr lang="en-US" sz="4000" b="1" dirty="0">
                <a:solidFill>
                  <a:srgbClr val="1F3A5F"/>
                </a:solidFill>
              </a:rPr>
              <a:t>Interfaces</a:t>
            </a:r>
          </a:p>
        </p:txBody>
      </p:sp>
      <p:sp>
        <p:nvSpPr>
          <p:cNvPr id="50" name="accent">
            <a:extLst>
              <a:ext uri="{FF2B5EF4-FFF2-40B4-BE49-F238E27FC236}">
                <a16:creationId xmlns:a16="http://schemas.microsoft.com/office/drawing/2014/main" id="{B1124E6F-9BCC-E698-B744-6737EE4A4E13}"/>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0964011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651AA8B-4280-7DAA-4A17-86A80E8C6722}"/>
              </a:ext>
            </a:extLst>
          </p:cNvPr>
          <p:cNvSpPr txBox="1"/>
          <p:nvPr/>
        </p:nvSpPr>
        <p:spPr>
          <a:xfrm>
            <a:off x="657616" y="774427"/>
            <a:ext cx="10828751" cy="2654573"/>
          </a:xfrm>
          <a:prstGeom prst="rect">
            <a:avLst/>
          </a:prstGeom>
          <a:noFill/>
        </p:spPr>
        <p:txBody>
          <a:bodyPr wrap="square">
            <a:spAutoFit/>
          </a:bodyPr>
          <a:lstStyle/>
          <a:p>
            <a:pPr marL="0" indent="0">
              <a:lnSpc>
                <a:spcPts val="2000"/>
              </a:lnSpc>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class</a:t>
            </a:r>
            <a:r>
              <a:rPr lang="en-US" sz="1600" b="0" dirty="0">
                <a:solidFill>
                  <a:srgbClr val="000000"/>
                </a:solidFill>
                <a:effectLst/>
                <a:latin typeface="Fira Code" panose="020B0809050000020004" pitchFamily="49" charset="0"/>
                <a:ea typeface="Fira Code" panose="020B0809050000020004" pitchFamily="49" charset="0"/>
              </a:rPr>
              <a:t> ConsoleLogger&lt;T&gt; : ILogger&lt;T&gt;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IDisposable BeginScope&lt;TState&gt;(TState _) =&gt;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endParaRPr lang="en-US" sz="1600" b="0" dirty="0">
              <a:latin typeface="Fira Code" panose="020B0809050000020004" pitchFamily="49" charset="0"/>
            </a:endParaRP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bool</a:t>
            </a:r>
            <a:r>
              <a:rPr lang="en-US" sz="1600" b="0" dirty="0">
                <a:solidFill>
                  <a:srgbClr val="000000"/>
                </a:solidFill>
                <a:effectLst/>
                <a:latin typeface="Fira Code" panose="020B0809050000020004" pitchFamily="49" charset="0"/>
                <a:ea typeface="Fira Code" panose="020B0809050000020004" pitchFamily="49" charset="0"/>
              </a:rPr>
              <a:t> IsEnabled(LogLevel logLevel) =&gt; </a:t>
            </a:r>
            <a:r>
              <a:rPr lang="en-US" sz="1600" b="0" dirty="0">
                <a:solidFill>
                  <a:srgbClr val="0000FF"/>
                </a:solidFill>
                <a:effectLst/>
                <a:latin typeface="Fira Code" panose="020B0809050000020004" pitchFamily="49" charset="0"/>
                <a:ea typeface="Fira Code" panose="020B0809050000020004" pitchFamily="49" charset="0"/>
              </a:rPr>
              <a:t>true</a:t>
            </a: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endParaRPr lang="en-US" sz="1600" b="0" dirty="0">
              <a:latin typeface="Fira Code" panose="020B0809050000020004" pitchFamily="49" charset="0"/>
            </a:endParaRP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void</a:t>
            </a:r>
            <a:r>
              <a:rPr lang="en-US" sz="1600" b="0" dirty="0">
                <a:solidFill>
                  <a:srgbClr val="000000"/>
                </a:solidFill>
                <a:effectLst/>
                <a:latin typeface="Fira Code" panose="020B0809050000020004" pitchFamily="49" charset="0"/>
                <a:ea typeface="Fira Code" panose="020B0809050000020004" pitchFamily="49" charset="0"/>
              </a:rPr>
              <a:t> Log&lt;TState&gt;(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LogLevel logLevel, EventId eventId, TState state,</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Exception? exception, Func&lt;TState, Exception?, </a:t>
            </a:r>
            <a:r>
              <a:rPr lang="en-US" sz="1600" b="0" dirty="0">
                <a:solidFill>
                  <a:srgbClr val="0000FF"/>
                </a:solidFill>
                <a:effectLst/>
                <a:latin typeface="Fira Code" panose="020B0809050000020004" pitchFamily="49" charset="0"/>
                <a:ea typeface="Fira Code" panose="020B0809050000020004" pitchFamily="49" charset="0"/>
              </a:rPr>
              <a:t>string</a:t>
            </a:r>
            <a:r>
              <a:rPr lang="en-US" sz="1600" b="0" dirty="0">
                <a:solidFill>
                  <a:srgbClr val="000000"/>
                </a:solidFill>
                <a:effectLst/>
                <a:latin typeface="Fira Code" panose="020B0809050000020004" pitchFamily="49" charset="0"/>
                <a:ea typeface="Fira Code" panose="020B0809050000020004" pitchFamily="49" charset="0"/>
              </a:rPr>
              <a:t>&gt; formatter) {}</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4" name="TextBox 3">
            <a:extLst>
              <a:ext uri="{FF2B5EF4-FFF2-40B4-BE49-F238E27FC236}">
                <a16:creationId xmlns:a16="http://schemas.microsoft.com/office/drawing/2014/main" id="{930D8FCF-B976-3699-84E7-D1911586B444}"/>
              </a:ext>
            </a:extLst>
          </p:cNvPr>
          <p:cNvSpPr txBox="1"/>
          <p:nvPr/>
        </p:nvSpPr>
        <p:spPr>
          <a:xfrm>
            <a:off x="657616" y="3988515"/>
            <a:ext cx="8323546" cy="1815882"/>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class</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r>
              <a:rPr lang="en-US" sz="1600" b="0" dirty="0">
                <a:solidFill>
                  <a:srgbClr val="000000"/>
                </a:solidFill>
                <a:effectLst/>
                <a:latin typeface="Fira Code" panose="020B0809050000020004" pitchFamily="49" charset="0"/>
                <a:ea typeface="Fira Code" panose="020B0809050000020004" pitchFamily="49" charset="0"/>
              </a:rPr>
              <a:t>&lt;TYPE&gt;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&lt;TYPE&gt;()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r>
              <a:rPr lang="en-US" sz="1600" b="0" dirty="0">
                <a:solidFill>
                  <a:srgbClr val="000000"/>
                </a:solidFill>
                <a:effectLst/>
                <a:latin typeface="Fira Code" panose="020B0809050000020004" pitchFamily="49" charset="0"/>
                <a:ea typeface="Fira Code" panose="020B0809050000020004" pitchFamily="49" charset="0"/>
              </a:rPr>
              <a:t>&lt;TYPE&gt;();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57293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F2ECD-610E-7B9F-C483-8185EE03B16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4AB84EA-E015-E002-9180-C2017DB3705E}"/>
              </a:ext>
            </a:extLst>
          </p:cNvPr>
          <p:cNvSpPr txBox="1"/>
          <p:nvPr/>
        </p:nvSpPr>
        <p:spPr>
          <a:xfrm>
            <a:off x="4037923" y="2819400"/>
            <a:ext cx="4116191" cy="707886"/>
          </a:xfrm>
          <a:prstGeom prst="rect">
            <a:avLst/>
          </a:prstGeom>
          <a:noFill/>
        </p:spPr>
        <p:txBody>
          <a:bodyPr wrap="none" rtlCol="0">
            <a:spAutoFit/>
          </a:bodyPr>
          <a:lstStyle/>
          <a:p>
            <a:pPr algn="ctr">
              <a:buNone/>
            </a:pPr>
            <a:r>
              <a:rPr lang="en-US" sz="4000" b="1" dirty="0">
                <a:solidFill>
                  <a:srgbClr val="1F3A5F"/>
                </a:solidFill>
              </a:rPr>
              <a:t>Interface Pattern</a:t>
            </a:r>
          </a:p>
        </p:txBody>
      </p:sp>
      <p:sp>
        <p:nvSpPr>
          <p:cNvPr id="50" name="accent">
            <a:extLst>
              <a:ext uri="{FF2B5EF4-FFF2-40B4-BE49-F238E27FC236}">
                <a16:creationId xmlns:a16="http://schemas.microsoft.com/office/drawing/2014/main" id="{06E66276-2968-8C1D-12B1-EBFE083D9A79}"/>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D2845B7A-0454-E1EF-D39C-711193BB3FDC}"/>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D8BC8411-95D5-090F-A6AA-B4695B81E465}"/>
              </a:ext>
            </a:extLst>
          </p:cNvPr>
          <p:cNvSpPr txBox="1"/>
          <p:nvPr/>
        </p:nvSpPr>
        <p:spPr>
          <a:xfrm>
            <a:off x="1900898" y="4290860"/>
            <a:ext cx="8850500" cy="461665"/>
          </a:xfrm>
          <a:prstGeom prst="rect">
            <a:avLst/>
          </a:prstGeom>
          <a:noFill/>
        </p:spPr>
        <p:txBody>
          <a:bodyPr wrap="none" rtlCol="0">
            <a:spAutoFit/>
          </a:bodyPr>
          <a:lstStyle/>
          <a:p>
            <a:pPr algn="l">
              <a:buNone/>
            </a:pPr>
            <a:r>
              <a:rPr lang="en-US" sz="2400" b="1" dirty="0">
                <a:solidFill>
                  <a:srgbClr val="1F3A5F"/>
                </a:solidFill>
                <a:latin typeface="Consolas"/>
              </a:rPr>
              <a:t>Make </a:t>
            </a:r>
            <a:r>
              <a:rPr lang="en-US" sz="2400" b="1" dirty="0" err="1">
                <a:solidFill>
                  <a:srgbClr val="1F3A5F"/>
                </a:solidFill>
                <a:latin typeface="Consolas"/>
              </a:rPr>
              <a:t>NullInterface</a:t>
            </a:r>
            <a:r>
              <a:rPr lang="en-US" sz="2400" b="1" dirty="0">
                <a:solidFill>
                  <a:srgbClr val="1F3A5F"/>
                </a:solidFill>
                <a:latin typeface="Consolas"/>
              </a:rPr>
              <a:t> that returns reasonable defaults</a:t>
            </a:r>
          </a:p>
        </p:txBody>
      </p:sp>
    </p:spTree>
    <p:extLst>
      <p:ext uri="{BB962C8B-B14F-4D97-AF65-F5344CB8AC3E}">
        <p14:creationId xmlns:p14="http://schemas.microsoft.com/office/powerpoint/2010/main" val="19662297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2F0BD-D4A6-2984-D2E1-4A2F4A950D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078CBDD-DF4F-539F-6F01-1E65D5832348}"/>
              </a:ext>
            </a:extLst>
          </p:cNvPr>
          <p:cNvSpPr txBox="1"/>
          <p:nvPr/>
        </p:nvSpPr>
        <p:spPr>
          <a:xfrm>
            <a:off x="5023443" y="2819400"/>
            <a:ext cx="2145139" cy="707886"/>
          </a:xfrm>
          <a:prstGeom prst="rect">
            <a:avLst/>
          </a:prstGeom>
          <a:noFill/>
        </p:spPr>
        <p:txBody>
          <a:bodyPr wrap="none" rtlCol="0">
            <a:spAutoFit/>
          </a:bodyPr>
          <a:lstStyle/>
          <a:p>
            <a:pPr algn="ctr">
              <a:buNone/>
            </a:pPr>
            <a:r>
              <a:rPr lang="en-US" sz="4000" b="1" dirty="0">
                <a:solidFill>
                  <a:srgbClr val="1F3A5F"/>
                </a:solidFill>
              </a:rPr>
              <a:t>Splitting</a:t>
            </a:r>
          </a:p>
        </p:txBody>
      </p:sp>
      <p:sp>
        <p:nvSpPr>
          <p:cNvPr id="50" name="accent">
            <a:extLst>
              <a:ext uri="{FF2B5EF4-FFF2-40B4-BE49-F238E27FC236}">
                <a16:creationId xmlns:a16="http://schemas.microsoft.com/office/drawing/2014/main" id="{F1615962-7094-ED40-DAF1-658DD26DA2E8}"/>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11263493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w">
            <a:extLst>
              <a:ext uri="{FF2B5EF4-FFF2-40B4-BE49-F238E27FC236}">
                <a16:creationId xmlns:a16="http://schemas.microsoft.com/office/drawing/2014/main" id="{60FD21E2-E52F-2D77-B559-1DFDD15F8F61}"/>
              </a:ext>
            </a:extLst>
          </p:cNvPr>
          <p:cNvSpPr/>
          <p:nvPr/>
        </p:nvSpPr>
        <p:spPr>
          <a:xfrm>
            <a:off x="673100" y="1524000"/>
            <a:ext cx="3175000" cy="4318000"/>
          </a:xfrm>
          <a:prstGeom prst="roundRect">
            <a:avLst>
              <a:gd name="adj" fmla="val 8000"/>
            </a:avLst>
          </a:prstGeom>
          <a:solidFill>
            <a:srgbClr val="415A77"/>
          </a:solidFill>
          <a:ln>
            <a:noFill/>
          </a:ln>
        </p:spPr>
        <p:txBody>
          <a:bodyPr lIns="0" rIns="0" anchor="ctr" anchorCtr="0"/>
          <a:lstStyle/>
          <a:p>
            <a:pPr algn="ctr">
              <a:buNone/>
            </a:pPr>
            <a:endParaRPr lang="en-US" sz="2000" b="1" dirty="0">
              <a:solidFill>
                <a:srgbClr val="FFFFFF"/>
              </a:solidFill>
            </a:endParaRPr>
          </a:p>
        </p:txBody>
      </p:sp>
      <p:sp>
        <p:nvSpPr>
          <p:cNvPr id="4" name="sw">
            <a:extLst>
              <a:ext uri="{FF2B5EF4-FFF2-40B4-BE49-F238E27FC236}">
                <a16:creationId xmlns:a16="http://schemas.microsoft.com/office/drawing/2014/main" id="{C707C7C6-6530-C66C-351F-EEF38F09FE72}"/>
              </a:ext>
            </a:extLst>
          </p:cNvPr>
          <p:cNvSpPr/>
          <p:nvPr/>
        </p:nvSpPr>
        <p:spPr>
          <a:xfrm>
            <a:off x="8343900" y="1524000"/>
            <a:ext cx="3175000" cy="2032000"/>
          </a:xfrm>
          <a:prstGeom prst="roundRect">
            <a:avLst>
              <a:gd name="adj" fmla="val 8000"/>
            </a:avLst>
          </a:prstGeom>
          <a:solidFill>
            <a:srgbClr val="415A77"/>
          </a:solidFill>
          <a:ln>
            <a:noFill/>
          </a:ln>
        </p:spPr>
        <p:txBody>
          <a:bodyPr lIns="0" rIns="0" anchor="ctr" anchorCtr="0"/>
          <a:lstStyle/>
          <a:p>
            <a:pPr algn="ctr">
              <a:buNone/>
            </a:pPr>
            <a:endParaRPr lang="en-US" sz="2000" b="1" dirty="0">
              <a:solidFill>
                <a:srgbClr val="FFFFFF"/>
              </a:solidFill>
            </a:endParaRPr>
          </a:p>
        </p:txBody>
      </p:sp>
      <p:sp>
        <p:nvSpPr>
          <p:cNvPr id="5" name="sw">
            <a:extLst>
              <a:ext uri="{FF2B5EF4-FFF2-40B4-BE49-F238E27FC236}">
                <a16:creationId xmlns:a16="http://schemas.microsoft.com/office/drawing/2014/main" id="{C6921BBE-7E7D-A48B-DE97-B3C73D84CC06}"/>
              </a:ext>
            </a:extLst>
          </p:cNvPr>
          <p:cNvSpPr/>
          <p:nvPr/>
        </p:nvSpPr>
        <p:spPr>
          <a:xfrm>
            <a:off x="1054100" y="2159000"/>
            <a:ext cx="1623554" cy="76200"/>
          </a:xfrm>
          <a:prstGeom prst="roundRect">
            <a:avLst>
              <a:gd name="adj" fmla="val 8000"/>
            </a:avLst>
          </a:prstGeom>
          <a:solidFill>
            <a:srgbClr val="A14B4B"/>
          </a:solidFill>
          <a:ln>
            <a:solidFill>
              <a:srgbClr val="A14B4B"/>
            </a:solidFill>
          </a:ln>
        </p:spPr>
        <p:txBody>
          <a:bodyPr lIns="0" rIns="0" anchor="ctr" anchorCtr="0"/>
          <a:lstStyle/>
          <a:p>
            <a:pPr algn="ctr">
              <a:buNone/>
            </a:pPr>
            <a:endParaRPr lang="en-US" sz="1800" b="1" dirty="0">
              <a:solidFill>
                <a:srgbClr val="FFFFFF"/>
              </a:solidFill>
            </a:endParaRPr>
          </a:p>
        </p:txBody>
      </p:sp>
      <p:sp>
        <p:nvSpPr>
          <p:cNvPr id="6" name="sw">
            <a:extLst>
              <a:ext uri="{FF2B5EF4-FFF2-40B4-BE49-F238E27FC236}">
                <a16:creationId xmlns:a16="http://schemas.microsoft.com/office/drawing/2014/main" id="{1DEC27BF-DC97-3EF4-C703-4A88BF72A38D}"/>
              </a:ext>
            </a:extLst>
          </p:cNvPr>
          <p:cNvSpPr/>
          <p:nvPr/>
        </p:nvSpPr>
        <p:spPr>
          <a:xfrm>
            <a:off x="4508500" y="1524000"/>
            <a:ext cx="3175000" cy="4318000"/>
          </a:xfrm>
          <a:prstGeom prst="roundRect">
            <a:avLst>
              <a:gd name="adj" fmla="val 8000"/>
            </a:avLst>
          </a:prstGeom>
          <a:solidFill>
            <a:srgbClr val="415A77"/>
          </a:solidFill>
          <a:ln>
            <a:noFill/>
          </a:ln>
        </p:spPr>
        <p:txBody>
          <a:bodyPr lIns="0" rIns="0" anchor="ctr" anchorCtr="0"/>
          <a:lstStyle/>
          <a:p>
            <a:pPr algn="ctr">
              <a:buNone/>
            </a:pPr>
            <a:endParaRPr lang="en-US" sz="2000" b="1" dirty="0">
              <a:solidFill>
                <a:srgbClr val="FFFFFF"/>
              </a:solidFill>
            </a:endParaRPr>
          </a:p>
        </p:txBody>
      </p:sp>
      <p:sp>
        <p:nvSpPr>
          <p:cNvPr id="200" name="lbl"/>
          <p:cNvSpPr txBox="1"/>
          <p:nvPr/>
        </p:nvSpPr>
        <p:spPr>
          <a:xfrm>
            <a:off x="673697" y="495300"/>
            <a:ext cx="10845800" cy="723900"/>
          </a:xfrm>
          <a:prstGeom prst="rect">
            <a:avLst/>
          </a:prstGeom>
          <a:noFill/>
        </p:spPr>
        <p:txBody>
          <a:bodyPr lIns="0" tIns="0" rIns="0" bIns="0" anchor="ctr"/>
          <a:lstStyle/>
          <a:p>
            <a:pPr algn="l">
              <a:buNone/>
            </a:pPr>
            <a:r>
              <a:rPr lang="en-US" sz="2400" b="1" dirty="0">
                <a:solidFill>
                  <a:srgbClr val="1F3A5F"/>
                </a:solidFill>
              </a:rPr>
              <a:t>Database Calls: </a:t>
            </a:r>
            <a:br>
              <a:rPr lang="en-US" sz="2400" b="1" dirty="0">
                <a:solidFill>
                  <a:srgbClr val="1F3A5F"/>
                </a:solidFill>
              </a:rPr>
            </a:br>
            <a:r>
              <a:rPr lang="en-US" sz="2400" b="1" dirty="0">
                <a:solidFill>
                  <a:srgbClr val="1F3A5F"/>
                </a:solidFill>
              </a:rPr>
              <a:t>scattered → encapsulated → extracted</a:t>
            </a:r>
          </a:p>
        </p:txBody>
      </p:sp>
      <p:sp>
        <p:nvSpPr>
          <p:cNvPr id="201" name="bar"/>
          <p:cNvSpPr/>
          <p:nvPr/>
        </p:nvSpPr>
        <p:spPr>
          <a:xfrm>
            <a:off x="876300" y="1727200"/>
            <a:ext cx="2159000" cy="76200"/>
          </a:xfrm>
          <a:prstGeom prst="roundRect">
            <a:avLst>
              <a:gd name="adj" fmla="val 30000"/>
            </a:avLst>
          </a:prstGeom>
          <a:solidFill>
            <a:srgbClr val="DCE3EC"/>
          </a:solidFill>
          <a:ln>
            <a:noFill/>
          </a:ln>
        </p:spPr>
        <p:txBody>
          <a:bodyPr/>
          <a:lstStyle/>
          <a:p>
            <a:endParaRPr lang="en-US" sz="1050"/>
          </a:p>
        </p:txBody>
      </p:sp>
      <p:sp>
        <p:nvSpPr>
          <p:cNvPr id="202" name="bar"/>
          <p:cNvSpPr/>
          <p:nvPr/>
        </p:nvSpPr>
        <p:spPr>
          <a:xfrm>
            <a:off x="876300" y="1943100"/>
            <a:ext cx="1778000" cy="76200"/>
          </a:xfrm>
          <a:prstGeom prst="roundRect">
            <a:avLst>
              <a:gd name="adj" fmla="val 30000"/>
            </a:avLst>
          </a:prstGeom>
          <a:solidFill>
            <a:srgbClr val="DCE3EC"/>
          </a:solidFill>
          <a:ln>
            <a:noFill/>
          </a:ln>
        </p:spPr>
        <p:txBody>
          <a:bodyPr/>
          <a:lstStyle/>
          <a:p>
            <a:endParaRPr lang="en-US" sz="1050"/>
          </a:p>
        </p:txBody>
      </p:sp>
      <p:sp>
        <p:nvSpPr>
          <p:cNvPr id="203" name="bar"/>
          <p:cNvSpPr/>
          <p:nvPr/>
        </p:nvSpPr>
        <p:spPr>
          <a:xfrm>
            <a:off x="876300" y="2374900"/>
            <a:ext cx="2413000" cy="76200"/>
          </a:xfrm>
          <a:prstGeom prst="roundRect">
            <a:avLst>
              <a:gd name="adj" fmla="val 30000"/>
            </a:avLst>
          </a:prstGeom>
          <a:solidFill>
            <a:srgbClr val="DCE3EC"/>
          </a:solidFill>
          <a:ln>
            <a:noFill/>
          </a:ln>
        </p:spPr>
        <p:txBody>
          <a:bodyPr/>
          <a:lstStyle/>
          <a:p>
            <a:endParaRPr lang="en-US" sz="1050"/>
          </a:p>
        </p:txBody>
      </p:sp>
      <p:sp>
        <p:nvSpPr>
          <p:cNvPr id="204" name="bar"/>
          <p:cNvSpPr/>
          <p:nvPr/>
        </p:nvSpPr>
        <p:spPr>
          <a:xfrm>
            <a:off x="1054100" y="2590800"/>
            <a:ext cx="1397000" cy="76200"/>
          </a:xfrm>
          <a:prstGeom prst="roundRect">
            <a:avLst>
              <a:gd name="adj" fmla="val 30000"/>
            </a:avLst>
          </a:prstGeom>
          <a:solidFill>
            <a:srgbClr val="A14B4B"/>
          </a:solidFill>
          <a:ln>
            <a:noFill/>
          </a:ln>
        </p:spPr>
        <p:txBody>
          <a:bodyPr/>
          <a:lstStyle/>
          <a:p>
            <a:endParaRPr lang="en-US" sz="1050"/>
          </a:p>
        </p:txBody>
      </p:sp>
      <p:sp>
        <p:nvSpPr>
          <p:cNvPr id="205" name="bar"/>
          <p:cNvSpPr/>
          <p:nvPr/>
        </p:nvSpPr>
        <p:spPr>
          <a:xfrm>
            <a:off x="876300" y="2806700"/>
            <a:ext cx="1905000" cy="76200"/>
          </a:xfrm>
          <a:prstGeom prst="roundRect">
            <a:avLst>
              <a:gd name="adj" fmla="val 30000"/>
            </a:avLst>
          </a:prstGeom>
          <a:solidFill>
            <a:srgbClr val="DCE3EC"/>
          </a:solidFill>
          <a:ln>
            <a:noFill/>
          </a:ln>
        </p:spPr>
        <p:txBody>
          <a:bodyPr/>
          <a:lstStyle/>
          <a:p>
            <a:endParaRPr lang="en-US" sz="1050"/>
          </a:p>
        </p:txBody>
      </p:sp>
      <p:sp>
        <p:nvSpPr>
          <p:cNvPr id="206" name="bar"/>
          <p:cNvSpPr/>
          <p:nvPr/>
        </p:nvSpPr>
        <p:spPr>
          <a:xfrm>
            <a:off x="876300" y="3022600"/>
            <a:ext cx="2222500" cy="76200"/>
          </a:xfrm>
          <a:prstGeom prst="roundRect">
            <a:avLst>
              <a:gd name="adj" fmla="val 30000"/>
            </a:avLst>
          </a:prstGeom>
          <a:solidFill>
            <a:srgbClr val="DCE3EC"/>
          </a:solidFill>
          <a:ln>
            <a:noFill/>
          </a:ln>
        </p:spPr>
        <p:txBody>
          <a:bodyPr/>
          <a:lstStyle/>
          <a:p>
            <a:endParaRPr lang="en-US" sz="1050"/>
          </a:p>
        </p:txBody>
      </p:sp>
      <p:sp>
        <p:nvSpPr>
          <p:cNvPr id="207" name="bar"/>
          <p:cNvSpPr/>
          <p:nvPr/>
        </p:nvSpPr>
        <p:spPr>
          <a:xfrm>
            <a:off x="1054100" y="3238500"/>
            <a:ext cx="1587500" cy="76200"/>
          </a:xfrm>
          <a:prstGeom prst="roundRect">
            <a:avLst>
              <a:gd name="adj" fmla="val 30000"/>
            </a:avLst>
          </a:prstGeom>
          <a:solidFill>
            <a:srgbClr val="A14B4B"/>
          </a:solidFill>
          <a:ln>
            <a:noFill/>
          </a:ln>
        </p:spPr>
        <p:txBody>
          <a:bodyPr/>
          <a:lstStyle/>
          <a:p>
            <a:endParaRPr lang="en-US" sz="1050"/>
          </a:p>
        </p:txBody>
      </p:sp>
      <p:sp>
        <p:nvSpPr>
          <p:cNvPr id="208" name="bar"/>
          <p:cNvSpPr/>
          <p:nvPr/>
        </p:nvSpPr>
        <p:spPr>
          <a:xfrm>
            <a:off x="1054100" y="3454400"/>
            <a:ext cx="1460500" cy="76200"/>
          </a:xfrm>
          <a:prstGeom prst="roundRect">
            <a:avLst>
              <a:gd name="adj" fmla="val 30000"/>
            </a:avLst>
          </a:prstGeom>
          <a:solidFill>
            <a:srgbClr val="A14B4B"/>
          </a:solidFill>
          <a:ln>
            <a:noFill/>
          </a:ln>
        </p:spPr>
        <p:txBody>
          <a:bodyPr/>
          <a:lstStyle/>
          <a:p>
            <a:endParaRPr lang="en-US" sz="1050"/>
          </a:p>
        </p:txBody>
      </p:sp>
      <p:sp>
        <p:nvSpPr>
          <p:cNvPr id="209" name="bar"/>
          <p:cNvSpPr/>
          <p:nvPr/>
        </p:nvSpPr>
        <p:spPr>
          <a:xfrm>
            <a:off x="876300" y="3670300"/>
            <a:ext cx="2032000" cy="76200"/>
          </a:xfrm>
          <a:prstGeom prst="roundRect">
            <a:avLst>
              <a:gd name="adj" fmla="val 30000"/>
            </a:avLst>
          </a:prstGeom>
          <a:solidFill>
            <a:srgbClr val="DCE3EC"/>
          </a:solidFill>
          <a:ln>
            <a:noFill/>
          </a:ln>
        </p:spPr>
        <p:txBody>
          <a:bodyPr/>
          <a:lstStyle/>
          <a:p>
            <a:endParaRPr lang="en-US" sz="1050"/>
          </a:p>
        </p:txBody>
      </p:sp>
      <p:sp>
        <p:nvSpPr>
          <p:cNvPr id="210" name="bar"/>
          <p:cNvSpPr/>
          <p:nvPr/>
        </p:nvSpPr>
        <p:spPr>
          <a:xfrm>
            <a:off x="876300" y="3886200"/>
            <a:ext cx="1841500" cy="76200"/>
          </a:xfrm>
          <a:prstGeom prst="roundRect">
            <a:avLst>
              <a:gd name="adj" fmla="val 30000"/>
            </a:avLst>
          </a:prstGeom>
          <a:solidFill>
            <a:srgbClr val="DCE3EC"/>
          </a:solidFill>
          <a:ln>
            <a:noFill/>
          </a:ln>
        </p:spPr>
        <p:txBody>
          <a:bodyPr/>
          <a:lstStyle/>
          <a:p>
            <a:endParaRPr lang="en-US" sz="1050"/>
          </a:p>
        </p:txBody>
      </p:sp>
      <p:sp>
        <p:nvSpPr>
          <p:cNvPr id="211" name="bar"/>
          <p:cNvSpPr/>
          <p:nvPr/>
        </p:nvSpPr>
        <p:spPr>
          <a:xfrm>
            <a:off x="1054100" y="4102100"/>
            <a:ext cx="1651000" cy="76200"/>
          </a:xfrm>
          <a:prstGeom prst="roundRect">
            <a:avLst>
              <a:gd name="adj" fmla="val 30000"/>
            </a:avLst>
          </a:prstGeom>
          <a:solidFill>
            <a:srgbClr val="A14B4B"/>
          </a:solidFill>
          <a:ln>
            <a:noFill/>
          </a:ln>
        </p:spPr>
        <p:txBody>
          <a:bodyPr/>
          <a:lstStyle/>
          <a:p>
            <a:endParaRPr lang="en-US" sz="1050"/>
          </a:p>
        </p:txBody>
      </p:sp>
      <p:sp>
        <p:nvSpPr>
          <p:cNvPr id="212" name="bar"/>
          <p:cNvSpPr/>
          <p:nvPr/>
        </p:nvSpPr>
        <p:spPr>
          <a:xfrm>
            <a:off x="876300" y="4318000"/>
            <a:ext cx="2349500" cy="76200"/>
          </a:xfrm>
          <a:prstGeom prst="roundRect">
            <a:avLst>
              <a:gd name="adj" fmla="val 30000"/>
            </a:avLst>
          </a:prstGeom>
          <a:solidFill>
            <a:srgbClr val="DCE3EC"/>
          </a:solidFill>
          <a:ln>
            <a:noFill/>
          </a:ln>
        </p:spPr>
        <p:txBody>
          <a:bodyPr/>
          <a:lstStyle/>
          <a:p>
            <a:endParaRPr lang="en-US" sz="1050"/>
          </a:p>
        </p:txBody>
      </p:sp>
      <p:sp>
        <p:nvSpPr>
          <p:cNvPr id="213" name="bar"/>
          <p:cNvSpPr/>
          <p:nvPr/>
        </p:nvSpPr>
        <p:spPr>
          <a:xfrm>
            <a:off x="876300" y="4533900"/>
            <a:ext cx="1968500" cy="76200"/>
          </a:xfrm>
          <a:prstGeom prst="roundRect">
            <a:avLst>
              <a:gd name="adj" fmla="val 30000"/>
            </a:avLst>
          </a:prstGeom>
          <a:solidFill>
            <a:srgbClr val="DCE3EC"/>
          </a:solidFill>
          <a:ln>
            <a:noFill/>
          </a:ln>
        </p:spPr>
        <p:txBody>
          <a:bodyPr/>
          <a:lstStyle/>
          <a:p>
            <a:endParaRPr lang="en-US" sz="1050"/>
          </a:p>
        </p:txBody>
      </p:sp>
      <p:sp>
        <p:nvSpPr>
          <p:cNvPr id="214" name="bar"/>
          <p:cNvSpPr/>
          <p:nvPr/>
        </p:nvSpPr>
        <p:spPr>
          <a:xfrm>
            <a:off x="1054100" y="4749800"/>
            <a:ext cx="1524000" cy="76200"/>
          </a:xfrm>
          <a:prstGeom prst="roundRect">
            <a:avLst>
              <a:gd name="adj" fmla="val 30000"/>
            </a:avLst>
          </a:prstGeom>
          <a:solidFill>
            <a:srgbClr val="A14B4B"/>
          </a:solidFill>
          <a:ln>
            <a:noFill/>
          </a:ln>
        </p:spPr>
        <p:txBody>
          <a:bodyPr/>
          <a:lstStyle/>
          <a:p>
            <a:endParaRPr lang="en-US" sz="1050"/>
          </a:p>
        </p:txBody>
      </p:sp>
      <p:sp>
        <p:nvSpPr>
          <p:cNvPr id="215" name="bar"/>
          <p:cNvSpPr/>
          <p:nvPr/>
        </p:nvSpPr>
        <p:spPr>
          <a:xfrm>
            <a:off x="876300" y="4965700"/>
            <a:ext cx="2095500" cy="76200"/>
          </a:xfrm>
          <a:prstGeom prst="roundRect">
            <a:avLst>
              <a:gd name="adj" fmla="val 30000"/>
            </a:avLst>
          </a:prstGeom>
          <a:solidFill>
            <a:srgbClr val="DCE3EC"/>
          </a:solidFill>
          <a:ln>
            <a:noFill/>
          </a:ln>
        </p:spPr>
        <p:txBody>
          <a:bodyPr/>
          <a:lstStyle/>
          <a:p>
            <a:endParaRPr lang="en-US" sz="1050"/>
          </a:p>
        </p:txBody>
      </p:sp>
      <p:sp>
        <p:nvSpPr>
          <p:cNvPr id="216" name="bar"/>
          <p:cNvSpPr/>
          <p:nvPr/>
        </p:nvSpPr>
        <p:spPr>
          <a:xfrm>
            <a:off x="876300" y="5181600"/>
            <a:ext cx="1778000" cy="76200"/>
          </a:xfrm>
          <a:prstGeom prst="roundRect">
            <a:avLst>
              <a:gd name="adj" fmla="val 30000"/>
            </a:avLst>
          </a:prstGeom>
          <a:solidFill>
            <a:srgbClr val="DCE3EC"/>
          </a:solidFill>
          <a:ln>
            <a:noFill/>
          </a:ln>
        </p:spPr>
        <p:txBody>
          <a:bodyPr/>
          <a:lstStyle/>
          <a:p>
            <a:endParaRPr lang="en-US" sz="1050"/>
          </a:p>
        </p:txBody>
      </p:sp>
      <p:sp>
        <p:nvSpPr>
          <p:cNvPr id="217" name="bar"/>
          <p:cNvSpPr/>
          <p:nvPr/>
        </p:nvSpPr>
        <p:spPr>
          <a:xfrm>
            <a:off x="876300" y="5397500"/>
            <a:ext cx="1270000" cy="76200"/>
          </a:xfrm>
          <a:prstGeom prst="roundRect">
            <a:avLst>
              <a:gd name="adj" fmla="val 30000"/>
            </a:avLst>
          </a:prstGeom>
          <a:solidFill>
            <a:srgbClr val="DCE3EC"/>
          </a:solidFill>
          <a:ln>
            <a:noFill/>
          </a:ln>
        </p:spPr>
        <p:txBody>
          <a:bodyPr/>
          <a:lstStyle/>
          <a:p>
            <a:endParaRPr lang="en-US" sz="1050"/>
          </a:p>
        </p:txBody>
      </p:sp>
      <p:sp>
        <p:nvSpPr>
          <p:cNvPr id="218" name="bar"/>
          <p:cNvSpPr/>
          <p:nvPr/>
        </p:nvSpPr>
        <p:spPr>
          <a:xfrm>
            <a:off x="4711700" y="1727200"/>
            <a:ext cx="2159000" cy="76200"/>
          </a:xfrm>
          <a:prstGeom prst="roundRect">
            <a:avLst>
              <a:gd name="adj" fmla="val 30000"/>
            </a:avLst>
          </a:prstGeom>
          <a:solidFill>
            <a:srgbClr val="DCE3EC"/>
          </a:solidFill>
          <a:ln>
            <a:noFill/>
          </a:ln>
        </p:spPr>
        <p:txBody>
          <a:bodyPr/>
          <a:lstStyle/>
          <a:p>
            <a:endParaRPr lang="en-US" sz="1050"/>
          </a:p>
        </p:txBody>
      </p:sp>
      <p:sp>
        <p:nvSpPr>
          <p:cNvPr id="219" name="bar"/>
          <p:cNvSpPr/>
          <p:nvPr/>
        </p:nvSpPr>
        <p:spPr>
          <a:xfrm>
            <a:off x="4711700" y="1943100"/>
            <a:ext cx="1778000" cy="76200"/>
          </a:xfrm>
          <a:prstGeom prst="roundRect">
            <a:avLst>
              <a:gd name="adj" fmla="val 30000"/>
            </a:avLst>
          </a:prstGeom>
          <a:solidFill>
            <a:srgbClr val="DCE3EC"/>
          </a:solidFill>
          <a:ln>
            <a:noFill/>
          </a:ln>
        </p:spPr>
        <p:txBody>
          <a:bodyPr/>
          <a:lstStyle/>
          <a:p>
            <a:endParaRPr lang="en-US" sz="1050"/>
          </a:p>
        </p:txBody>
      </p:sp>
      <p:sp>
        <p:nvSpPr>
          <p:cNvPr id="220" name="bar"/>
          <p:cNvSpPr/>
          <p:nvPr/>
        </p:nvSpPr>
        <p:spPr>
          <a:xfrm>
            <a:off x="4889500" y="2159000"/>
            <a:ext cx="1333500" cy="76200"/>
          </a:xfrm>
          <a:prstGeom prst="roundRect">
            <a:avLst>
              <a:gd name="adj" fmla="val 30000"/>
            </a:avLst>
          </a:prstGeom>
          <a:solidFill>
            <a:srgbClr val="DCE3EC"/>
          </a:solidFill>
          <a:ln>
            <a:noFill/>
          </a:ln>
        </p:spPr>
        <p:txBody>
          <a:bodyPr/>
          <a:lstStyle/>
          <a:p>
            <a:endParaRPr lang="en-US" sz="1050"/>
          </a:p>
        </p:txBody>
      </p:sp>
      <p:sp>
        <p:nvSpPr>
          <p:cNvPr id="221" name="bar"/>
          <p:cNvSpPr/>
          <p:nvPr/>
        </p:nvSpPr>
        <p:spPr>
          <a:xfrm>
            <a:off x="4711700" y="2374900"/>
            <a:ext cx="2413000" cy="76200"/>
          </a:xfrm>
          <a:prstGeom prst="roundRect">
            <a:avLst>
              <a:gd name="adj" fmla="val 30000"/>
            </a:avLst>
          </a:prstGeom>
          <a:solidFill>
            <a:srgbClr val="DCE3EC"/>
          </a:solidFill>
          <a:ln>
            <a:noFill/>
          </a:ln>
        </p:spPr>
        <p:txBody>
          <a:bodyPr/>
          <a:lstStyle/>
          <a:p>
            <a:endParaRPr lang="en-US" sz="1050"/>
          </a:p>
        </p:txBody>
      </p:sp>
      <p:sp>
        <p:nvSpPr>
          <p:cNvPr id="222" name="bar"/>
          <p:cNvSpPr/>
          <p:nvPr/>
        </p:nvSpPr>
        <p:spPr>
          <a:xfrm>
            <a:off x="4889500" y="2590800"/>
            <a:ext cx="1397000" cy="76200"/>
          </a:xfrm>
          <a:prstGeom prst="roundRect">
            <a:avLst>
              <a:gd name="adj" fmla="val 30000"/>
            </a:avLst>
          </a:prstGeom>
          <a:solidFill>
            <a:srgbClr val="DCE3EC"/>
          </a:solidFill>
          <a:ln>
            <a:noFill/>
          </a:ln>
        </p:spPr>
        <p:txBody>
          <a:bodyPr/>
          <a:lstStyle/>
          <a:p>
            <a:endParaRPr lang="en-US" sz="1050"/>
          </a:p>
        </p:txBody>
      </p:sp>
      <p:sp>
        <p:nvSpPr>
          <p:cNvPr id="223" name="bar"/>
          <p:cNvSpPr/>
          <p:nvPr/>
        </p:nvSpPr>
        <p:spPr>
          <a:xfrm>
            <a:off x="4711700" y="2806700"/>
            <a:ext cx="1905000" cy="76200"/>
          </a:xfrm>
          <a:prstGeom prst="roundRect">
            <a:avLst>
              <a:gd name="adj" fmla="val 30000"/>
            </a:avLst>
          </a:prstGeom>
          <a:solidFill>
            <a:srgbClr val="DCE3EC"/>
          </a:solidFill>
          <a:ln>
            <a:noFill/>
          </a:ln>
        </p:spPr>
        <p:txBody>
          <a:bodyPr/>
          <a:lstStyle/>
          <a:p>
            <a:endParaRPr lang="en-US" sz="1050"/>
          </a:p>
        </p:txBody>
      </p:sp>
      <p:sp>
        <p:nvSpPr>
          <p:cNvPr id="224" name="bar"/>
          <p:cNvSpPr/>
          <p:nvPr/>
        </p:nvSpPr>
        <p:spPr>
          <a:xfrm>
            <a:off x="4711700" y="3022600"/>
            <a:ext cx="2222500" cy="76200"/>
          </a:xfrm>
          <a:prstGeom prst="roundRect">
            <a:avLst>
              <a:gd name="adj" fmla="val 30000"/>
            </a:avLst>
          </a:prstGeom>
          <a:solidFill>
            <a:srgbClr val="DCE3EC"/>
          </a:solidFill>
          <a:ln>
            <a:noFill/>
          </a:ln>
        </p:spPr>
        <p:txBody>
          <a:bodyPr/>
          <a:lstStyle/>
          <a:p>
            <a:endParaRPr lang="en-US" sz="1050"/>
          </a:p>
        </p:txBody>
      </p:sp>
      <p:sp>
        <p:nvSpPr>
          <p:cNvPr id="225" name="bar"/>
          <p:cNvSpPr/>
          <p:nvPr/>
        </p:nvSpPr>
        <p:spPr>
          <a:xfrm>
            <a:off x="4889500" y="3238500"/>
            <a:ext cx="1524000" cy="76200"/>
          </a:xfrm>
          <a:prstGeom prst="roundRect">
            <a:avLst>
              <a:gd name="adj" fmla="val 30000"/>
            </a:avLst>
          </a:prstGeom>
          <a:solidFill>
            <a:srgbClr val="DCE3EC"/>
          </a:solidFill>
          <a:ln>
            <a:noFill/>
          </a:ln>
        </p:spPr>
        <p:txBody>
          <a:bodyPr/>
          <a:lstStyle/>
          <a:p>
            <a:endParaRPr lang="en-US" sz="1050"/>
          </a:p>
        </p:txBody>
      </p:sp>
      <p:sp>
        <p:nvSpPr>
          <p:cNvPr id="226" name="bar"/>
          <p:cNvSpPr/>
          <p:nvPr/>
        </p:nvSpPr>
        <p:spPr>
          <a:xfrm>
            <a:off x="4711700" y="3454400"/>
            <a:ext cx="2032000" cy="76200"/>
          </a:xfrm>
          <a:prstGeom prst="roundRect">
            <a:avLst>
              <a:gd name="adj" fmla="val 30000"/>
            </a:avLst>
          </a:prstGeom>
          <a:solidFill>
            <a:srgbClr val="DCE3EC"/>
          </a:solidFill>
          <a:ln>
            <a:noFill/>
          </a:ln>
        </p:spPr>
        <p:txBody>
          <a:bodyPr/>
          <a:lstStyle/>
          <a:p>
            <a:endParaRPr lang="en-US" sz="1050"/>
          </a:p>
        </p:txBody>
      </p:sp>
      <p:sp>
        <p:nvSpPr>
          <p:cNvPr id="227" name="bar"/>
          <p:cNvSpPr/>
          <p:nvPr/>
        </p:nvSpPr>
        <p:spPr>
          <a:xfrm>
            <a:off x="4711700" y="3670300"/>
            <a:ext cx="1841500" cy="76200"/>
          </a:xfrm>
          <a:prstGeom prst="roundRect">
            <a:avLst>
              <a:gd name="adj" fmla="val 30000"/>
            </a:avLst>
          </a:prstGeom>
          <a:solidFill>
            <a:srgbClr val="DCE3EC"/>
          </a:solidFill>
          <a:ln>
            <a:noFill/>
          </a:ln>
        </p:spPr>
        <p:txBody>
          <a:bodyPr/>
          <a:lstStyle/>
          <a:p>
            <a:endParaRPr lang="en-US" sz="1050"/>
          </a:p>
        </p:txBody>
      </p:sp>
      <p:sp>
        <p:nvSpPr>
          <p:cNvPr id="228" name="bar"/>
          <p:cNvSpPr/>
          <p:nvPr/>
        </p:nvSpPr>
        <p:spPr>
          <a:xfrm>
            <a:off x="4889500" y="4737100"/>
            <a:ext cx="1587500" cy="76200"/>
          </a:xfrm>
          <a:prstGeom prst="roundRect">
            <a:avLst>
              <a:gd name="adj" fmla="val 30000"/>
            </a:avLst>
          </a:prstGeom>
          <a:solidFill>
            <a:srgbClr val="A14B4B"/>
          </a:solidFill>
          <a:ln>
            <a:noFill/>
          </a:ln>
        </p:spPr>
        <p:txBody>
          <a:bodyPr/>
          <a:lstStyle/>
          <a:p>
            <a:endParaRPr lang="en-US" sz="1050"/>
          </a:p>
        </p:txBody>
      </p:sp>
      <p:sp>
        <p:nvSpPr>
          <p:cNvPr id="229" name="bar"/>
          <p:cNvSpPr/>
          <p:nvPr/>
        </p:nvSpPr>
        <p:spPr>
          <a:xfrm>
            <a:off x="4889500" y="4902200"/>
            <a:ext cx="1397000" cy="76200"/>
          </a:xfrm>
          <a:prstGeom prst="roundRect">
            <a:avLst>
              <a:gd name="adj" fmla="val 30000"/>
            </a:avLst>
          </a:prstGeom>
          <a:solidFill>
            <a:srgbClr val="A14B4B"/>
          </a:solidFill>
          <a:ln>
            <a:noFill/>
          </a:ln>
        </p:spPr>
        <p:txBody>
          <a:bodyPr/>
          <a:lstStyle/>
          <a:p>
            <a:endParaRPr lang="en-US" sz="1050"/>
          </a:p>
        </p:txBody>
      </p:sp>
      <p:sp>
        <p:nvSpPr>
          <p:cNvPr id="230" name="bar"/>
          <p:cNvSpPr/>
          <p:nvPr/>
        </p:nvSpPr>
        <p:spPr>
          <a:xfrm>
            <a:off x="4889500" y="3886200"/>
            <a:ext cx="1524000" cy="76200"/>
          </a:xfrm>
          <a:prstGeom prst="roundRect">
            <a:avLst>
              <a:gd name="adj" fmla="val 30000"/>
            </a:avLst>
          </a:prstGeom>
          <a:solidFill>
            <a:srgbClr val="DCE3EC"/>
          </a:solidFill>
          <a:ln>
            <a:noFill/>
          </a:ln>
        </p:spPr>
        <p:txBody>
          <a:bodyPr/>
          <a:lstStyle/>
          <a:p>
            <a:endParaRPr lang="en-US" sz="1050"/>
          </a:p>
        </p:txBody>
      </p:sp>
      <p:sp>
        <p:nvSpPr>
          <p:cNvPr id="231" name="bar"/>
          <p:cNvSpPr/>
          <p:nvPr/>
        </p:nvSpPr>
        <p:spPr>
          <a:xfrm>
            <a:off x="4889500" y="5067300"/>
            <a:ext cx="1651000" cy="76200"/>
          </a:xfrm>
          <a:prstGeom prst="roundRect">
            <a:avLst>
              <a:gd name="adj" fmla="val 30000"/>
            </a:avLst>
          </a:prstGeom>
          <a:solidFill>
            <a:srgbClr val="A14B4B"/>
          </a:solidFill>
          <a:ln>
            <a:noFill/>
          </a:ln>
        </p:spPr>
        <p:txBody>
          <a:bodyPr/>
          <a:lstStyle/>
          <a:p>
            <a:endParaRPr lang="en-US" sz="1050"/>
          </a:p>
        </p:txBody>
      </p:sp>
      <p:sp>
        <p:nvSpPr>
          <p:cNvPr id="232" name="bar"/>
          <p:cNvSpPr/>
          <p:nvPr/>
        </p:nvSpPr>
        <p:spPr>
          <a:xfrm>
            <a:off x="4889500" y="5232400"/>
            <a:ext cx="1460500" cy="76200"/>
          </a:xfrm>
          <a:prstGeom prst="roundRect">
            <a:avLst>
              <a:gd name="adj" fmla="val 30000"/>
            </a:avLst>
          </a:prstGeom>
          <a:solidFill>
            <a:srgbClr val="A14B4B"/>
          </a:solidFill>
          <a:ln>
            <a:noFill/>
          </a:ln>
        </p:spPr>
        <p:txBody>
          <a:bodyPr/>
          <a:lstStyle/>
          <a:p>
            <a:endParaRPr lang="en-US" sz="1050"/>
          </a:p>
        </p:txBody>
      </p:sp>
      <p:sp>
        <p:nvSpPr>
          <p:cNvPr id="233" name="bar"/>
          <p:cNvSpPr/>
          <p:nvPr/>
        </p:nvSpPr>
        <p:spPr>
          <a:xfrm>
            <a:off x="4711700" y="4102100"/>
            <a:ext cx="2222500" cy="76200"/>
          </a:xfrm>
          <a:prstGeom prst="roundRect">
            <a:avLst>
              <a:gd name="adj" fmla="val 30000"/>
            </a:avLst>
          </a:prstGeom>
          <a:solidFill>
            <a:srgbClr val="DCE3EC"/>
          </a:solidFill>
          <a:ln>
            <a:noFill/>
          </a:ln>
        </p:spPr>
        <p:txBody>
          <a:bodyPr/>
          <a:lstStyle/>
          <a:p>
            <a:endParaRPr lang="en-US" sz="1050"/>
          </a:p>
        </p:txBody>
      </p:sp>
      <p:sp>
        <p:nvSpPr>
          <p:cNvPr id="234" name="bar"/>
          <p:cNvSpPr/>
          <p:nvPr/>
        </p:nvSpPr>
        <p:spPr>
          <a:xfrm>
            <a:off x="4889500" y="5397500"/>
            <a:ext cx="1524000" cy="76200"/>
          </a:xfrm>
          <a:prstGeom prst="roundRect">
            <a:avLst>
              <a:gd name="adj" fmla="val 30000"/>
            </a:avLst>
          </a:prstGeom>
          <a:solidFill>
            <a:srgbClr val="A14B4B"/>
          </a:solidFill>
          <a:ln>
            <a:noFill/>
          </a:ln>
        </p:spPr>
        <p:txBody>
          <a:bodyPr/>
          <a:lstStyle/>
          <a:p>
            <a:endParaRPr lang="en-US" sz="1050"/>
          </a:p>
        </p:txBody>
      </p:sp>
      <p:sp>
        <p:nvSpPr>
          <p:cNvPr id="235" name="bar"/>
          <p:cNvSpPr/>
          <p:nvPr/>
        </p:nvSpPr>
        <p:spPr>
          <a:xfrm>
            <a:off x="4889500" y="5562600"/>
            <a:ext cx="1333500" cy="76200"/>
          </a:xfrm>
          <a:prstGeom prst="roundRect">
            <a:avLst>
              <a:gd name="adj" fmla="val 30000"/>
            </a:avLst>
          </a:prstGeom>
          <a:solidFill>
            <a:srgbClr val="A14B4B"/>
          </a:solidFill>
          <a:ln>
            <a:noFill/>
          </a:ln>
        </p:spPr>
        <p:txBody>
          <a:bodyPr/>
          <a:lstStyle/>
          <a:p>
            <a:endParaRPr lang="en-US" sz="1050"/>
          </a:p>
        </p:txBody>
      </p:sp>
      <p:sp>
        <p:nvSpPr>
          <p:cNvPr id="236" name="bar"/>
          <p:cNvSpPr/>
          <p:nvPr/>
        </p:nvSpPr>
        <p:spPr>
          <a:xfrm>
            <a:off x="8547100" y="1727200"/>
            <a:ext cx="2159000" cy="76200"/>
          </a:xfrm>
          <a:prstGeom prst="roundRect">
            <a:avLst>
              <a:gd name="adj" fmla="val 30000"/>
            </a:avLst>
          </a:prstGeom>
          <a:solidFill>
            <a:srgbClr val="DCE3EC"/>
          </a:solidFill>
          <a:ln>
            <a:noFill/>
          </a:ln>
        </p:spPr>
        <p:txBody>
          <a:bodyPr/>
          <a:lstStyle/>
          <a:p>
            <a:endParaRPr lang="en-US" sz="1050"/>
          </a:p>
        </p:txBody>
      </p:sp>
      <p:sp>
        <p:nvSpPr>
          <p:cNvPr id="237" name="bar"/>
          <p:cNvSpPr/>
          <p:nvPr/>
        </p:nvSpPr>
        <p:spPr>
          <a:xfrm>
            <a:off x="8547100" y="1917700"/>
            <a:ext cx="1778000" cy="76200"/>
          </a:xfrm>
          <a:prstGeom prst="roundRect">
            <a:avLst>
              <a:gd name="adj" fmla="val 30000"/>
            </a:avLst>
          </a:prstGeom>
          <a:solidFill>
            <a:srgbClr val="DCE3EC"/>
          </a:solidFill>
          <a:ln>
            <a:noFill/>
          </a:ln>
        </p:spPr>
        <p:txBody>
          <a:bodyPr/>
          <a:lstStyle/>
          <a:p>
            <a:endParaRPr lang="en-US" sz="1050"/>
          </a:p>
        </p:txBody>
      </p:sp>
      <p:sp>
        <p:nvSpPr>
          <p:cNvPr id="238" name="bar"/>
          <p:cNvSpPr/>
          <p:nvPr/>
        </p:nvSpPr>
        <p:spPr>
          <a:xfrm>
            <a:off x="8724900" y="2108200"/>
            <a:ext cx="1524000" cy="76200"/>
          </a:xfrm>
          <a:prstGeom prst="roundRect">
            <a:avLst>
              <a:gd name="adj" fmla="val 30000"/>
            </a:avLst>
          </a:prstGeom>
          <a:solidFill>
            <a:srgbClr val="DCE3EC"/>
          </a:solidFill>
          <a:ln>
            <a:noFill/>
          </a:ln>
        </p:spPr>
        <p:txBody>
          <a:bodyPr/>
          <a:lstStyle/>
          <a:p>
            <a:endParaRPr lang="en-US" sz="1050"/>
          </a:p>
        </p:txBody>
      </p:sp>
      <p:sp>
        <p:nvSpPr>
          <p:cNvPr id="239" name="bar"/>
          <p:cNvSpPr/>
          <p:nvPr/>
        </p:nvSpPr>
        <p:spPr>
          <a:xfrm>
            <a:off x="8547100" y="2298700"/>
            <a:ext cx="2413000" cy="76200"/>
          </a:xfrm>
          <a:prstGeom prst="roundRect">
            <a:avLst>
              <a:gd name="adj" fmla="val 30000"/>
            </a:avLst>
          </a:prstGeom>
          <a:solidFill>
            <a:srgbClr val="DCE3EC"/>
          </a:solidFill>
          <a:ln>
            <a:noFill/>
          </a:ln>
        </p:spPr>
        <p:txBody>
          <a:bodyPr/>
          <a:lstStyle/>
          <a:p>
            <a:endParaRPr lang="en-US" sz="1050"/>
          </a:p>
        </p:txBody>
      </p:sp>
      <p:sp>
        <p:nvSpPr>
          <p:cNvPr id="240" name="bar"/>
          <p:cNvSpPr/>
          <p:nvPr/>
        </p:nvSpPr>
        <p:spPr>
          <a:xfrm>
            <a:off x="8724900" y="2489200"/>
            <a:ext cx="1333500" cy="76200"/>
          </a:xfrm>
          <a:prstGeom prst="roundRect">
            <a:avLst>
              <a:gd name="adj" fmla="val 30000"/>
            </a:avLst>
          </a:prstGeom>
          <a:solidFill>
            <a:srgbClr val="DCE3EC"/>
          </a:solidFill>
          <a:ln>
            <a:noFill/>
          </a:ln>
        </p:spPr>
        <p:txBody>
          <a:bodyPr/>
          <a:lstStyle/>
          <a:p>
            <a:endParaRPr lang="en-US" sz="1050"/>
          </a:p>
        </p:txBody>
      </p:sp>
      <p:sp>
        <p:nvSpPr>
          <p:cNvPr id="241" name="bar"/>
          <p:cNvSpPr/>
          <p:nvPr/>
        </p:nvSpPr>
        <p:spPr>
          <a:xfrm>
            <a:off x="8547100" y="2679700"/>
            <a:ext cx="1905000" cy="76200"/>
          </a:xfrm>
          <a:prstGeom prst="roundRect">
            <a:avLst>
              <a:gd name="adj" fmla="val 30000"/>
            </a:avLst>
          </a:prstGeom>
          <a:solidFill>
            <a:srgbClr val="DCE3EC"/>
          </a:solidFill>
          <a:ln>
            <a:noFill/>
          </a:ln>
        </p:spPr>
        <p:txBody>
          <a:bodyPr/>
          <a:lstStyle/>
          <a:p>
            <a:endParaRPr lang="en-US" sz="1050"/>
          </a:p>
        </p:txBody>
      </p:sp>
      <p:sp>
        <p:nvSpPr>
          <p:cNvPr id="242" name="bar"/>
          <p:cNvSpPr/>
          <p:nvPr/>
        </p:nvSpPr>
        <p:spPr>
          <a:xfrm>
            <a:off x="8547100" y="2870200"/>
            <a:ext cx="2222500" cy="76200"/>
          </a:xfrm>
          <a:prstGeom prst="roundRect">
            <a:avLst>
              <a:gd name="adj" fmla="val 30000"/>
            </a:avLst>
          </a:prstGeom>
          <a:solidFill>
            <a:srgbClr val="DCE3EC"/>
          </a:solidFill>
          <a:ln>
            <a:noFill/>
          </a:ln>
        </p:spPr>
        <p:txBody>
          <a:bodyPr/>
          <a:lstStyle/>
          <a:p>
            <a:endParaRPr lang="en-US" sz="1050"/>
          </a:p>
        </p:txBody>
      </p:sp>
      <p:sp>
        <p:nvSpPr>
          <p:cNvPr id="243" name="bar"/>
          <p:cNvSpPr/>
          <p:nvPr/>
        </p:nvSpPr>
        <p:spPr>
          <a:xfrm>
            <a:off x="8724900" y="3060700"/>
            <a:ext cx="1587500" cy="76200"/>
          </a:xfrm>
          <a:prstGeom prst="roundRect">
            <a:avLst>
              <a:gd name="adj" fmla="val 30000"/>
            </a:avLst>
          </a:prstGeom>
          <a:solidFill>
            <a:srgbClr val="DCE3EC"/>
          </a:solidFill>
          <a:ln>
            <a:noFill/>
          </a:ln>
        </p:spPr>
        <p:txBody>
          <a:bodyPr/>
          <a:lstStyle/>
          <a:p>
            <a:endParaRPr lang="en-US" sz="1050"/>
          </a:p>
        </p:txBody>
      </p:sp>
      <p:sp>
        <p:nvSpPr>
          <p:cNvPr id="244" name="bar"/>
          <p:cNvSpPr/>
          <p:nvPr/>
        </p:nvSpPr>
        <p:spPr>
          <a:xfrm>
            <a:off x="8547100" y="3251200"/>
            <a:ext cx="2032000" cy="76200"/>
          </a:xfrm>
          <a:prstGeom prst="roundRect">
            <a:avLst>
              <a:gd name="adj" fmla="val 30000"/>
            </a:avLst>
          </a:prstGeom>
          <a:solidFill>
            <a:srgbClr val="DCE3EC"/>
          </a:solidFill>
          <a:ln>
            <a:noFill/>
          </a:ln>
        </p:spPr>
        <p:txBody>
          <a:bodyPr/>
          <a:lstStyle/>
          <a:p>
            <a:endParaRPr lang="en-US" sz="1050"/>
          </a:p>
        </p:txBody>
      </p:sp>
      <p:sp>
        <p:nvSpPr>
          <p:cNvPr id="245" name="mgr"/>
          <p:cNvSpPr/>
          <p:nvPr/>
        </p:nvSpPr>
        <p:spPr>
          <a:xfrm>
            <a:off x="8343900" y="3886200"/>
            <a:ext cx="3175000" cy="1955800"/>
          </a:xfrm>
          <a:prstGeom prst="roundRect">
            <a:avLst>
              <a:gd name="adj" fmla="val 8000"/>
            </a:avLst>
          </a:prstGeom>
          <a:solidFill>
            <a:srgbClr val="1F3A5F"/>
          </a:solidFill>
          <a:ln w="19050">
            <a:solidFill>
              <a:srgbClr val="A14B4B"/>
            </a:solidFill>
          </a:ln>
        </p:spPr>
        <p:txBody>
          <a:bodyPr lIns="0" tIns="91440" rIns="0" anchor="t"/>
          <a:lstStyle/>
          <a:p>
            <a:pPr algn="ctr">
              <a:buNone/>
            </a:pPr>
            <a:r>
              <a:rPr lang="en-US" sz="1050" b="1" dirty="0">
                <a:solidFill>
                  <a:srgbClr val="FFFFFF"/>
                </a:solidFill>
              </a:rPr>
              <a:t>DataManager</a:t>
            </a:r>
          </a:p>
        </p:txBody>
      </p:sp>
      <p:sp>
        <p:nvSpPr>
          <p:cNvPr id="246" name="bar"/>
          <p:cNvSpPr/>
          <p:nvPr/>
        </p:nvSpPr>
        <p:spPr>
          <a:xfrm>
            <a:off x="8724900" y="4318000"/>
            <a:ext cx="1524000" cy="76200"/>
          </a:xfrm>
          <a:prstGeom prst="roundRect">
            <a:avLst>
              <a:gd name="adj" fmla="val 30000"/>
            </a:avLst>
          </a:prstGeom>
          <a:solidFill>
            <a:srgbClr val="A14B4B"/>
          </a:solidFill>
          <a:ln>
            <a:noFill/>
          </a:ln>
        </p:spPr>
        <p:txBody>
          <a:bodyPr/>
          <a:lstStyle/>
          <a:p>
            <a:endParaRPr lang="en-US" sz="1050"/>
          </a:p>
        </p:txBody>
      </p:sp>
      <p:sp>
        <p:nvSpPr>
          <p:cNvPr id="247" name="bar"/>
          <p:cNvSpPr/>
          <p:nvPr/>
        </p:nvSpPr>
        <p:spPr>
          <a:xfrm>
            <a:off x="8724900" y="4546600"/>
            <a:ext cx="1333500" cy="76200"/>
          </a:xfrm>
          <a:prstGeom prst="roundRect">
            <a:avLst>
              <a:gd name="adj" fmla="val 30000"/>
            </a:avLst>
          </a:prstGeom>
          <a:solidFill>
            <a:srgbClr val="A14B4B"/>
          </a:solidFill>
          <a:ln>
            <a:noFill/>
          </a:ln>
        </p:spPr>
        <p:txBody>
          <a:bodyPr/>
          <a:lstStyle/>
          <a:p>
            <a:endParaRPr lang="en-US" sz="1050"/>
          </a:p>
        </p:txBody>
      </p:sp>
      <p:sp>
        <p:nvSpPr>
          <p:cNvPr id="248" name="bar"/>
          <p:cNvSpPr/>
          <p:nvPr/>
        </p:nvSpPr>
        <p:spPr>
          <a:xfrm>
            <a:off x="8724900" y="4775200"/>
            <a:ext cx="1651000" cy="76200"/>
          </a:xfrm>
          <a:prstGeom prst="roundRect">
            <a:avLst>
              <a:gd name="adj" fmla="val 30000"/>
            </a:avLst>
          </a:prstGeom>
          <a:solidFill>
            <a:srgbClr val="A14B4B"/>
          </a:solidFill>
          <a:ln>
            <a:noFill/>
          </a:ln>
        </p:spPr>
        <p:txBody>
          <a:bodyPr/>
          <a:lstStyle/>
          <a:p>
            <a:endParaRPr lang="en-US" sz="1050"/>
          </a:p>
        </p:txBody>
      </p:sp>
      <p:sp>
        <p:nvSpPr>
          <p:cNvPr id="249" name="bar"/>
          <p:cNvSpPr/>
          <p:nvPr/>
        </p:nvSpPr>
        <p:spPr>
          <a:xfrm>
            <a:off x="8724900" y="5003800"/>
            <a:ext cx="1397000" cy="76200"/>
          </a:xfrm>
          <a:prstGeom prst="roundRect">
            <a:avLst>
              <a:gd name="adj" fmla="val 30000"/>
            </a:avLst>
          </a:prstGeom>
          <a:solidFill>
            <a:srgbClr val="A14B4B"/>
          </a:solidFill>
          <a:ln>
            <a:noFill/>
          </a:ln>
        </p:spPr>
        <p:txBody>
          <a:bodyPr/>
          <a:lstStyle/>
          <a:p>
            <a:endParaRPr lang="en-US" sz="1050"/>
          </a:p>
        </p:txBody>
      </p:sp>
      <p:sp>
        <p:nvSpPr>
          <p:cNvPr id="250" name="bar"/>
          <p:cNvSpPr/>
          <p:nvPr/>
        </p:nvSpPr>
        <p:spPr>
          <a:xfrm>
            <a:off x="8724900" y="5232400"/>
            <a:ext cx="1587500" cy="76200"/>
          </a:xfrm>
          <a:prstGeom prst="roundRect">
            <a:avLst>
              <a:gd name="adj" fmla="val 30000"/>
            </a:avLst>
          </a:prstGeom>
          <a:solidFill>
            <a:srgbClr val="A14B4B"/>
          </a:solidFill>
          <a:ln>
            <a:noFill/>
          </a:ln>
        </p:spPr>
        <p:txBody>
          <a:bodyPr/>
          <a:lstStyle/>
          <a:p>
            <a:endParaRPr lang="en-US" sz="1050"/>
          </a:p>
        </p:txBody>
      </p:sp>
      <p:sp>
        <p:nvSpPr>
          <p:cNvPr id="251" name="bar"/>
          <p:cNvSpPr/>
          <p:nvPr/>
        </p:nvSpPr>
        <p:spPr>
          <a:xfrm>
            <a:off x="8724900" y="5461000"/>
            <a:ext cx="1270000" cy="76200"/>
          </a:xfrm>
          <a:prstGeom prst="roundRect">
            <a:avLst>
              <a:gd name="adj" fmla="val 30000"/>
            </a:avLst>
          </a:prstGeom>
          <a:solidFill>
            <a:srgbClr val="A14B4B"/>
          </a:solidFill>
          <a:ln>
            <a:noFill/>
          </a:ln>
        </p:spPr>
        <p:txBody>
          <a:bodyPr/>
          <a:lstStyle/>
          <a:p>
            <a:endParaRPr lang="en-US" sz="1050"/>
          </a:p>
        </p:txBody>
      </p:sp>
      <p:sp>
        <p:nvSpPr>
          <p:cNvPr id="252" name="arrow"/>
          <p:cNvSpPr/>
          <p:nvPr/>
        </p:nvSpPr>
        <p:spPr>
          <a:xfrm>
            <a:off x="4038600" y="3581400"/>
            <a:ext cx="279400" cy="190500"/>
          </a:xfrm>
          <a:prstGeom prst="rightArrow">
            <a:avLst/>
          </a:prstGeom>
          <a:solidFill>
            <a:srgbClr val="6B7280"/>
          </a:solidFill>
          <a:ln>
            <a:noFill/>
          </a:ln>
        </p:spPr>
        <p:txBody>
          <a:bodyPr/>
          <a:lstStyle/>
          <a:p>
            <a:endParaRPr lang="en-US" sz="1050"/>
          </a:p>
        </p:txBody>
      </p:sp>
      <p:sp>
        <p:nvSpPr>
          <p:cNvPr id="253" name="arrow"/>
          <p:cNvSpPr/>
          <p:nvPr/>
        </p:nvSpPr>
        <p:spPr>
          <a:xfrm>
            <a:off x="7874000" y="3581400"/>
            <a:ext cx="279400" cy="190500"/>
          </a:xfrm>
          <a:prstGeom prst="rightArrow">
            <a:avLst/>
          </a:prstGeom>
          <a:solidFill>
            <a:srgbClr val="6B7280"/>
          </a:solidFill>
          <a:ln>
            <a:noFill/>
          </a:ln>
        </p:spPr>
        <p:txBody>
          <a:bodyPr/>
          <a:lstStyle/>
          <a:p>
            <a:endParaRPr lang="en-US" sz="1050"/>
          </a:p>
        </p:txBody>
      </p:sp>
      <p:sp>
        <p:nvSpPr>
          <p:cNvPr id="254" name="lbl"/>
          <p:cNvSpPr txBox="1"/>
          <p:nvPr/>
        </p:nvSpPr>
        <p:spPr>
          <a:xfrm>
            <a:off x="673100" y="5969000"/>
            <a:ext cx="3175000" cy="254000"/>
          </a:xfrm>
          <a:prstGeom prst="rect">
            <a:avLst/>
          </a:prstGeom>
          <a:noFill/>
        </p:spPr>
        <p:txBody>
          <a:bodyPr lIns="0" tIns="0" rIns="0" bIns="0" anchor="ctr"/>
          <a:lstStyle/>
          <a:p>
            <a:pPr algn="ctr">
              <a:buNone/>
            </a:pPr>
            <a:r>
              <a:rPr lang="en-US" sz="1050" b="1" dirty="0">
                <a:solidFill>
                  <a:srgbClr val="415A77"/>
                </a:solidFill>
              </a:rPr>
              <a:t>1  Scattered calls</a:t>
            </a:r>
          </a:p>
        </p:txBody>
      </p:sp>
      <p:sp>
        <p:nvSpPr>
          <p:cNvPr id="255" name="lbl"/>
          <p:cNvSpPr txBox="1"/>
          <p:nvPr/>
        </p:nvSpPr>
        <p:spPr>
          <a:xfrm>
            <a:off x="4508500" y="5969000"/>
            <a:ext cx="3175000" cy="254000"/>
          </a:xfrm>
          <a:prstGeom prst="rect">
            <a:avLst/>
          </a:prstGeom>
          <a:noFill/>
        </p:spPr>
        <p:txBody>
          <a:bodyPr lIns="0" tIns="0" rIns="0" bIns="0" anchor="ctr"/>
          <a:lstStyle/>
          <a:p>
            <a:pPr algn="ctr">
              <a:buNone/>
            </a:pPr>
            <a:r>
              <a:rPr lang="en-US" sz="1050" b="1" dirty="0">
                <a:solidFill>
                  <a:srgbClr val="415A77"/>
                </a:solidFill>
              </a:rPr>
              <a:t>2  Encapsulated in methods</a:t>
            </a:r>
          </a:p>
        </p:txBody>
      </p:sp>
      <p:sp>
        <p:nvSpPr>
          <p:cNvPr id="256" name="lbl"/>
          <p:cNvSpPr txBox="1"/>
          <p:nvPr/>
        </p:nvSpPr>
        <p:spPr>
          <a:xfrm>
            <a:off x="8343900" y="5969000"/>
            <a:ext cx="3175000" cy="254000"/>
          </a:xfrm>
          <a:prstGeom prst="rect">
            <a:avLst/>
          </a:prstGeom>
          <a:noFill/>
        </p:spPr>
        <p:txBody>
          <a:bodyPr lIns="0" tIns="0" rIns="0" bIns="0" anchor="ctr"/>
          <a:lstStyle/>
          <a:p>
            <a:pPr algn="ctr">
              <a:buNone/>
            </a:pPr>
            <a:r>
              <a:rPr lang="en-US" sz="1050" b="1" dirty="0">
                <a:solidFill>
                  <a:srgbClr val="415A77"/>
                </a:solidFill>
              </a:rPr>
              <a:t>3  Extracted to a manager</a:t>
            </a:r>
          </a:p>
        </p:txBody>
      </p:sp>
      <p:sp>
        <p:nvSpPr>
          <p:cNvPr id="257" name="lbl"/>
          <p:cNvSpPr txBox="1"/>
          <p:nvPr/>
        </p:nvSpPr>
        <p:spPr>
          <a:xfrm>
            <a:off x="673100" y="6350000"/>
            <a:ext cx="10845800" cy="228600"/>
          </a:xfrm>
          <a:prstGeom prst="rect">
            <a:avLst/>
          </a:prstGeom>
          <a:noFill/>
        </p:spPr>
        <p:txBody>
          <a:bodyPr lIns="0" tIns="0" rIns="0" bIns="0" anchor="ctr"/>
          <a:lstStyle/>
          <a:p>
            <a:pPr algn="l">
              <a:buNone/>
            </a:pPr>
            <a:r>
              <a:rPr lang="en-US" sz="1200" b="1" dirty="0">
                <a:solidFill>
                  <a:srgbClr val="A14B4B"/>
                </a:solidFill>
              </a:rPr>
              <a:t>red</a:t>
            </a:r>
            <a:r>
              <a:rPr lang="en-US" sz="1200" b="1" dirty="0">
                <a:solidFill>
                  <a:srgbClr val="1F3A5F"/>
                </a:solidFill>
              </a:rPr>
              <a:t> = database access</a:t>
            </a:r>
          </a:p>
        </p:txBody>
      </p:sp>
      <p:sp>
        <p:nvSpPr>
          <p:cNvPr id="400" name="arrow"/>
          <p:cNvSpPr/>
          <p:nvPr/>
        </p:nvSpPr>
        <p:spPr>
          <a:xfrm>
            <a:off x="9829800" y="3594100"/>
            <a:ext cx="203200" cy="254000"/>
          </a:xfrm>
          <a:prstGeom prst="downArrow">
            <a:avLst/>
          </a:prstGeom>
          <a:solidFill>
            <a:srgbClr val="6B7280"/>
          </a:solidFill>
          <a:ln>
            <a:noFill/>
          </a:ln>
        </p:spPr>
        <p:txBody>
          <a:bodyPr/>
          <a:lstStyle/>
          <a:p>
            <a:endParaRPr lang="en-US" sz="1050"/>
          </a:p>
        </p:txBody>
      </p:sp>
    </p:spTree>
    <p:extLst>
      <p:ext uri="{BB962C8B-B14F-4D97-AF65-F5344CB8AC3E}">
        <p14:creationId xmlns:p14="http://schemas.microsoft.com/office/powerpoint/2010/main" val="849391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mgr"/>
          <p:cNvSpPr/>
          <p:nvPr/>
        </p:nvSpPr>
        <p:spPr>
          <a:xfrm>
            <a:off x="7620000" y="1397000"/>
            <a:ext cx="2413000" cy="2794000"/>
          </a:xfrm>
          <a:prstGeom prst="roundRect">
            <a:avLst>
              <a:gd name="adj" fmla="val 8000"/>
            </a:avLst>
          </a:prstGeom>
          <a:solidFill>
            <a:srgbClr val="1F3A5F"/>
          </a:solidFill>
          <a:ln w="19050">
            <a:solidFill>
              <a:srgbClr val="A14B4B"/>
            </a:solidFill>
          </a:ln>
        </p:spPr>
        <p:txBody>
          <a:bodyPr lIns="0" tIns="114300" rIns="0" anchor="t"/>
          <a:lstStyle/>
          <a:p>
            <a:pPr algn="ctr">
              <a:buNone/>
            </a:pPr>
            <a:r>
              <a:rPr lang="en-US" sz="1200" b="1" dirty="0">
                <a:solidFill>
                  <a:srgbClr val="FFFFFF"/>
                </a:solidFill>
              </a:rPr>
              <a:t>DataManager</a:t>
            </a:r>
          </a:p>
        </p:txBody>
      </p:sp>
      <p:sp>
        <p:nvSpPr>
          <p:cNvPr id="60" name="lbl"/>
          <p:cNvSpPr txBox="1"/>
          <p:nvPr/>
        </p:nvSpPr>
        <p:spPr>
          <a:xfrm>
            <a:off x="1270000" y="660400"/>
            <a:ext cx="9652000" cy="431800"/>
          </a:xfrm>
          <a:prstGeom prst="rect">
            <a:avLst/>
          </a:prstGeom>
          <a:noFill/>
        </p:spPr>
        <p:txBody>
          <a:bodyPr lIns="0" tIns="0" rIns="0" bIns="0" anchor="ctr"/>
          <a:lstStyle/>
          <a:p>
            <a:pPr algn="l">
              <a:buNone/>
            </a:pPr>
            <a:r>
              <a:rPr lang="en-US" sz="2400" b="1" dirty="0">
                <a:solidFill>
                  <a:srgbClr val="1F3A5F"/>
                </a:solidFill>
              </a:rPr>
              <a:t>Database calls: scattered → encapsulated → extracted</a:t>
            </a:r>
          </a:p>
        </p:txBody>
      </p:sp>
      <p:sp>
        <p:nvSpPr>
          <p:cNvPr id="10" name="code"/>
          <p:cNvSpPr/>
          <p:nvPr/>
        </p:nvSpPr>
        <p:spPr>
          <a:xfrm>
            <a:off x="1270000" y="1397000"/>
            <a:ext cx="4191000" cy="4445000"/>
          </a:xfrm>
          <a:prstGeom prst="roundRect">
            <a:avLst>
              <a:gd name="adj" fmla="val 8000"/>
            </a:avLst>
          </a:prstGeom>
          <a:solidFill>
            <a:srgbClr val="415A77"/>
          </a:solidFill>
          <a:ln>
            <a:noFill/>
          </a:ln>
        </p:spPr>
        <p:txBody>
          <a:bodyPr/>
          <a:lstStyle/>
          <a:p>
            <a:endParaRPr lang="en-US" sz="1050"/>
          </a:p>
        </p:txBody>
      </p:sp>
      <p:sp>
        <p:nvSpPr>
          <p:cNvPr id="20" name="bar"/>
          <p:cNvSpPr/>
          <p:nvPr/>
        </p:nvSpPr>
        <p:spPr>
          <a:xfrm>
            <a:off x="1473200" y="1600200"/>
            <a:ext cx="2540000" cy="76200"/>
          </a:xfrm>
          <a:prstGeom prst="roundRect">
            <a:avLst>
              <a:gd name="adj" fmla="val 30000"/>
            </a:avLst>
          </a:prstGeom>
          <a:solidFill>
            <a:srgbClr val="DCE3EC"/>
          </a:solidFill>
          <a:ln>
            <a:noFill/>
          </a:ln>
        </p:spPr>
        <p:txBody>
          <a:bodyPr/>
          <a:lstStyle/>
          <a:p>
            <a:endParaRPr lang="en-US" sz="1050"/>
          </a:p>
        </p:txBody>
      </p:sp>
      <p:sp>
        <p:nvSpPr>
          <p:cNvPr id="21" name="bar"/>
          <p:cNvSpPr/>
          <p:nvPr/>
        </p:nvSpPr>
        <p:spPr>
          <a:xfrm>
            <a:off x="1473200" y="1765300"/>
            <a:ext cx="2095500" cy="76200"/>
          </a:xfrm>
          <a:prstGeom prst="roundRect">
            <a:avLst>
              <a:gd name="adj" fmla="val 30000"/>
            </a:avLst>
          </a:prstGeom>
          <a:solidFill>
            <a:srgbClr val="DCE3EC"/>
          </a:solidFill>
          <a:ln>
            <a:noFill/>
          </a:ln>
        </p:spPr>
        <p:txBody>
          <a:bodyPr/>
          <a:lstStyle/>
          <a:p>
            <a:endParaRPr lang="en-US" sz="1050"/>
          </a:p>
        </p:txBody>
      </p:sp>
      <p:sp>
        <p:nvSpPr>
          <p:cNvPr id="22" name="bar"/>
          <p:cNvSpPr/>
          <p:nvPr/>
        </p:nvSpPr>
        <p:spPr>
          <a:xfrm>
            <a:off x="1651000" y="1930400"/>
            <a:ext cx="1778000" cy="76200"/>
          </a:xfrm>
          <a:prstGeom prst="roundRect">
            <a:avLst>
              <a:gd name="adj" fmla="val 30000"/>
            </a:avLst>
          </a:prstGeom>
          <a:solidFill>
            <a:srgbClr val="DCE3EC"/>
          </a:solidFill>
          <a:ln>
            <a:noFill/>
          </a:ln>
        </p:spPr>
        <p:txBody>
          <a:bodyPr/>
          <a:lstStyle/>
          <a:p>
            <a:endParaRPr lang="en-US" sz="1050"/>
          </a:p>
        </p:txBody>
      </p:sp>
      <p:sp>
        <p:nvSpPr>
          <p:cNvPr id="23" name="bar"/>
          <p:cNvSpPr/>
          <p:nvPr/>
        </p:nvSpPr>
        <p:spPr>
          <a:xfrm>
            <a:off x="1473200" y="2260600"/>
            <a:ext cx="2857500" cy="76200"/>
          </a:xfrm>
          <a:prstGeom prst="roundRect">
            <a:avLst>
              <a:gd name="adj" fmla="val 30000"/>
            </a:avLst>
          </a:prstGeom>
          <a:solidFill>
            <a:srgbClr val="DCE3EC"/>
          </a:solidFill>
          <a:ln>
            <a:noFill/>
          </a:ln>
        </p:spPr>
        <p:txBody>
          <a:bodyPr/>
          <a:lstStyle/>
          <a:p>
            <a:endParaRPr lang="en-US" sz="1050"/>
          </a:p>
        </p:txBody>
      </p:sp>
      <p:sp>
        <p:nvSpPr>
          <p:cNvPr id="24" name="bar"/>
          <p:cNvSpPr/>
          <p:nvPr/>
        </p:nvSpPr>
        <p:spPr>
          <a:xfrm>
            <a:off x="1651000" y="2425700"/>
            <a:ext cx="1651000" cy="76200"/>
          </a:xfrm>
          <a:prstGeom prst="roundRect">
            <a:avLst>
              <a:gd name="adj" fmla="val 30000"/>
            </a:avLst>
          </a:prstGeom>
          <a:solidFill>
            <a:srgbClr val="DCE3EC"/>
          </a:solidFill>
          <a:ln>
            <a:noFill/>
          </a:ln>
        </p:spPr>
        <p:txBody>
          <a:bodyPr/>
          <a:lstStyle/>
          <a:p>
            <a:endParaRPr lang="en-US" sz="1050"/>
          </a:p>
        </p:txBody>
      </p:sp>
      <p:sp>
        <p:nvSpPr>
          <p:cNvPr id="25" name="bar"/>
          <p:cNvSpPr/>
          <p:nvPr/>
        </p:nvSpPr>
        <p:spPr>
          <a:xfrm>
            <a:off x="1473200" y="2755900"/>
            <a:ext cx="2222500" cy="76200"/>
          </a:xfrm>
          <a:prstGeom prst="roundRect">
            <a:avLst>
              <a:gd name="adj" fmla="val 30000"/>
            </a:avLst>
          </a:prstGeom>
          <a:solidFill>
            <a:srgbClr val="DCE3EC"/>
          </a:solidFill>
          <a:ln>
            <a:noFill/>
          </a:ln>
        </p:spPr>
        <p:txBody>
          <a:bodyPr/>
          <a:lstStyle/>
          <a:p>
            <a:endParaRPr lang="en-US" sz="1050"/>
          </a:p>
        </p:txBody>
      </p:sp>
      <p:sp>
        <p:nvSpPr>
          <p:cNvPr id="26" name="bar"/>
          <p:cNvSpPr/>
          <p:nvPr/>
        </p:nvSpPr>
        <p:spPr>
          <a:xfrm>
            <a:off x="1473200" y="2921000"/>
            <a:ext cx="2603500" cy="76200"/>
          </a:xfrm>
          <a:prstGeom prst="roundRect">
            <a:avLst>
              <a:gd name="adj" fmla="val 30000"/>
            </a:avLst>
          </a:prstGeom>
          <a:solidFill>
            <a:srgbClr val="DCE3EC"/>
          </a:solidFill>
          <a:ln>
            <a:noFill/>
          </a:ln>
        </p:spPr>
        <p:txBody>
          <a:bodyPr/>
          <a:lstStyle/>
          <a:p>
            <a:endParaRPr lang="en-US" sz="1050"/>
          </a:p>
        </p:txBody>
      </p:sp>
      <p:sp>
        <p:nvSpPr>
          <p:cNvPr id="27" name="bar"/>
          <p:cNvSpPr/>
          <p:nvPr/>
        </p:nvSpPr>
        <p:spPr>
          <a:xfrm>
            <a:off x="1651000" y="3086100"/>
            <a:ext cx="1841500" cy="76200"/>
          </a:xfrm>
          <a:prstGeom prst="roundRect">
            <a:avLst>
              <a:gd name="adj" fmla="val 30000"/>
            </a:avLst>
          </a:prstGeom>
          <a:solidFill>
            <a:srgbClr val="DCE3EC"/>
          </a:solidFill>
          <a:ln>
            <a:noFill/>
          </a:ln>
        </p:spPr>
        <p:txBody>
          <a:bodyPr/>
          <a:lstStyle/>
          <a:p>
            <a:endParaRPr lang="en-US" sz="1050"/>
          </a:p>
        </p:txBody>
      </p:sp>
      <p:sp>
        <p:nvSpPr>
          <p:cNvPr id="28" name="bar"/>
          <p:cNvSpPr/>
          <p:nvPr/>
        </p:nvSpPr>
        <p:spPr>
          <a:xfrm>
            <a:off x="1651000" y="3416300"/>
            <a:ext cx="1714500" cy="76200"/>
          </a:xfrm>
          <a:prstGeom prst="roundRect">
            <a:avLst>
              <a:gd name="adj" fmla="val 30000"/>
            </a:avLst>
          </a:prstGeom>
          <a:solidFill>
            <a:srgbClr val="DCE3EC"/>
          </a:solidFill>
          <a:ln>
            <a:noFill/>
          </a:ln>
        </p:spPr>
        <p:txBody>
          <a:bodyPr/>
          <a:lstStyle/>
          <a:p>
            <a:endParaRPr lang="en-US" sz="1050"/>
          </a:p>
        </p:txBody>
      </p:sp>
      <p:sp>
        <p:nvSpPr>
          <p:cNvPr id="29" name="bar"/>
          <p:cNvSpPr/>
          <p:nvPr/>
        </p:nvSpPr>
        <p:spPr>
          <a:xfrm>
            <a:off x="1473200" y="3581400"/>
            <a:ext cx="2413000" cy="76200"/>
          </a:xfrm>
          <a:prstGeom prst="roundRect">
            <a:avLst>
              <a:gd name="adj" fmla="val 30000"/>
            </a:avLst>
          </a:prstGeom>
          <a:solidFill>
            <a:srgbClr val="DCE3EC"/>
          </a:solidFill>
          <a:ln>
            <a:noFill/>
          </a:ln>
        </p:spPr>
        <p:txBody>
          <a:bodyPr/>
          <a:lstStyle/>
          <a:p>
            <a:endParaRPr lang="en-US" sz="1050"/>
          </a:p>
        </p:txBody>
      </p:sp>
      <p:sp>
        <p:nvSpPr>
          <p:cNvPr id="30" name="bar"/>
          <p:cNvSpPr/>
          <p:nvPr/>
        </p:nvSpPr>
        <p:spPr>
          <a:xfrm>
            <a:off x="1473200" y="3911600"/>
            <a:ext cx="2159000" cy="76200"/>
          </a:xfrm>
          <a:prstGeom prst="roundRect">
            <a:avLst>
              <a:gd name="adj" fmla="val 30000"/>
            </a:avLst>
          </a:prstGeom>
          <a:solidFill>
            <a:srgbClr val="DCE3EC"/>
          </a:solidFill>
          <a:ln>
            <a:noFill/>
          </a:ln>
        </p:spPr>
        <p:txBody>
          <a:bodyPr/>
          <a:lstStyle/>
          <a:p>
            <a:endParaRPr lang="en-US" sz="1050"/>
          </a:p>
        </p:txBody>
      </p:sp>
      <p:sp>
        <p:nvSpPr>
          <p:cNvPr id="31" name="bar"/>
          <p:cNvSpPr/>
          <p:nvPr/>
        </p:nvSpPr>
        <p:spPr>
          <a:xfrm>
            <a:off x="1651000" y="4076700"/>
            <a:ext cx="1905000" cy="76200"/>
          </a:xfrm>
          <a:prstGeom prst="roundRect">
            <a:avLst>
              <a:gd name="adj" fmla="val 30000"/>
            </a:avLst>
          </a:prstGeom>
          <a:solidFill>
            <a:srgbClr val="DCE3EC"/>
          </a:solidFill>
          <a:ln>
            <a:noFill/>
          </a:ln>
        </p:spPr>
        <p:txBody>
          <a:bodyPr/>
          <a:lstStyle/>
          <a:p>
            <a:endParaRPr lang="en-US" sz="1050"/>
          </a:p>
        </p:txBody>
      </p:sp>
      <p:sp>
        <p:nvSpPr>
          <p:cNvPr id="32" name="bar"/>
          <p:cNvSpPr/>
          <p:nvPr/>
        </p:nvSpPr>
        <p:spPr>
          <a:xfrm>
            <a:off x="1473200" y="4241800"/>
            <a:ext cx="2730500" cy="76200"/>
          </a:xfrm>
          <a:prstGeom prst="roundRect">
            <a:avLst>
              <a:gd name="adj" fmla="val 30000"/>
            </a:avLst>
          </a:prstGeom>
          <a:solidFill>
            <a:srgbClr val="DCE3EC"/>
          </a:solidFill>
          <a:ln>
            <a:noFill/>
          </a:ln>
        </p:spPr>
        <p:txBody>
          <a:bodyPr/>
          <a:lstStyle/>
          <a:p>
            <a:endParaRPr lang="en-US" sz="1050"/>
          </a:p>
        </p:txBody>
      </p:sp>
      <p:sp>
        <p:nvSpPr>
          <p:cNvPr id="33" name="bar"/>
          <p:cNvSpPr/>
          <p:nvPr/>
        </p:nvSpPr>
        <p:spPr>
          <a:xfrm>
            <a:off x="1473200" y="4572000"/>
            <a:ext cx="2286000" cy="76200"/>
          </a:xfrm>
          <a:prstGeom prst="roundRect">
            <a:avLst>
              <a:gd name="adj" fmla="val 30000"/>
            </a:avLst>
          </a:prstGeom>
          <a:solidFill>
            <a:srgbClr val="DCE3EC"/>
          </a:solidFill>
          <a:ln>
            <a:noFill/>
          </a:ln>
        </p:spPr>
        <p:txBody>
          <a:bodyPr/>
          <a:lstStyle/>
          <a:p>
            <a:endParaRPr lang="en-US" sz="1050"/>
          </a:p>
        </p:txBody>
      </p:sp>
      <p:sp>
        <p:nvSpPr>
          <p:cNvPr id="34" name="bar"/>
          <p:cNvSpPr/>
          <p:nvPr/>
        </p:nvSpPr>
        <p:spPr>
          <a:xfrm>
            <a:off x="1651000" y="4737100"/>
            <a:ext cx="1778000" cy="76200"/>
          </a:xfrm>
          <a:prstGeom prst="roundRect">
            <a:avLst>
              <a:gd name="adj" fmla="val 30000"/>
            </a:avLst>
          </a:prstGeom>
          <a:solidFill>
            <a:srgbClr val="DCE3EC"/>
          </a:solidFill>
          <a:ln>
            <a:noFill/>
          </a:ln>
        </p:spPr>
        <p:txBody>
          <a:bodyPr/>
          <a:lstStyle/>
          <a:p>
            <a:endParaRPr lang="en-US" sz="1050"/>
          </a:p>
        </p:txBody>
      </p:sp>
      <p:sp>
        <p:nvSpPr>
          <p:cNvPr id="35" name="bar"/>
          <p:cNvSpPr/>
          <p:nvPr/>
        </p:nvSpPr>
        <p:spPr>
          <a:xfrm>
            <a:off x="1473200" y="4902200"/>
            <a:ext cx="2476500" cy="76200"/>
          </a:xfrm>
          <a:prstGeom prst="roundRect">
            <a:avLst>
              <a:gd name="adj" fmla="val 30000"/>
            </a:avLst>
          </a:prstGeom>
          <a:solidFill>
            <a:srgbClr val="DCE3EC"/>
          </a:solidFill>
          <a:ln>
            <a:noFill/>
          </a:ln>
        </p:spPr>
        <p:txBody>
          <a:bodyPr/>
          <a:lstStyle/>
          <a:p>
            <a:endParaRPr lang="en-US" sz="1050"/>
          </a:p>
        </p:txBody>
      </p:sp>
      <p:sp>
        <p:nvSpPr>
          <p:cNvPr id="36" name="bar"/>
          <p:cNvSpPr/>
          <p:nvPr/>
        </p:nvSpPr>
        <p:spPr>
          <a:xfrm>
            <a:off x="1473200" y="5232400"/>
            <a:ext cx="2095500" cy="76200"/>
          </a:xfrm>
          <a:prstGeom prst="roundRect">
            <a:avLst>
              <a:gd name="adj" fmla="val 30000"/>
            </a:avLst>
          </a:prstGeom>
          <a:solidFill>
            <a:srgbClr val="DCE3EC"/>
          </a:solidFill>
          <a:ln>
            <a:noFill/>
          </a:ln>
        </p:spPr>
        <p:txBody>
          <a:bodyPr/>
          <a:lstStyle/>
          <a:p>
            <a:endParaRPr lang="en-US" sz="1050"/>
          </a:p>
        </p:txBody>
      </p:sp>
      <p:sp>
        <p:nvSpPr>
          <p:cNvPr id="37" name="bar"/>
          <p:cNvSpPr/>
          <p:nvPr/>
        </p:nvSpPr>
        <p:spPr>
          <a:xfrm>
            <a:off x="1473200" y="5397500"/>
            <a:ext cx="1524000" cy="76200"/>
          </a:xfrm>
          <a:prstGeom prst="roundRect">
            <a:avLst>
              <a:gd name="adj" fmla="val 30000"/>
            </a:avLst>
          </a:prstGeom>
          <a:solidFill>
            <a:srgbClr val="DCE3EC"/>
          </a:solidFill>
          <a:ln>
            <a:noFill/>
          </a:ln>
        </p:spPr>
        <p:txBody>
          <a:bodyPr/>
          <a:lstStyle/>
          <a:p>
            <a:endParaRPr lang="en-US" sz="1050"/>
          </a:p>
        </p:txBody>
      </p:sp>
      <p:sp>
        <p:nvSpPr>
          <p:cNvPr id="40" name="call"/>
          <p:cNvSpPr/>
          <p:nvPr/>
        </p:nvSpPr>
        <p:spPr>
          <a:xfrm>
            <a:off x="1651000" y="2095500"/>
            <a:ext cx="1651000" cy="76200"/>
          </a:xfrm>
          <a:prstGeom prst="roundRect">
            <a:avLst>
              <a:gd name="adj" fmla="val 30000"/>
            </a:avLst>
          </a:prstGeom>
          <a:solidFill>
            <a:srgbClr val="A14B4B"/>
          </a:solidFill>
          <a:ln>
            <a:noFill/>
          </a:ln>
        </p:spPr>
        <p:txBody>
          <a:bodyPr/>
          <a:lstStyle/>
          <a:p>
            <a:endParaRPr lang="en-US" sz="1050"/>
          </a:p>
        </p:txBody>
      </p:sp>
      <p:sp>
        <p:nvSpPr>
          <p:cNvPr id="41" name="call"/>
          <p:cNvSpPr/>
          <p:nvPr/>
        </p:nvSpPr>
        <p:spPr>
          <a:xfrm>
            <a:off x="1828800" y="2590800"/>
            <a:ext cx="1460500" cy="76200"/>
          </a:xfrm>
          <a:prstGeom prst="roundRect">
            <a:avLst>
              <a:gd name="adj" fmla="val 30000"/>
            </a:avLst>
          </a:prstGeom>
          <a:solidFill>
            <a:srgbClr val="A14B4B"/>
          </a:solidFill>
          <a:ln>
            <a:noFill/>
          </a:ln>
        </p:spPr>
        <p:txBody>
          <a:bodyPr/>
          <a:lstStyle/>
          <a:p>
            <a:endParaRPr lang="en-US" sz="1050"/>
          </a:p>
        </p:txBody>
      </p:sp>
      <p:sp>
        <p:nvSpPr>
          <p:cNvPr id="42" name="call"/>
          <p:cNvSpPr/>
          <p:nvPr/>
        </p:nvSpPr>
        <p:spPr>
          <a:xfrm>
            <a:off x="1651000" y="3251200"/>
            <a:ext cx="1778000" cy="76200"/>
          </a:xfrm>
          <a:prstGeom prst="roundRect">
            <a:avLst>
              <a:gd name="adj" fmla="val 30000"/>
            </a:avLst>
          </a:prstGeom>
          <a:solidFill>
            <a:srgbClr val="A14B4B"/>
          </a:solidFill>
          <a:ln>
            <a:noFill/>
          </a:ln>
        </p:spPr>
        <p:txBody>
          <a:bodyPr/>
          <a:lstStyle/>
          <a:p>
            <a:endParaRPr lang="en-US" sz="1050"/>
          </a:p>
        </p:txBody>
      </p:sp>
      <p:sp>
        <p:nvSpPr>
          <p:cNvPr id="43" name="call"/>
          <p:cNvSpPr/>
          <p:nvPr/>
        </p:nvSpPr>
        <p:spPr>
          <a:xfrm>
            <a:off x="1651000" y="3746500"/>
            <a:ext cx="1524000" cy="76200"/>
          </a:xfrm>
          <a:prstGeom prst="roundRect">
            <a:avLst>
              <a:gd name="adj" fmla="val 30000"/>
            </a:avLst>
          </a:prstGeom>
          <a:solidFill>
            <a:srgbClr val="A14B4B"/>
          </a:solidFill>
          <a:ln>
            <a:noFill/>
          </a:ln>
        </p:spPr>
        <p:txBody>
          <a:bodyPr/>
          <a:lstStyle/>
          <a:p>
            <a:endParaRPr lang="en-US" sz="1050"/>
          </a:p>
        </p:txBody>
      </p:sp>
      <p:sp>
        <p:nvSpPr>
          <p:cNvPr id="44" name="call"/>
          <p:cNvSpPr/>
          <p:nvPr/>
        </p:nvSpPr>
        <p:spPr>
          <a:xfrm>
            <a:off x="1828800" y="4406900"/>
            <a:ext cx="1714500" cy="76200"/>
          </a:xfrm>
          <a:prstGeom prst="roundRect">
            <a:avLst>
              <a:gd name="adj" fmla="val 30000"/>
            </a:avLst>
          </a:prstGeom>
          <a:solidFill>
            <a:srgbClr val="A14B4B"/>
          </a:solidFill>
          <a:ln>
            <a:noFill/>
          </a:ln>
        </p:spPr>
        <p:txBody>
          <a:bodyPr/>
          <a:lstStyle/>
          <a:p>
            <a:endParaRPr lang="en-US" sz="1050"/>
          </a:p>
        </p:txBody>
      </p:sp>
      <p:sp>
        <p:nvSpPr>
          <p:cNvPr id="45" name="call"/>
          <p:cNvSpPr/>
          <p:nvPr/>
        </p:nvSpPr>
        <p:spPr>
          <a:xfrm>
            <a:off x="1651000" y="5067300"/>
            <a:ext cx="1397000" cy="76200"/>
          </a:xfrm>
          <a:prstGeom prst="roundRect">
            <a:avLst>
              <a:gd name="adj" fmla="val 30000"/>
            </a:avLst>
          </a:prstGeom>
          <a:solidFill>
            <a:srgbClr val="A14B4B"/>
          </a:solidFill>
          <a:ln>
            <a:noFill/>
          </a:ln>
        </p:spPr>
        <p:txBody>
          <a:bodyPr/>
          <a:lstStyle/>
          <a:p>
            <a:endParaRPr lang="en-US" sz="1050"/>
          </a:p>
        </p:txBody>
      </p:sp>
      <p:sp>
        <p:nvSpPr>
          <p:cNvPr id="61" name="lbl"/>
          <p:cNvSpPr txBox="1"/>
          <p:nvPr/>
        </p:nvSpPr>
        <p:spPr>
          <a:xfrm>
            <a:off x="1270000" y="5969000"/>
            <a:ext cx="4191000" cy="254000"/>
          </a:xfrm>
          <a:prstGeom prst="rect">
            <a:avLst/>
          </a:prstGeom>
          <a:noFill/>
        </p:spPr>
        <p:txBody>
          <a:bodyPr lIns="0" tIns="0" rIns="0" bIns="0" anchor="ctr"/>
          <a:lstStyle/>
          <a:p>
            <a:pPr algn="l">
              <a:buNone/>
            </a:pPr>
            <a:r>
              <a:rPr lang="en-US" sz="1200" b="1" dirty="0">
                <a:solidFill>
                  <a:srgbClr val="1F3A5F"/>
                </a:solidFill>
              </a:rPr>
              <a:t>red = database access</a:t>
            </a:r>
          </a:p>
        </p:txBody>
      </p:sp>
    </p:spTree>
    <p:extLst>
      <p:ext uri="{BB962C8B-B14F-4D97-AF65-F5344CB8AC3E}">
        <p14:creationId xmlns:p14="http://schemas.microsoft.com/office/powerpoint/2010/main" val="646029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40000" decel="40000" fill="hold" nodeType="clickEffect">
                                  <p:stCondLst>
                                    <p:cond delay="0"/>
                                  </p:stCondLst>
                                  <p:childTnLst>
                                    <p:animMotion origin="layout" path="M 0 0 L 0 -0.024074" pathEditMode="relative" ptsTypes="AA">
                                      <p:cBhvr>
                                        <p:cTn id="6" dur="900" fill="hold"/>
                                        <p:tgtEl>
                                          <p:spTgt spid="23"/>
                                        </p:tgtEl>
                                        <p:attrNameLst>
                                          <p:attrName>ppt_x</p:attrName>
                                          <p:attrName>ppt_y</p:attrName>
                                        </p:attrNameLst>
                                      </p:cBhvr>
                                    </p:animMotion>
                                  </p:childTnLst>
                                </p:cTn>
                              </p:par>
                              <p:par>
                                <p:cTn id="7" presetID="0" presetClass="path" presetSubtype="0" accel="40000" decel="40000" fill="hold" nodeType="withEffect">
                                  <p:stCondLst>
                                    <p:cond delay="0"/>
                                  </p:stCondLst>
                                  <p:childTnLst>
                                    <p:animMotion origin="layout" path="M 0 0 L 0 -0.024074" pathEditMode="relative" ptsTypes="AA">
                                      <p:cBhvr>
                                        <p:cTn id="8" dur="900" fill="hold"/>
                                        <p:tgtEl>
                                          <p:spTgt spid="24"/>
                                        </p:tgtEl>
                                        <p:attrNameLst>
                                          <p:attrName>ppt_x</p:attrName>
                                          <p:attrName>ppt_y</p:attrName>
                                        </p:attrNameLst>
                                      </p:cBhvr>
                                    </p:animMotion>
                                  </p:childTnLst>
                                </p:cTn>
                              </p:par>
                              <p:par>
                                <p:cTn id="9" presetID="0" presetClass="path" presetSubtype="0" accel="40000" decel="40000" fill="hold" nodeType="withEffect">
                                  <p:stCondLst>
                                    <p:cond delay="0"/>
                                  </p:stCondLst>
                                  <p:childTnLst>
                                    <p:animMotion origin="layout" path="M 0 0 L 0 -0.048148" pathEditMode="relative" ptsTypes="AA">
                                      <p:cBhvr>
                                        <p:cTn id="10" dur="900" fill="hold"/>
                                        <p:tgtEl>
                                          <p:spTgt spid="25"/>
                                        </p:tgtEl>
                                        <p:attrNameLst>
                                          <p:attrName>ppt_x</p:attrName>
                                          <p:attrName>ppt_y</p:attrName>
                                        </p:attrNameLst>
                                      </p:cBhvr>
                                    </p:animMotion>
                                  </p:childTnLst>
                                </p:cTn>
                              </p:par>
                              <p:par>
                                <p:cTn id="11" presetID="0" presetClass="path" presetSubtype="0" accel="40000" decel="40000" fill="hold" nodeType="withEffect">
                                  <p:stCondLst>
                                    <p:cond delay="0"/>
                                  </p:stCondLst>
                                  <p:childTnLst>
                                    <p:animMotion origin="layout" path="M 0 0 L 0 -0.048148" pathEditMode="relative" ptsTypes="AA">
                                      <p:cBhvr>
                                        <p:cTn id="12" dur="900" fill="hold"/>
                                        <p:tgtEl>
                                          <p:spTgt spid="26"/>
                                        </p:tgtEl>
                                        <p:attrNameLst>
                                          <p:attrName>ppt_x</p:attrName>
                                          <p:attrName>ppt_y</p:attrName>
                                        </p:attrNameLst>
                                      </p:cBhvr>
                                    </p:animMotion>
                                  </p:childTnLst>
                                </p:cTn>
                              </p:par>
                              <p:par>
                                <p:cTn id="13" presetID="0" presetClass="path" presetSubtype="0" accel="40000" decel="40000" fill="hold" nodeType="withEffect">
                                  <p:stCondLst>
                                    <p:cond delay="0"/>
                                  </p:stCondLst>
                                  <p:childTnLst>
                                    <p:animMotion origin="layout" path="M 0 0 L 0 -0.048148" pathEditMode="relative" ptsTypes="AA">
                                      <p:cBhvr>
                                        <p:cTn id="14" dur="900" fill="hold"/>
                                        <p:tgtEl>
                                          <p:spTgt spid="27"/>
                                        </p:tgtEl>
                                        <p:attrNameLst>
                                          <p:attrName>ppt_x</p:attrName>
                                          <p:attrName>ppt_y</p:attrName>
                                        </p:attrNameLst>
                                      </p:cBhvr>
                                    </p:animMotion>
                                  </p:childTnLst>
                                </p:cTn>
                              </p:par>
                              <p:par>
                                <p:cTn id="15" presetID="0" presetClass="path" presetSubtype="0" accel="40000" decel="40000" fill="hold" nodeType="withEffect">
                                  <p:stCondLst>
                                    <p:cond delay="0"/>
                                  </p:stCondLst>
                                  <p:childTnLst>
                                    <p:animMotion origin="layout" path="M 0 0 L 0 -0.072222" pathEditMode="relative" ptsTypes="AA">
                                      <p:cBhvr>
                                        <p:cTn id="16" dur="900" fill="hold"/>
                                        <p:tgtEl>
                                          <p:spTgt spid="28"/>
                                        </p:tgtEl>
                                        <p:attrNameLst>
                                          <p:attrName>ppt_x</p:attrName>
                                          <p:attrName>ppt_y</p:attrName>
                                        </p:attrNameLst>
                                      </p:cBhvr>
                                    </p:animMotion>
                                  </p:childTnLst>
                                </p:cTn>
                              </p:par>
                              <p:par>
                                <p:cTn id="17" presetID="0" presetClass="path" presetSubtype="0" accel="40000" decel="40000" fill="hold" nodeType="withEffect">
                                  <p:stCondLst>
                                    <p:cond delay="0"/>
                                  </p:stCondLst>
                                  <p:childTnLst>
                                    <p:animMotion origin="layout" path="M 0 0 L 0 -0.072222" pathEditMode="relative" ptsTypes="AA">
                                      <p:cBhvr>
                                        <p:cTn id="18" dur="900" fill="hold"/>
                                        <p:tgtEl>
                                          <p:spTgt spid="29"/>
                                        </p:tgtEl>
                                        <p:attrNameLst>
                                          <p:attrName>ppt_x</p:attrName>
                                          <p:attrName>ppt_y</p:attrName>
                                        </p:attrNameLst>
                                      </p:cBhvr>
                                    </p:animMotion>
                                  </p:childTnLst>
                                </p:cTn>
                              </p:par>
                              <p:par>
                                <p:cTn id="19" presetID="0" presetClass="path" presetSubtype="0" accel="40000" decel="40000" fill="hold" nodeType="withEffect">
                                  <p:stCondLst>
                                    <p:cond delay="0"/>
                                  </p:stCondLst>
                                  <p:childTnLst>
                                    <p:animMotion origin="layout" path="M 0 0 L 0 -0.096296" pathEditMode="relative" ptsTypes="AA">
                                      <p:cBhvr>
                                        <p:cTn id="20" dur="900" fill="hold"/>
                                        <p:tgtEl>
                                          <p:spTgt spid="30"/>
                                        </p:tgtEl>
                                        <p:attrNameLst>
                                          <p:attrName>ppt_x</p:attrName>
                                          <p:attrName>ppt_y</p:attrName>
                                        </p:attrNameLst>
                                      </p:cBhvr>
                                    </p:animMotion>
                                  </p:childTnLst>
                                </p:cTn>
                              </p:par>
                              <p:par>
                                <p:cTn id="21" presetID="0" presetClass="path" presetSubtype="0" accel="40000" decel="40000" fill="hold" nodeType="withEffect">
                                  <p:stCondLst>
                                    <p:cond delay="0"/>
                                  </p:stCondLst>
                                  <p:childTnLst>
                                    <p:animMotion origin="layout" path="M 0 0 L 0 -0.096296" pathEditMode="relative" ptsTypes="AA">
                                      <p:cBhvr>
                                        <p:cTn id="22" dur="900" fill="hold"/>
                                        <p:tgtEl>
                                          <p:spTgt spid="31"/>
                                        </p:tgtEl>
                                        <p:attrNameLst>
                                          <p:attrName>ppt_x</p:attrName>
                                          <p:attrName>ppt_y</p:attrName>
                                        </p:attrNameLst>
                                      </p:cBhvr>
                                    </p:animMotion>
                                  </p:childTnLst>
                                </p:cTn>
                              </p:par>
                              <p:par>
                                <p:cTn id="23" presetID="0" presetClass="path" presetSubtype="0" accel="40000" decel="40000" fill="hold" nodeType="withEffect">
                                  <p:stCondLst>
                                    <p:cond delay="0"/>
                                  </p:stCondLst>
                                  <p:childTnLst>
                                    <p:animMotion origin="layout" path="M 0 0 L 0 -0.096296" pathEditMode="relative" ptsTypes="AA">
                                      <p:cBhvr>
                                        <p:cTn id="24" dur="900" fill="hold"/>
                                        <p:tgtEl>
                                          <p:spTgt spid="32"/>
                                        </p:tgtEl>
                                        <p:attrNameLst>
                                          <p:attrName>ppt_x</p:attrName>
                                          <p:attrName>ppt_y</p:attrName>
                                        </p:attrNameLst>
                                      </p:cBhvr>
                                    </p:animMotion>
                                  </p:childTnLst>
                                </p:cTn>
                              </p:par>
                              <p:par>
                                <p:cTn id="25" presetID="0" presetClass="path" presetSubtype="0" accel="40000" decel="40000" fill="hold" nodeType="withEffect">
                                  <p:stCondLst>
                                    <p:cond delay="0"/>
                                  </p:stCondLst>
                                  <p:childTnLst>
                                    <p:animMotion origin="layout" path="M 0 0 L 0 -0.12037" pathEditMode="relative" ptsTypes="AA">
                                      <p:cBhvr>
                                        <p:cTn id="26" dur="900" fill="hold"/>
                                        <p:tgtEl>
                                          <p:spTgt spid="33"/>
                                        </p:tgtEl>
                                        <p:attrNameLst>
                                          <p:attrName>ppt_x</p:attrName>
                                          <p:attrName>ppt_y</p:attrName>
                                        </p:attrNameLst>
                                      </p:cBhvr>
                                    </p:animMotion>
                                  </p:childTnLst>
                                </p:cTn>
                              </p:par>
                              <p:par>
                                <p:cTn id="27" presetID="0" presetClass="path" presetSubtype="0" accel="40000" decel="40000" fill="hold" nodeType="withEffect">
                                  <p:stCondLst>
                                    <p:cond delay="0"/>
                                  </p:stCondLst>
                                  <p:childTnLst>
                                    <p:animMotion origin="layout" path="M 0 0 L 0 -0.12037" pathEditMode="relative" ptsTypes="AA">
                                      <p:cBhvr>
                                        <p:cTn id="28" dur="900" fill="hold"/>
                                        <p:tgtEl>
                                          <p:spTgt spid="34"/>
                                        </p:tgtEl>
                                        <p:attrNameLst>
                                          <p:attrName>ppt_x</p:attrName>
                                          <p:attrName>ppt_y</p:attrName>
                                        </p:attrNameLst>
                                      </p:cBhvr>
                                    </p:animMotion>
                                  </p:childTnLst>
                                </p:cTn>
                              </p:par>
                              <p:par>
                                <p:cTn id="29" presetID="0" presetClass="path" presetSubtype="0" accel="40000" decel="40000" fill="hold" nodeType="withEffect">
                                  <p:stCondLst>
                                    <p:cond delay="0"/>
                                  </p:stCondLst>
                                  <p:childTnLst>
                                    <p:animMotion origin="layout" path="M 0 0 L 0 -0.12037" pathEditMode="relative" ptsTypes="AA">
                                      <p:cBhvr>
                                        <p:cTn id="30" dur="900" fill="hold"/>
                                        <p:tgtEl>
                                          <p:spTgt spid="35"/>
                                        </p:tgtEl>
                                        <p:attrNameLst>
                                          <p:attrName>ppt_x</p:attrName>
                                          <p:attrName>ppt_y</p:attrName>
                                        </p:attrNameLst>
                                      </p:cBhvr>
                                    </p:animMotion>
                                  </p:childTnLst>
                                </p:cTn>
                              </p:par>
                              <p:par>
                                <p:cTn id="31" presetID="0" presetClass="path" presetSubtype="0" accel="40000" decel="40000" fill="hold" nodeType="withEffect">
                                  <p:stCondLst>
                                    <p:cond delay="0"/>
                                  </p:stCondLst>
                                  <p:childTnLst>
                                    <p:animMotion origin="layout" path="M 0 0 L 0 -0.144444" pathEditMode="relative" ptsTypes="AA">
                                      <p:cBhvr>
                                        <p:cTn id="32" dur="900" fill="hold"/>
                                        <p:tgtEl>
                                          <p:spTgt spid="36"/>
                                        </p:tgtEl>
                                        <p:attrNameLst>
                                          <p:attrName>ppt_x</p:attrName>
                                          <p:attrName>ppt_y</p:attrName>
                                        </p:attrNameLst>
                                      </p:cBhvr>
                                    </p:animMotion>
                                  </p:childTnLst>
                                </p:cTn>
                              </p:par>
                              <p:par>
                                <p:cTn id="33" presetID="0" presetClass="path" presetSubtype="0" accel="40000" decel="40000" fill="hold" nodeType="withEffect">
                                  <p:stCondLst>
                                    <p:cond delay="0"/>
                                  </p:stCondLst>
                                  <p:childTnLst>
                                    <p:animMotion origin="layout" path="M 0 0 L 0 -0.144444" pathEditMode="relative" ptsTypes="AA">
                                      <p:cBhvr>
                                        <p:cTn id="34" dur="900" fill="hold"/>
                                        <p:tgtEl>
                                          <p:spTgt spid="37"/>
                                        </p:tgtEl>
                                        <p:attrNameLst>
                                          <p:attrName>ppt_x</p:attrName>
                                          <p:attrName>ppt_y</p:attrName>
                                        </p:attrNameLst>
                                      </p:cBhvr>
                                    </p:animMotion>
                                  </p:childTnLst>
                                </p:cTn>
                              </p:par>
                              <p:par>
                                <p:cTn id="35" presetID="0" presetClass="path" presetSubtype="0" accel="40000" decel="40000" fill="hold" nodeType="withEffect">
                                  <p:stCondLst>
                                    <p:cond delay="0"/>
                                  </p:stCondLst>
                                  <p:childTnLst>
                                    <p:animMotion origin="layout" path="M 0 0 L 0 0.383333" pathEditMode="relative" ptsTypes="AA">
                                      <p:cBhvr>
                                        <p:cTn id="36" dur="900" fill="hold"/>
                                        <p:tgtEl>
                                          <p:spTgt spid="40"/>
                                        </p:tgtEl>
                                        <p:attrNameLst>
                                          <p:attrName>ppt_x</p:attrName>
                                          <p:attrName>ppt_y</p:attrName>
                                        </p:attrNameLst>
                                      </p:cBhvr>
                                    </p:animMotion>
                                  </p:childTnLst>
                                </p:cTn>
                              </p:par>
                              <p:par>
                                <p:cTn id="37" presetID="0" presetClass="path" presetSubtype="0" accel="40000" decel="40000" fill="hold" nodeType="withEffect">
                                  <p:stCondLst>
                                    <p:cond delay="0"/>
                                  </p:stCondLst>
                                  <p:childTnLst>
                                    <p:animMotion origin="layout" path="M 0 0 L -0.014583 0.335185" pathEditMode="relative" ptsTypes="AA">
                                      <p:cBhvr>
                                        <p:cTn id="38" dur="900" fill="hold"/>
                                        <p:tgtEl>
                                          <p:spTgt spid="41"/>
                                        </p:tgtEl>
                                        <p:attrNameLst>
                                          <p:attrName>ppt_x</p:attrName>
                                          <p:attrName>ppt_y</p:attrName>
                                        </p:attrNameLst>
                                      </p:cBhvr>
                                    </p:animMotion>
                                  </p:childTnLst>
                                </p:cTn>
                              </p:par>
                              <p:par>
                                <p:cTn id="39" presetID="0" presetClass="path" presetSubtype="0" accel="40000" decel="40000" fill="hold" nodeType="withEffect">
                                  <p:stCondLst>
                                    <p:cond delay="0"/>
                                  </p:stCondLst>
                                  <p:childTnLst>
                                    <p:animMotion origin="layout" path="M 0 0 L 0 0.262963" pathEditMode="relative" ptsTypes="AA">
                                      <p:cBhvr>
                                        <p:cTn id="40" dur="900" fill="hold"/>
                                        <p:tgtEl>
                                          <p:spTgt spid="42"/>
                                        </p:tgtEl>
                                        <p:attrNameLst>
                                          <p:attrName>ppt_x</p:attrName>
                                          <p:attrName>ppt_y</p:attrName>
                                        </p:attrNameLst>
                                      </p:cBhvr>
                                    </p:animMotion>
                                  </p:childTnLst>
                                </p:cTn>
                              </p:par>
                              <p:par>
                                <p:cTn id="41" presetID="0" presetClass="path" presetSubtype="0" accel="40000" decel="40000" fill="hold" nodeType="withEffect">
                                  <p:stCondLst>
                                    <p:cond delay="0"/>
                                  </p:stCondLst>
                                  <p:childTnLst>
                                    <p:animMotion origin="layout" path="M 0 0 L 0 0.214815" pathEditMode="relative" ptsTypes="AA">
                                      <p:cBhvr>
                                        <p:cTn id="42" dur="900" fill="hold"/>
                                        <p:tgtEl>
                                          <p:spTgt spid="43"/>
                                        </p:tgtEl>
                                        <p:attrNameLst>
                                          <p:attrName>ppt_x</p:attrName>
                                          <p:attrName>ppt_y</p:attrName>
                                        </p:attrNameLst>
                                      </p:cBhvr>
                                    </p:animMotion>
                                  </p:childTnLst>
                                </p:cTn>
                              </p:par>
                              <p:par>
                                <p:cTn id="43" presetID="0" presetClass="path" presetSubtype="0" accel="40000" decel="40000" fill="hold" nodeType="withEffect">
                                  <p:stCondLst>
                                    <p:cond delay="0"/>
                                  </p:stCondLst>
                                  <p:childTnLst>
                                    <p:animMotion origin="layout" path="M 0 0 L -0.014583 0.142593" pathEditMode="relative" ptsTypes="AA">
                                      <p:cBhvr>
                                        <p:cTn id="44" dur="900" fill="hold"/>
                                        <p:tgtEl>
                                          <p:spTgt spid="44"/>
                                        </p:tgtEl>
                                        <p:attrNameLst>
                                          <p:attrName>ppt_x</p:attrName>
                                          <p:attrName>ppt_y</p:attrName>
                                        </p:attrNameLst>
                                      </p:cBhvr>
                                    </p:animMotion>
                                  </p:childTnLst>
                                </p:cTn>
                              </p:par>
                              <p:par>
                                <p:cTn id="45" presetID="0" presetClass="path" presetSubtype="0" accel="40000" decel="40000" fill="hold" nodeType="withEffect">
                                  <p:stCondLst>
                                    <p:cond delay="0"/>
                                  </p:stCondLst>
                                  <p:childTnLst>
                                    <p:animMotion origin="layout" path="M 0 0 L 0 0.07037" pathEditMode="relative" ptsTypes="AA">
                                      <p:cBhvr>
                                        <p:cTn id="46" dur="900" fill="hold"/>
                                        <p:tgtEl>
                                          <p:spTgt spid="45"/>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50"/>
                                        </p:tgtEl>
                                        <p:attrNameLst>
                                          <p:attrName>style.visibility</p:attrName>
                                        </p:attrNameLst>
                                      </p:cBhvr>
                                      <p:to>
                                        <p:strVal val="visible"/>
                                      </p:to>
                                    </p:set>
                                    <p:animEffect transition="in" filter="fade">
                                      <p:cBhvr>
                                        <p:cTn id="51" dur="600"/>
                                        <p:tgtEl>
                                          <p:spTgt spid="50"/>
                                        </p:tgtEl>
                                      </p:cBhvr>
                                    </p:animEffect>
                                  </p:childTnLst>
                                </p:cTn>
                              </p:par>
                              <p:par>
                                <p:cTn id="52" presetID="0" presetClass="path" presetSubtype="0" accel="40000" decel="40000" fill="hold" nodeType="withEffect">
                                  <p:stCondLst>
                                    <p:cond delay="0"/>
                                  </p:stCondLst>
                                  <p:childTnLst>
                                    <p:animMotion origin="layout" path="M 0 0.383333 L 0.5125 0.018519 " pathEditMode="relative" ptsTypes="AA">
                                      <p:cBhvr>
                                        <p:cTn id="53" dur="900" fill="hold"/>
                                        <p:tgtEl>
                                          <p:spTgt spid="40"/>
                                        </p:tgtEl>
                                        <p:attrNameLst>
                                          <p:attrName>ppt_x</p:attrName>
                                          <p:attrName>ppt_y</p:attrName>
                                        </p:attrNameLst>
                                      </p:cBhvr>
                                    </p:animMotion>
                                  </p:childTnLst>
                                </p:cTn>
                              </p:par>
                              <p:par>
                                <p:cTn id="54" presetID="0" presetClass="path" presetSubtype="0" accel="40000" decel="40000" fill="hold" nodeType="withEffect">
                                  <p:stCondLst>
                                    <p:cond delay="0"/>
                                  </p:stCondLst>
                                  <p:childTnLst>
                                    <p:animMotion origin="layout" path="M -0.014583 0.335185 L 0.497917 -0.016667 " pathEditMode="relative" ptsTypes="AA">
                                      <p:cBhvr>
                                        <p:cTn id="55" dur="900" fill="hold"/>
                                        <p:tgtEl>
                                          <p:spTgt spid="41"/>
                                        </p:tgtEl>
                                        <p:attrNameLst>
                                          <p:attrName>ppt_x</p:attrName>
                                          <p:attrName>ppt_y</p:attrName>
                                        </p:attrNameLst>
                                      </p:cBhvr>
                                    </p:animMotion>
                                  </p:childTnLst>
                                </p:cTn>
                              </p:par>
                              <p:par>
                                <p:cTn id="56" presetID="0" presetClass="path" presetSubtype="0" accel="40000" decel="40000" fill="hold" nodeType="withEffect">
                                  <p:stCondLst>
                                    <p:cond delay="0"/>
                                  </p:stCondLst>
                                  <p:childTnLst>
                                    <p:animMotion origin="layout" path="M 0 0.262963 L 0.5125 -0.075926 " pathEditMode="relative" ptsTypes="AA">
                                      <p:cBhvr>
                                        <p:cTn id="57" dur="900" fill="hold"/>
                                        <p:tgtEl>
                                          <p:spTgt spid="42"/>
                                        </p:tgtEl>
                                        <p:attrNameLst>
                                          <p:attrName>ppt_x</p:attrName>
                                          <p:attrName>ppt_y</p:attrName>
                                        </p:attrNameLst>
                                      </p:cBhvr>
                                    </p:animMotion>
                                  </p:childTnLst>
                                </p:cTn>
                              </p:par>
                              <p:par>
                                <p:cTn id="58" presetID="0" presetClass="path" presetSubtype="0" accel="40000" decel="40000" fill="hold" nodeType="withEffect">
                                  <p:stCondLst>
                                    <p:cond delay="0"/>
                                  </p:stCondLst>
                                  <p:childTnLst>
                                    <p:animMotion origin="layout" path="M 0 0.214815 L 0.5125 -0.111111 " pathEditMode="relative" ptsTypes="AA">
                                      <p:cBhvr>
                                        <p:cTn id="59" dur="900" fill="hold"/>
                                        <p:tgtEl>
                                          <p:spTgt spid="43"/>
                                        </p:tgtEl>
                                        <p:attrNameLst>
                                          <p:attrName>ppt_x</p:attrName>
                                          <p:attrName>ppt_y</p:attrName>
                                        </p:attrNameLst>
                                      </p:cBhvr>
                                    </p:animMotion>
                                  </p:childTnLst>
                                </p:cTn>
                              </p:par>
                              <p:par>
                                <p:cTn id="60" presetID="0" presetClass="path" presetSubtype="0" accel="40000" decel="40000" fill="hold" nodeType="withEffect">
                                  <p:stCondLst>
                                    <p:cond delay="0"/>
                                  </p:stCondLst>
                                  <p:childTnLst>
                                    <p:animMotion origin="layout" path="M -0.014583 0.142593 L 0.497917 -0.170370 " pathEditMode="relative" ptsTypes="AA">
                                      <p:cBhvr>
                                        <p:cTn id="61" dur="900" fill="hold"/>
                                        <p:tgtEl>
                                          <p:spTgt spid="44"/>
                                        </p:tgtEl>
                                        <p:attrNameLst>
                                          <p:attrName>ppt_x</p:attrName>
                                          <p:attrName>ppt_y</p:attrName>
                                        </p:attrNameLst>
                                      </p:cBhvr>
                                    </p:animMotion>
                                  </p:childTnLst>
                                </p:cTn>
                              </p:par>
                              <p:par>
                                <p:cTn id="62" presetID="0" presetClass="path" presetSubtype="0" accel="40000" decel="40000" fill="hold" nodeType="withEffect">
                                  <p:stCondLst>
                                    <p:cond delay="0"/>
                                  </p:stCondLst>
                                  <p:childTnLst>
                                    <p:animMotion origin="layout" path="M 0 0.07037 L 0.5125 -0.229630 " pathEditMode="relative" ptsTypes="AA">
                                      <p:cBhvr>
                                        <p:cTn id="63" dur="900" fill="hold"/>
                                        <p:tgtEl>
                                          <p:spTgt spid="4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B0BEA-6B63-390D-B0FA-8318B6D87F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9E2A52-4F5E-F193-0CC9-AFB15ADCD60C}"/>
              </a:ext>
            </a:extLst>
          </p:cNvPr>
          <p:cNvSpPr txBox="1"/>
          <p:nvPr/>
        </p:nvSpPr>
        <p:spPr>
          <a:xfrm>
            <a:off x="4925392" y="2819400"/>
            <a:ext cx="2341218" cy="707886"/>
          </a:xfrm>
          <a:prstGeom prst="rect">
            <a:avLst/>
          </a:prstGeom>
          <a:noFill/>
        </p:spPr>
        <p:txBody>
          <a:bodyPr wrap="none" rtlCol="0">
            <a:spAutoFit/>
          </a:bodyPr>
          <a:lstStyle/>
          <a:p>
            <a:pPr algn="ctr">
              <a:buNone/>
            </a:pPr>
            <a:r>
              <a:rPr lang="en-US" sz="4000" b="1" dirty="0">
                <a:solidFill>
                  <a:srgbClr val="1F3A5F"/>
                </a:solidFill>
              </a:rPr>
              <a:t>Validate?</a:t>
            </a:r>
          </a:p>
        </p:txBody>
      </p:sp>
      <p:sp>
        <p:nvSpPr>
          <p:cNvPr id="50" name="accent">
            <a:extLst>
              <a:ext uri="{FF2B5EF4-FFF2-40B4-BE49-F238E27FC236}">
                <a16:creationId xmlns:a16="http://schemas.microsoft.com/office/drawing/2014/main" id="{9B12B581-0697-A701-016F-6675D761DDA8}"/>
              </a:ext>
            </a:extLst>
          </p:cNvPr>
          <p:cNvSpPr/>
          <p:nvPr/>
        </p:nvSpPr>
        <p:spPr>
          <a:xfrm>
            <a:off x="5461000" y="3810000"/>
            <a:ext cx="1270000" cy="63500"/>
          </a:xfrm>
          <a:prstGeom prst="rect">
            <a:avLst/>
          </a:prstGeom>
          <a:solidFill>
            <a:srgbClr val="5A7D5A"/>
          </a:solidFill>
          <a:ln>
            <a:noFill/>
          </a:ln>
        </p:spPr>
        <p:txBody>
          <a:bodyPr/>
          <a:lstStyle/>
          <a:p>
            <a:endParaRPr/>
          </a:p>
        </p:txBody>
      </p:sp>
      <p:grpSp>
        <p:nvGrpSpPr>
          <p:cNvPr id="4" name="Group 3">
            <a:extLst>
              <a:ext uri="{FF2B5EF4-FFF2-40B4-BE49-F238E27FC236}">
                <a16:creationId xmlns:a16="http://schemas.microsoft.com/office/drawing/2014/main" id="{21B1837C-AB77-45FF-1ACA-23353689EB34}"/>
              </a:ext>
            </a:extLst>
          </p:cNvPr>
          <p:cNvGrpSpPr/>
          <p:nvPr/>
        </p:nvGrpSpPr>
        <p:grpSpPr>
          <a:xfrm>
            <a:off x="9243724" y="793326"/>
            <a:ext cx="1665284" cy="461665"/>
            <a:chOff x="6359523" y="2343503"/>
            <a:chExt cx="1665284" cy="461665"/>
          </a:xfrm>
        </p:grpSpPr>
        <p:sp>
          <p:nvSpPr>
            <p:cNvPr id="5" name="Rounded Rectangle 4">
              <a:extLst>
                <a:ext uri="{FF2B5EF4-FFF2-40B4-BE49-F238E27FC236}">
                  <a16:creationId xmlns:a16="http://schemas.microsoft.com/office/drawing/2014/main" id="{86C474BB-D655-2BE2-2F4E-192D64DD6888}"/>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04264E2-C1C1-C2CD-26D2-5CFFE85653ED}"/>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C63D78BC-1441-2ED6-AD9A-192BB6D2F16B}"/>
              </a:ext>
            </a:extLst>
          </p:cNvPr>
          <p:cNvSpPr txBox="1"/>
          <p:nvPr/>
        </p:nvSpPr>
        <p:spPr>
          <a:xfrm>
            <a:off x="4747910" y="4101238"/>
            <a:ext cx="2518700" cy="261610"/>
          </a:xfrm>
          <a:prstGeom prst="rect">
            <a:avLst/>
          </a:prstGeom>
          <a:noFill/>
        </p:spPr>
        <p:txBody>
          <a:bodyPr wrap="square">
            <a:spAutoFit/>
          </a:bodyPr>
          <a:lstStyle/>
          <a:p>
            <a:pPr algn="ctr">
              <a:lnSpc>
                <a:spcPct val="100000"/>
              </a:lnSpc>
              <a:buNone/>
            </a:pPr>
            <a:r>
              <a:rPr lang="en-US" sz="1100" dirty="0">
                <a:solidFill>
                  <a:srgbClr val="415A77"/>
                </a:solidFill>
                <a:latin typeface="Consolas"/>
              </a:rPr>
              <a:t>Let’s look at the commit…</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9462625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0902B-39FA-F25A-69D9-05E5CB15054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793ADB-A303-2B70-3658-106191F4A858}"/>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196745714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3786B-683A-A7B0-2C83-64EC728308D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DDB37D-C8C9-8599-CD4F-B3F37A586A6D}"/>
              </a:ext>
            </a:extLst>
          </p:cNvPr>
          <p:cNvSpPr txBox="1"/>
          <p:nvPr/>
        </p:nvSpPr>
        <p:spPr>
          <a:xfrm>
            <a:off x="4734938" y="2819400"/>
            <a:ext cx="2722156" cy="707886"/>
          </a:xfrm>
          <a:prstGeom prst="rect">
            <a:avLst/>
          </a:prstGeom>
          <a:noFill/>
        </p:spPr>
        <p:txBody>
          <a:bodyPr wrap="none" rtlCol="0">
            <a:spAutoFit/>
          </a:bodyPr>
          <a:lstStyle/>
          <a:p>
            <a:pPr algn="ctr">
              <a:buNone/>
            </a:pPr>
            <a:r>
              <a:rPr lang="en-US" sz="4000" b="1" dirty="0">
                <a:solidFill>
                  <a:srgbClr val="1F3A5F"/>
                </a:solidFill>
              </a:rPr>
              <a:t>So what?!?</a:t>
            </a:r>
          </a:p>
        </p:txBody>
      </p:sp>
      <p:sp>
        <p:nvSpPr>
          <p:cNvPr id="50" name="accent">
            <a:extLst>
              <a:ext uri="{FF2B5EF4-FFF2-40B4-BE49-F238E27FC236}">
                <a16:creationId xmlns:a16="http://schemas.microsoft.com/office/drawing/2014/main" id="{6286AA20-74B1-287E-BF1A-74231B33D799}"/>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99859689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4B300-AB27-BC38-2181-7233449D2BBF}"/>
            </a:ext>
          </a:extLst>
        </p:cNvPr>
        <p:cNvGrpSpPr/>
        <p:nvPr/>
      </p:nvGrpSpPr>
      <p:grpSpPr>
        <a:xfrm>
          <a:off x="0" y="0"/>
          <a:ext cx="0" cy="0"/>
          <a:chOff x="0" y="0"/>
          <a:chExt cx="0" cy="0"/>
        </a:xfrm>
      </p:grpSpPr>
      <p:sp>
        <p:nvSpPr>
          <p:cNvPr id="2" name="guidechip">
            <a:extLst>
              <a:ext uri="{FF2B5EF4-FFF2-40B4-BE49-F238E27FC236}">
                <a16:creationId xmlns:a16="http://schemas.microsoft.com/office/drawing/2014/main" id="{FDA590F2-6ECD-0D44-BB84-6B5CDD8C91FC}"/>
              </a:ext>
            </a:extLst>
          </p:cNvPr>
          <p:cNvSpPr/>
          <p:nvPr/>
        </p:nvSpPr>
        <p:spPr>
          <a:xfrm>
            <a:off x="3711590" y="2505204"/>
            <a:ext cx="3182191" cy="281543"/>
          </a:xfrm>
          <a:prstGeom prst="roundRect">
            <a:avLst>
              <a:gd name="adj" fmla="val 25000"/>
            </a:avLst>
          </a:prstGeom>
          <a:solidFill>
            <a:srgbClr val="FBE49B"/>
          </a:solidFill>
          <a:ln>
            <a:noFill/>
          </a:ln>
        </p:spPr>
        <p:txBody>
          <a:bodyPr/>
          <a:lstStyle/>
          <a:p>
            <a:endParaRPr/>
          </a:p>
        </p:txBody>
      </p:sp>
      <p:sp>
        <p:nvSpPr>
          <p:cNvPr id="4" name="guidechip">
            <a:extLst>
              <a:ext uri="{FF2B5EF4-FFF2-40B4-BE49-F238E27FC236}">
                <a16:creationId xmlns:a16="http://schemas.microsoft.com/office/drawing/2014/main" id="{9D98C992-C353-BDB8-AEA4-9AE7C5702F7B}"/>
              </a:ext>
            </a:extLst>
          </p:cNvPr>
          <p:cNvSpPr/>
          <p:nvPr/>
        </p:nvSpPr>
        <p:spPr>
          <a:xfrm>
            <a:off x="2819400" y="3501317"/>
            <a:ext cx="5090931" cy="281543"/>
          </a:xfrm>
          <a:prstGeom prst="roundRect">
            <a:avLst>
              <a:gd name="adj" fmla="val 25000"/>
            </a:avLst>
          </a:prstGeom>
          <a:solidFill>
            <a:srgbClr val="FBE49B"/>
          </a:solidFill>
          <a:ln>
            <a:noFill/>
          </a:ln>
        </p:spPr>
        <p:txBody>
          <a:bodyPr/>
          <a:lstStyle/>
          <a:p>
            <a:endParaRPr/>
          </a:p>
        </p:txBody>
      </p:sp>
      <p:sp>
        <p:nvSpPr>
          <p:cNvPr id="5" name="guidechip">
            <a:extLst>
              <a:ext uri="{FF2B5EF4-FFF2-40B4-BE49-F238E27FC236}">
                <a16:creationId xmlns:a16="http://schemas.microsoft.com/office/drawing/2014/main" id="{EEDC8280-DB06-714B-F14D-7101AEC6A345}"/>
              </a:ext>
            </a:extLst>
          </p:cNvPr>
          <p:cNvSpPr/>
          <p:nvPr/>
        </p:nvSpPr>
        <p:spPr>
          <a:xfrm>
            <a:off x="1413064" y="3782860"/>
            <a:ext cx="5018906" cy="187830"/>
          </a:xfrm>
          <a:prstGeom prst="roundRect">
            <a:avLst>
              <a:gd name="adj" fmla="val 25000"/>
            </a:avLst>
          </a:prstGeom>
          <a:solidFill>
            <a:srgbClr val="FBE49B"/>
          </a:solidFill>
          <a:ln>
            <a:noFill/>
          </a:ln>
        </p:spPr>
        <p:txBody>
          <a:bodyPr/>
          <a:lstStyle/>
          <a:p>
            <a:endParaRPr/>
          </a:p>
        </p:txBody>
      </p:sp>
      <p:sp>
        <p:nvSpPr>
          <p:cNvPr id="7" name="guidechip">
            <a:extLst>
              <a:ext uri="{FF2B5EF4-FFF2-40B4-BE49-F238E27FC236}">
                <a16:creationId xmlns:a16="http://schemas.microsoft.com/office/drawing/2014/main" id="{00F3DDF7-F0DF-907A-247E-B9574F7D5FD2}"/>
              </a:ext>
            </a:extLst>
          </p:cNvPr>
          <p:cNvSpPr/>
          <p:nvPr/>
        </p:nvSpPr>
        <p:spPr>
          <a:xfrm>
            <a:off x="4210688" y="3945288"/>
            <a:ext cx="5018906" cy="367043"/>
          </a:xfrm>
          <a:prstGeom prst="roundRect">
            <a:avLst>
              <a:gd name="adj" fmla="val 25000"/>
            </a:avLst>
          </a:prstGeom>
          <a:solidFill>
            <a:srgbClr val="FBE49B"/>
          </a:solidFill>
          <a:ln>
            <a:noFill/>
          </a:ln>
        </p:spPr>
        <p:txBody>
          <a:bodyPr/>
          <a:lstStyle/>
          <a:p>
            <a:endParaRPr/>
          </a:p>
        </p:txBody>
      </p:sp>
      <p:sp>
        <p:nvSpPr>
          <p:cNvPr id="8" name="guidechip">
            <a:extLst>
              <a:ext uri="{FF2B5EF4-FFF2-40B4-BE49-F238E27FC236}">
                <a16:creationId xmlns:a16="http://schemas.microsoft.com/office/drawing/2014/main" id="{4CAB8CAA-4694-E80C-553D-13D82DE5E71D}"/>
              </a:ext>
            </a:extLst>
          </p:cNvPr>
          <p:cNvSpPr/>
          <p:nvPr/>
        </p:nvSpPr>
        <p:spPr>
          <a:xfrm>
            <a:off x="2683933" y="3234967"/>
            <a:ext cx="5816600" cy="281543"/>
          </a:xfrm>
          <a:prstGeom prst="roundRect">
            <a:avLst>
              <a:gd name="adj" fmla="val 25000"/>
            </a:avLst>
          </a:prstGeom>
          <a:solidFill>
            <a:srgbClr val="FBE49B"/>
          </a:solidFill>
          <a:ln>
            <a:noFill/>
          </a:ln>
        </p:spPr>
        <p:txBody>
          <a:bodyPr/>
          <a:lstStyle/>
          <a:p>
            <a:endParaRPr/>
          </a:p>
        </p:txBody>
      </p:sp>
      <p:sp>
        <p:nvSpPr>
          <p:cNvPr id="6" name="TextBox 5">
            <a:extLst>
              <a:ext uri="{FF2B5EF4-FFF2-40B4-BE49-F238E27FC236}">
                <a16:creationId xmlns:a16="http://schemas.microsoft.com/office/drawing/2014/main" id="{7D67F599-2E20-2CEA-8977-F0F80D018C81}"/>
              </a:ext>
            </a:extLst>
          </p:cNvPr>
          <p:cNvSpPr txBox="1">
            <a:spLocks noGrp="1" noRot="1" noMove="1" noResize="1" noEditPoints="1" noAdjustHandles="1" noChangeArrowheads="1" noChangeShapeType="1"/>
          </p:cNvSpPr>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701954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9CC57-18E2-9356-A319-87BFEFBCF0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C3EACE8-CDBC-239F-1FBA-6BF437D82DCA}"/>
              </a:ext>
            </a:extLst>
          </p:cNvPr>
          <p:cNvPicPr>
            <a:picLocks noChangeAspect="1"/>
          </p:cNvPicPr>
          <p:nvPr/>
        </p:nvPicPr>
        <p:blipFill>
          <a:blip r:embed="rId2"/>
          <a:stretch>
            <a:fillRect/>
          </a:stretch>
        </p:blipFill>
        <p:spPr>
          <a:xfrm>
            <a:off x="357847" y="958958"/>
            <a:ext cx="11490887" cy="5592319"/>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1C871322-8F6C-525F-DC39-80C90C1631F3}"/>
              </a:ext>
            </a:extLst>
          </p:cNvPr>
          <p:cNvGrpSpPr/>
          <p:nvPr/>
        </p:nvGrpSpPr>
        <p:grpSpPr>
          <a:xfrm>
            <a:off x="10183450" y="346156"/>
            <a:ext cx="1665284" cy="461665"/>
            <a:chOff x="6359523" y="2343503"/>
            <a:chExt cx="1665284" cy="461665"/>
          </a:xfrm>
        </p:grpSpPr>
        <p:sp>
          <p:nvSpPr>
            <p:cNvPr id="4" name="Rounded Rectangle 3">
              <a:extLst>
                <a:ext uri="{FF2B5EF4-FFF2-40B4-BE49-F238E27FC236}">
                  <a16:creationId xmlns:a16="http://schemas.microsoft.com/office/drawing/2014/main" id="{47D8E133-1F9C-7541-FA79-43ADEE889557}"/>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93CCE4-A1FE-0650-6670-E1120E2DD49C}"/>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65178429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393B4-0F33-ACEB-35C8-9FF8C6003C8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29CBBC7-AEC8-2DEF-3F7E-CF3EDC8F51B5}"/>
              </a:ext>
            </a:extLst>
          </p:cNvPr>
          <p:cNvSpPr txBox="1">
            <a:spLocks noGrp="1" noRot="1" noMove="1" noResize="1" noEditPoints="1" noAdjustHandles="1" noChangeArrowheads="1" noChangeShapeType="1"/>
          </p:cNvSpPr>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5823115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6DDE5-7692-7A60-2A74-8CB8ED2C2B0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7F6209D-275E-1D0B-3A9E-D3EFEFC8C148}"/>
              </a:ext>
            </a:extLst>
          </p:cNvPr>
          <p:cNvSpPr txBox="1">
            <a:spLocks noGrp="1" noRot="1" noMove="1" noResize="1" noEditPoints="1" noAdjustHandles="1" noChangeArrowheads="1" noChangeShapeType="1"/>
          </p:cNvSpPr>
          <p:nvPr/>
        </p:nvSpPr>
        <p:spPr>
          <a:xfrm>
            <a:off x="508000" y="787400"/>
            <a:ext cx="9250597" cy="3293209"/>
          </a:xfrm>
          <a:prstGeom prst="rect">
            <a:avLst/>
          </a:prstGeom>
          <a:noFill/>
        </p:spPr>
        <p:txBody>
          <a:bodyPr wrap="square">
            <a:spAutoFit/>
          </a:bodyPr>
          <a:lstStyle/>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p:txBody>
      </p:sp>
      <p:sp>
        <p:nvSpPr>
          <p:cNvPr id="2" name="sw">
            <a:extLst>
              <a:ext uri="{FF2B5EF4-FFF2-40B4-BE49-F238E27FC236}">
                <a16:creationId xmlns:a16="http://schemas.microsoft.com/office/drawing/2014/main" id="{EE3452A0-82A3-2806-E1B4-62D372796EAB}"/>
              </a:ext>
            </a:extLst>
          </p:cNvPr>
          <p:cNvSpPr/>
          <p:nvPr/>
        </p:nvSpPr>
        <p:spPr>
          <a:xfrm>
            <a:off x="6921941" y="415925"/>
            <a:ext cx="3104653" cy="1611658"/>
          </a:xfrm>
          <a:prstGeom prst="roundRect">
            <a:avLst>
              <a:gd name="adj" fmla="val 8000"/>
            </a:avLst>
          </a:prstGeom>
          <a:solidFill>
            <a:srgbClr val="1F3A5F"/>
          </a:solidFill>
          <a:ln>
            <a:noFill/>
          </a:ln>
        </p:spPr>
        <p:txBody>
          <a:bodyPr lIns="0" rIns="0" anchor="t"/>
          <a:lstStyle/>
          <a:p>
            <a:pPr algn="ctr">
              <a:buNone/>
            </a:pPr>
            <a:r>
              <a:rPr lang="en-US" sz="975" b="1" dirty="0" err="1">
                <a:solidFill>
                  <a:srgbClr val="FFFFFF"/>
                </a:solidFill>
              </a:rPr>
              <a:t>MemberOrganizationController</a:t>
            </a:r>
            <a:endParaRPr lang="en-US" sz="975" b="1" dirty="0">
              <a:solidFill>
                <a:srgbClr val="FFFFFF"/>
              </a:solidFill>
            </a:endParaRPr>
          </a:p>
        </p:txBody>
      </p:sp>
      <p:sp>
        <p:nvSpPr>
          <p:cNvPr id="7" name="sw">
            <a:extLst>
              <a:ext uri="{FF2B5EF4-FFF2-40B4-BE49-F238E27FC236}">
                <a16:creationId xmlns:a16="http://schemas.microsoft.com/office/drawing/2014/main" id="{18444404-A8C9-EED7-EA06-E7FB59D86D3C}"/>
              </a:ext>
            </a:extLst>
          </p:cNvPr>
          <p:cNvSpPr/>
          <p:nvPr/>
        </p:nvSpPr>
        <p:spPr>
          <a:xfrm>
            <a:off x="7967717" y="682156"/>
            <a:ext cx="1790879" cy="1242060"/>
          </a:xfrm>
          <a:prstGeom prst="roundRect">
            <a:avLst>
              <a:gd name="adj" fmla="val 8000"/>
            </a:avLst>
          </a:prstGeom>
          <a:solidFill>
            <a:srgbClr val="6B7280"/>
          </a:solidFill>
          <a:ln>
            <a:noFill/>
          </a:ln>
        </p:spPr>
        <p:txBody>
          <a:bodyPr lIns="0" rIns="0" anchor="t"/>
          <a:lstStyle/>
          <a:p>
            <a:pPr algn="ctr">
              <a:buNone/>
            </a:pPr>
            <a:r>
              <a:rPr lang="en-US" sz="975" b="1" dirty="0" err="1">
                <a:solidFill>
                  <a:srgbClr val="FFFFFF"/>
                </a:solidFill>
              </a:rPr>
              <a:t>QuickBooksService</a:t>
            </a:r>
            <a:endParaRPr lang="en-US" sz="975" b="1" dirty="0">
              <a:solidFill>
                <a:srgbClr val="FFFFFF"/>
              </a:solidFill>
            </a:endParaRPr>
          </a:p>
        </p:txBody>
      </p:sp>
      <p:sp>
        <p:nvSpPr>
          <p:cNvPr id="8" name="sw">
            <a:extLst>
              <a:ext uri="{FF2B5EF4-FFF2-40B4-BE49-F238E27FC236}">
                <a16:creationId xmlns:a16="http://schemas.microsoft.com/office/drawing/2014/main" id="{8D994DF5-44DB-086D-4AB1-AA00DA8B1F21}"/>
              </a:ext>
            </a:extLst>
          </p:cNvPr>
          <p:cNvSpPr/>
          <p:nvPr/>
        </p:nvSpPr>
        <p:spPr>
          <a:xfrm>
            <a:off x="8500939" y="1053631"/>
            <a:ext cx="1162050" cy="742950"/>
          </a:xfrm>
          <a:prstGeom prst="roundRect">
            <a:avLst>
              <a:gd name="adj" fmla="val 8000"/>
            </a:avLst>
          </a:prstGeom>
          <a:solidFill>
            <a:srgbClr val="DCE3EC"/>
          </a:solidFill>
          <a:ln>
            <a:noFill/>
          </a:ln>
        </p:spPr>
        <p:txBody>
          <a:bodyPr lIns="0" rIns="0" anchor="ctr"/>
          <a:lstStyle/>
          <a:p>
            <a:pPr algn="ctr">
              <a:buNone/>
            </a:pPr>
            <a:r>
              <a:rPr lang="en-US" sz="975" b="1" dirty="0">
                <a:solidFill>
                  <a:srgbClr val="1F3A5F"/>
                </a:solidFill>
              </a:rPr>
              <a:t>Logger</a:t>
            </a:r>
          </a:p>
        </p:txBody>
      </p:sp>
    </p:spTree>
    <p:extLst>
      <p:ext uri="{BB962C8B-B14F-4D97-AF65-F5344CB8AC3E}">
        <p14:creationId xmlns:p14="http://schemas.microsoft.com/office/powerpoint/2010/main" val="1904703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07FEFE0-EB07-3839-4647-E2A659849EC5}"/>
              </a:ext>
            </a:extLst>
          </p:cNvPr>
          <p:cNvSpPr txBox="1"/>
          <p:nvPr/>
        </p:nvSpPr>
        <p:spPr>
          <a:xfrm>
            <a:off x="371605" y="551289"/>
            <a:ext cx="11448789" cy="5755422"/>
          </a:xfrm>
          <a:prstGeom prst="rect">
            <a:avLst/>
          </a:prstGeom>
          <a:noFill/>
        </p:spPr>
        <p:txBody>
          <a:bodyPr wrap="square">
            <a:spAutoFit/>
          </a:bodyPr>
          <a:lstStyle/>
          <a:p>
            <a:pPr marL="0" indent="0">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ILogger</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 logger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IBlobStorageService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blobStorageService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IOptions</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 </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0" indent="0">
              <a:buNone/>
            </a:pP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a:solidFill>
                  <a:srgbClr val="0000FF"/>
                </a:solidFill>
                <a:effectLst/>
                <a:latin typeface="Fira Code" panose="020B0809050000020004" pitchFamily="49" charset="0"/>
                <a:ea typeface="Fira Code" panose="020B0809050000020004" pitchFamily="49" charset="0"/>
              </a:rPr>
              <a:t>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CompanyManager.CreateNull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LanguageManager.CreateNull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SurveyManager.CreateNull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blobStorageService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BlobStorageService.CreateNull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HubSpotService.CreateNull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NullOptions.Create</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PaymentAuditService.CreateNull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a:solidFill>
                  <a:srgbClr val="000000"/>
                </a:solidFill>
                <a:effectLst/>
                <a:latin typeface="Fira Code" panose="020B0809050000020004" pitchFamily="49" charset="0"/>
                <a:ea typeface="Fira Code" panose="020B0809050000020004" pitchFamily="49" charset="0"/>
              </a:rPr>
              <a:t>logger ?? </a:t>
            </a:r>
            <a:r>
              <a:rPr lang="en-US" sz="1600" b="0" dirty="0" err="1">
                <a:solidFill>
                  <a:srgbClr val="000000"/>
                </a:solidFill>
                <a:effectLst/>
                <a:latin typeface="Fira Code" panose="020B0809050000020004" pitchFamily="49" charset="0"/>
                <a:ea typeface="Fira Code" panose="020B0809050000020004" pitchFamily="49" charset="0"/>
              </a:rPr>
              <a:t>ConsoleLogger.CreateNull</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a:t>
            </a:r>
          </a:p>
          <a:p>
            <a:pPr marL="342900" indent="0">
              <a:buNone/>
            </a:pPr>
            <a:r>
              <a:rPr lang="en-US" sz="1600" b="0" dirty="0">
                <a:solidFill>
                  <a:srgbClr val="000000"/>
                </a:solidFill>
                <a:effectLst/>
                <a:latin typeface="Fira Code" panose="020B0809050000020004" pitchFamily="49" charset="0"/>
                <a:ea typeface="Fira Code" panose="020B0809050000020004" pitchFamily="49" charset="0"/>
              </a:rPr>
              <a:t>);</a:t>
            </a:r>
          </a:p>
          <a:p>
            <a:pPr marL="0" indent="0">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2850745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A717B-0019-E265-756D-70E5A239F8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CFFD7C-87B9-BBFB-FFA3-B6950AB19B13}"/>
              </a:ext>
            </a:extLst>
          </p:cNvPr>
          <p:cNvSpPr txBox="1"/>
          <p:nvPr/>
        </p:nvSpPr>
        <p:spPr>
          <a:xfrm>
            <a:off x="2522447" y="2819400"/>
            <a:ext cx="7147149" cy="707886"/>
          </a:xfrm>
          <a:prstGeom prst="rect">
            <a:avLst/>
          </a:prstGeom>
          <a:noFill/>
        </p:spPr>
        <p:txBody>
          <a:bodyPr wrap="none" rtlCol="0">
            <a:spAutoFit/>
          </a:bodyPr>
          <a:lstStyle/>
          <a:p>
            <a:pPr algn="ctr">
              <a:buNone/>
            </a:pPr>
            <a:r>
              <a:rPr lang="en-US" sz="4000" b="1" dirty="0">
                <a:solidFill>
                  <a:srgbClr val="1F3A5F"/>
                </a:solidFill>
              </a:rPr>
              <a:t>Dependence Injection Pattern</a:t>
            </a:r>
          </a:p>
        </p:txBody>
      </p:sp>
      <p:sp>
        <p:nvSpPr>
          <p:cNvPr id="50" name="accent">
            <a:extLst>
              <a:ext uri="{FF2B5EF4-FFF2-40B4-BE49-F238E27FC236}">
                <a16:creationId xmlns:a16="http://schemas.microsoft.com/office/drawing/2014/main" id="{212F1892-FFDE-B4D7-8169-AAB92A34E070}"/>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F67FF9DD-A257-4BAD-7196-811945995376}"/>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308F5DE3-97AA-67CC-85E2-DC19AE3BA507}"/>
              </a:ext>
            </a:extLst>
          </p:cNvPr>
          <p:cNvSpPr txBox="1"/>
          <p:nvPr/>
        </p:nvSpPr>
        <p:spPr>
          <a:xfrm>
            <a:off x="3030096" y="4156214"/>
            <a:ext cx="6131807" cy="461665"/>
          </a:xfrm>
          <a:prstGeom prst="rect">
            <a:avLst/>
          </a:prstGeom>
          <a:noFill/>
        </p:spPr>
        <p:txBody>
          <a:bodyPr wrap="none" rtlCol="0">
            <a:spAutoFit/>
          </a:bodyPr>
          <a:lstStyle/>
          <a:p>
            <a:pPr algn="l">
              <a:buNone/>
            </a:pPr>
            <a:r>
              <a:rPr lang="en-US" sz="2400" b="1" dirty="0">
                <a:solidFill>
                  <a:srgbClr val="1F3A5F"/>
                </a:solidFill>
                <a:latin typeface="Consolas"/>
              </a:rPr>
              <a:t>All Parameters Present but Optional</a:t>
            </a:r>
          </a:p>
        </p:txBody>
      </p:sp>
    </p:spTree>
    <p:extLst>
      <p:ext uri="{BB962C8B-B14F-4D97-AF65-F5344CB8AC3E}">
        <p14:creationId xmlns:p14="http://schemas.microsoft.com/office/powerpoint/2010/main" val="230313474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95332-72AD-DFAE-0215-56E6DCD49E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8B925A0-A3C2-118B-9BA5-5FE2037A46AE}"/>
              </a:ext>
            </a:extLst>
          </p:cNvPr>
          <p:cNvSpPr txBox="1"/>
          <p:nvPr/>
        </p:nvSpPr>
        <p:spPr>
          <a:xfrm>
            <a:off x="3729755" y="2819400"/>
            <a:ext cx="4732513" cy="707886"/>
          </a:xfrm>
          <a:prstGeom prst="rect">
            <a:avLst/>
          </a:prstGeom>
          <a:noFill/>
        </p:spPr>
        <p:txBody>
          <a:bodyPr wrap="none" rtlCol="0">
            <a:spAutoFit/>
          </a:bodyPr>
          <a:lstStyle/>
          <a:p>
            <a:pPr algn="ctr">
              <a:buNone/>
            </a:pPr>
            <a:r>
              <a:rPr lang="en-US" sz="4000" b="1" dirty="0">
                <a:solidFill>
                  <a:srgbClr val="1F3A5F"/>
                </a:solidFill>
              </a:rPr>
              <a:t>Property based test</a:t>
            </a:r>
          </a:p>
        </p:txBody>
      </p:sp>
      <p:sp>
        <p:nvSpPr>
          <p:cNvPr id="50" name="accent">
            <a:extLst>
              <a:ext uri="{FF2B5EF4-FFF2-40B4-BE49-F238E27FC236}">
                <a16:creationId xmlns:a16="http://schemas.microsoft.com/office/drawing/2014/main" id="{866F449C-13CB-FC07-1BA9-47DF857AE312}"/>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83357118-00FE-8AED-D36F-9F3366EAF7D9}"/>
              </a:ext>
            </a:extLst>
          </p:cNvPr>
          <p:cNvSpPr txBox="1"/>
          <p:nvPr/>
        </p:nvSpPr>
        <p:spPr>
          <a:xfrm>
            <a:off x="3729755" y="2485270"/>
            <a:ext cx="2506273" cy="334130"/>
          </a:xfrm>
          <a:prstGeom prst="rect">
            <a:avLst/>
          </a:prstGeom>
          <a:noFill/>
        </p:spPr>
        <p:txBody>
          <a:bodyPr wrap="square">
            <a:spAutoFit/>
          </a:bodyPr>
          <a:lstStyle/>
          <a:p>
            <a:pPr>
              <a:lnSpc>
                <a:spcPts val="1950"/>
              </a:lnSpc>
            </a:pPr>
            <a:r>
              <a:rPr lang="en-US" sz="1500" dirty="0">
                <a:solidFill>
                  <a:srgbClr val="1F3A5F"/>
                </a:solidFill>
                <a:latin typeface="Consolas"/>
              </a:rPr>
              <a:t>Side Note:</a:t>
            </a:r>
            <a:endParaRPr lang="en-US" sz="1500" dirty="0">
              <a:solidFill>
                <a:srgbClr val="A14B4B"/>
              </a:solidFill>
              <a:latin typeface="Consolas"/>
            </a:endParaRPr>
          </a:p>
        </p:txBody>
      </p:sp>
      <p:grpSp>
        <p:nvGrpSpPr>
          <p:cNvPr id="4" name="Group 3">
            <a:extLst>
              <a:ext uri="{FF2B5EF4-FFF2-40B4-BE49-F238E27FC236}">
                <a16:creationId xmlns:a16="http://schemas.microsoft.com/office/drawing/2014/main" id="{C607FA6D-E28E-4B61-B094-09A6C3782697}"/>
              </a:ext>
            </a:extLst>
          </p:cNvPr>
          <p:cNvGrpSpPr/>
          <p:nvPr/>
        </p:nvGrpSpPr>
        <p:grpSpPr>
          <a:xfrm>
            <a:off x="6731537" y="2357735"/>
            <a:ext cx="1730731" cy="461665"/>
            <a:chOff x="3888023" y="2248422"/>
            <a:chExt cx="1730731" cy="461665"/>
          </a:xfrm>
        </p:grpSpPr>
        <p:sp>
          <p:nvSpPr>
            <p:cNvPr id="5" name="Rounded Rectangle 4">
              <a:extLst>
                <a:ext uri="{FF2B5EF4-FFF2-40B4-BE49-F238E27FC236}">
                  <a16:creationId xmlns:a16="http://schemas.microsoft.com/office/drawing/2014/main" id="{EFA2381E-F4A4-08BA-09B3-70424559574C}"/>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4C0F4AC-26C6-AAAC-D22C-1E2A181E7A75}"/>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23398516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582D7-2E4D-440A-8AEE-04E811D28A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507D5B-03B1-F1A6-27D9-96C2A969A3BF}"/>
              </a:ext>
            </a:extLst>
          </p:cNvPr>
          <p:cNvSpPr txBox="1"/>
          <p:nvPr/>
        </p:nvSpPr>
        <p:spPr>
          <a:xfrm>
            <a:off x="457200" y="330200"/>
            <a:ext cx="10490548" cy="400110"/>
          </a:xfrm>
          <a:prstGeom prst="rect">
            <a:avLst/>
          </a:prstGeom>
          <a:noFill/>
        </p:spPr>
        <p:txBody>
          <a:bodyPr wrap="square">
            <a:spAutoFit/>
          </a:bodyPr>
          <a:lstStyle/>
          <a:p>
            <a:r>
              <a:rPr lang="en-US" sz="2000" b="1" dirty="0">
                <a:solidFill>
                  <a:srgbClr val="1F3A5F"/>
                </a:solidFill>
                <a:latin typeface="Consolas"/>
              </a:rPr>
              <a:t>Test_CreateNull_HasOptionalParameterForEachConstructorParameterType()</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15627848-6539-B6E0-6498-FAA36A9DA50E}"/>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89E86856-D34A-4B7F-0476-8E4D43D7EE9E}"/>
              </a:ext>
            </a:extLst>
          </p:cNvPr>
          <p:cNvGrpSpPr/>
          <p:nvPr/>
        </p:nvGrpSpPr>
        <p:grpSpPr>
          <a:xfrm>
            <a:off x="10816534" y="299422"/>
            <a:ext cx="918266" cy="461665"/>
            <a:chOff x="9249844" y="2055101"/>
            <a:chExt cx="918266" cy="461665"/>
          </a:xfrm>
        </p:grpSpPr>
        <p:sp>
          <p:nvSpPr>
            <p:cNvPr id="7" name="Rounded Rectangle 6">
              <a:extLst>
                <a:ext uri="{FF2B5EF4-FFF2-40B4-BE49-F238E27FC236}">
                  <a16:creationId xmlns:a16="http://schemas.microsoft.com/office/drawing/2014/main" id="{126D7D3A-FB7D-B886-137F-D91C6E283F76}"/>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8C3F30-27B0-7B03-0D8A-54D6C9E185B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2" name="sw">
            <a:extLst>
              <a:ext uri="{FF2B5EF4-FFF2-40B4-BE49-F238E27FC236}">
                <a16:creationId xmlns:a16="http://schemas.microsoft.com/office/drawing/2014/main" id="{74FF3E3D-1D0D-DAC1-5E2C-CA23E568C48D}"/>
              </a:ext>
            </a:extLst>
          </p:cNvPr>
          <p:cNvSpPr/>
          <p:nvPr/>
        </p:nvSpPr>
        <p:spPr>
          <a:xfrm>
            <a:off x="609600" y="2794000"/>
            <a:ext cx="2032000" cy="2032000"/>
          </a:xfrm>
          <a:prstGeom prst="roundRect">
            <a:avLst>
              <a:gd name="adj" fmla="val 8000"/>
            </a:avLst>
          </a:prstGeom>
          <a:solidFill>
            <a:srgbClr val="415A77"/>
          </a:solidFill>
          <a:ln>
            <a:noFill/>
          </a:ln>
        </p:spPr>
        <p:txBody>
          <a:bodyPr lIns="0" rIns="0" anchor="ctr" anchorCtr="0"/>
          <a:lstStyle/>
          <a:p>
            <a:pPr algn="ctr">
              <a:buNone/>
            </a:pPr>
            <a:r>
              <a:rPr lang="en-US" sz="2000" b="1" dirty="0">
                <a:solidFill>
                  <a:srgbClr val="FFFFFF"/>
                </a:solidFill>
              </a:rPr>
              <a:t>Classes</a:t>
            </a:r>
          </a:p>
        </p:txBody>
      </p:sp>
      <p:sp>
        <p:nvSpPr>
          <p:cNvPr id="3" name="sw">
            <a:extLst>
              <a:ext uri="{FF2B5EF4-FFF2-40B4-BE49-F238E27FC236}">
                <a16:creationId xmlns:a16="http://schemas.microsoft.com/office/drawing/2014/main" id="{942A4771-3EF9-59E0-DE83-D6E1B1E922CF}"/>
              </a:ext>
            </a:extLst>
          </p:cNvPr>
          <p:cNvSpPr/>
          <p:nvPr/>
        </p:nvSpPr>
        <p:spPr>
          <a:xfrm>
            <a:off x="3276600" y="2794000"/>
            <a:ext cx="2159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Has CreateNull()</a:t>
            </a:r>
          </a:p>
        </p:txBody>
      </p:sp>
      <p:sp>
        <p:nvSpPr>
          <p:cNvPr id="5" name="sw">
            <a:extLst>
              <a:ext uri="{FF2B5EF4-FFF2-40B4-BE49-F238E27FC236}">
                <a16:creationId xmlns:a16="http://schemas.microsoft.com/office/drawing/2014/main" id="{5606FAAB-57B3-8E31-2C91-60B8A2EF8D06}"/>
              </a:ext>
            </a:extLst>
          </p:cNvPr>
          <p:cNvSpPr/>
          <p:nvPr/>
        </p:nvSpPr>
        <p:spPr>
          <a:xfrm>
            <a:off x="6070600" y="4191000"/>
            <a:ext cx="2413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Constructor params</a:t>
            </a:r>
          </a:p>
        </p:txBody>
      </p:sp>
      <p:sp>
        <p:nvSpPr>
          <p:cNvPr id="12" name="sw">
            <a:extLst>
              <a:ext uri="{FF2B5EF4-FFF2-40B4-BE49-F238E27FC236}">
                <a16:creationId xmlns:a16="http://schemas.microsoft.com/office/drawing/2014/main" id="{50F66613-9ADF-2D2E-0015-6880AA028FD1}"/>
              </a:ext>
            </a:extLst>
          </p:cNvPr>
          <p:cNvSpPr/>
          <p:nvPr/>
        </p:nvSpPr>
        <p:spPr>
          <a:xfrm>
            <a:off x="6070600" y="1397000"/>
            <a:ext cx="2413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CreateNull() params</a:t>
            </a:r>
          </a:p>
        </p:txBody>
      </p:sp>
      <p:sp>
        <p:nvSpPr>
          <p:cNvPr id="16" name="sw">
            <a:extLst>
              <a:ext uri="{FF2B5EF4-FFF2-40B4-BE49-F238E27FC236}">
                <a16:creationId xmlns:a16="http://schemas.microsoft.com/office/drawing/2014/main" id="{C592559C-553C-A083-170E-BE7526AA1AFA}"/>
              </a:ext>
            </a:extLst>
          </p:cNvPr>
          <p:cNvSpPr/>
          <p:nvPr/>
        </p:nvSpPr>
        <p:spPr>
          <a:xfrm>
            <a:off x="9042400" y="2794000"/>
            <a:ext cx="2540000" cy="2032000"/>
          </a:xfrm>
          <a:prstGeom prst="roundRect">
            <a:avLst>
              <a:gd name="adj" fmla="val 8000"/>
            </a:avLst>
          </a:prstGeom>
          <a:solidFill>
            <a:srgbClr val="5A7D5A"/>
          </a:solidFill>
          <a:ln>
            <a:noFill/>
          </a:ln>
        </p:spPr>
        <p:txBody>
          <a:bodyPr lIns="0" rIns="0" anchor="ctr" anchorCtr="0"/>
          <a:lstStyle/>
          <a:p>
            <a:pPr algn="ctr">
              <a:buNone/>
            </a:pPr>
            <a:r>
              <a:rPr lang="en-US" sz="1800" b="1" dirty="0">
                <a:solidFill>
                  <a:srgbClr val="FFFFFF"/>
                </a:solidFill>
              </a:rPr>
              <a:t>Every constructor type has an optional param</a:t>
            </a:r>
          </a:p>
        </p:txBody>
      </p:sp>
      <p:sp>
        <p:nvSpPr>
          <p:cNvPr id="18" name="TextBox 17">
            <a:extLst>
              <a:ext uri="{FF2B5EF4-FFF2-40B4-BE49-F238E27FC236}">
                <a16:creationId xmlns:a16="http://schemas.microsoft.com/office/drawing/2014/main" id="{E7B596C6-EE88-B3CE-9980-894CE29CBBC0}"/>
              </a:ext>
            </a:extLst>
          </p:cNvPr>
          <p:cNvSpPr txBox="1"/>
          <p:nvPr/>
        </p:nvSpPr>
        <p:spPr>
          <a:xfrm>
            <a:off x="2501900" y="3225800"/>
            <a:ext cx="914400" cy="381000"/>
          </a:xfrm>
          <a:prstGeom prst="rect">
            <a:avLst/>
          </a:prstGeom>
          <a:noFill/>
        </p:spPr>
        <p:txBody>
          <a:bodyPr wrap="none" lIns="0" tIns="0" rIns="0" bIns="0" rtlCol="0" anchor="ctr">
            <a:spAutoFit/>
          </a:bodyPr>
          <a:lstStyle/>
          <a:p>
            <a:pPr algn="ctr">
              <a:buNone/>
            </a:pPr>
            <a:r>
              <a:rPr lang="en-US" sz="1600" b="0" dirty="0">
                <a:solidFill>
                  <a:srgbClr val="415A77"/>
                </a:solidFill>
              </a:rPr>
              <a:t>filter</a:t>
            </a:r>
          </a:p>
        </p:txBody>
      </p:sp>
      <p:sp>
        <p:nvSpPr>
          <p:cNvPr id="700" name="Arrow 700"/>
          <p:cNvSpPr/>
          <p:nvPr/>
        </p:nvSpPr>
        <p:spPr>
          <a:xfrm>
            <a:off x="2641600" y="3810000"/>
            <a:ext cx="635000" cy="6350"/>
          </a:xfrm>
          <a:prstGeom prst="line">
            <a:avLst/>
          </a:prstGeom>
          <a:noFill/>
          <a:ln w="19050" cap="flat">
            <a:solidFill>
              <a:srgbClr val="6B7280"/>
            </a:solidFill>
            <a:round/>
            <a:tailEnd type="triangle" w="lg" len="lg"/>
          </a:ln>
        </p:spPr>
        <p:txBody>
          <a:bodyPr/>
          <a:lstStyle/>
          <a:p>
            <a:endParaRPr/>
          </a:p>
        </p:txBody>
      </p:sp>
      <p:sp>
        <p:nvSpPr>
          <p:cNvPr id="701" name="Arrow 701"/>
          <p:cNvSpPr/>
          <p:nvPr/>
        </p:nvSpPr>
        <p:spPr>
          <a:xfrm>
            <a:off x="5435600" y="3810000"/>
            <a:ext cx="317500" cy="6350"/>
          </a:xfrm>
          <a:prstGeom prst="line">
            <a:avLst/>
          </a:prstGeom>
          <a:noFill/>
          <a:ln w="19050" cap="flat">
            <a:solidFill>
              <a:srgbClr val="6B7280"/>
            </a:solidFill>
            <a:round/>
          </a:ln>
        </p:spPr>
        <p:txBody>
          <a:bodyPr/>
          <a:lstStyle/>
          <a:p>
            <a:endParaRPr/>
          </a:p>
        </p:txBody>
      </p:sp>
      <p:sp>
        <p:nvSpPr>
          <p:cNvPr id="702" name="Arrow 702"/>
          <p:cNvSpPr/>
          <p:nvPr/>
        </p:nvSpPr>
        <p:spPr>
          <a:xfrm>
            <a:off x="5753100" y="2413000"/>
            <a:ext cx="6350" cy="2794000"/>
          </a:xfrm>
          <a:prstGeom prst="line">
            <a:avLst/>
          </a:prstGeom>
          <a:noFill/>
          <a:ln w="19050" cap="flat">
            <a:solidFill>
              <a:srgbClr val="6B7280"/>
            </a:solidFill>
            <a:round/>
          </a:ln>
        </p:spPr>
        <p:txBody>
          <a:bodyPr/>
          <a:lstStyle/>
          <a:p>
            <a:endParaRPr/>
          </a:p>
        </p:txBody>
      </p:sp>
      <p:sp>
        <p:nvSpPr>
          <p:cNvPr id="703" name="Arrow 703"/>
          <p:cNvSpPr/>
          <p:nvPr/>
        </p:nvSpPr>
        <p:spPr>
          <a:xfrm>
            <a:off x="5753100" y="2413000"/>
            <a:ext cx="317500" cy="6350"/>
          </a:xfrm>
          <a:prstGeom prst="line">
            <a:avLst/>
          </a:prstGeom>
          <a:noFill/>
          <a:ln w="19050" cap="flat">
            <a:solidFill>
              <a:srgbClr val="6B7280"/>
            </a:solidFill>
            <a:round/>
            <a:tailEnd type="triangle" w="lg" len="lg"/>
          </a:ln>
        </p:spPr>
        <p:txBody>
          <a:bodyPr/>
          <a:lstStyle/>
          <a:p>
            <a:endParaRPr/>
          </a:p>
        </p:txBody>
      </p:sp>
      <p:sp>
        <p:nvSpPr>
          <p:cNvPr id="704" name="Arrow 704"/>
          <p:cNvSpPr/>
          <p:nvPr/>
        </p:nvSpPr>
        <p:spPr>
          <a:xfrm>
            <a:off x="5753100" y="5207000"/>
            <a:ext cx="317500" cy="6350"/>
          </a:xfrm>
          <a:prstGeom prst="line">
            <a:avLst/>
          </a:prstGeom>
          <a:noFill/>
          <a:ln w="19050" cap="flat">
            <a:solidFill>
              <a:srgbClr val="6B7280"/>
            </a:solidFill>
            <a:round/>
            <a:tailEnd type="triangle" w="lg" len="lg"/>
          </a:ln>
        </p:spPr>
        <p:txBody>
          <a:bodyPr/>
          <a:lstStyle/>
          <a:p>
            <a:endParaRPr/>
          </a:p>
        </p:txBody>
      </p:sp>
      <p:sp>
        <p:nvSpPr>
          <p:cNvPr id="705" name="Arrow 705"/>
          <p:cNvSpPr/>
          <p:nvPr/>
        </p:nvSpPr>
        <p:spPr>
          <a:xfrm>
            <a:off x="8483600" y="2413000"/>
            <a:ext cx="279400" cy="6350"/>
          </a:xfrm>
          <a:prstGeom prst="line">
            <a:avLst/>
          </a:prstGeom>
          <a:noFill/>
          <a:ln w="19050" cap="flat">
            <a:solidFill>
              <a:srgbClr val="6B7280"/>
            </a:solidFill>
            <a:round/>
          </a:ln>
        </p:spPr>
        <p:txBody>
          <a:bodyPr/>
          <a:lstStyle/>
          <a:p>
            <a:endParaRPr/>
          </a:p>
        </p:txBody>
      </p:sp>
      <p:sp>
        <p:nvSpPr>
          <p:cNvPr id="706" name="Arrow 706"/>
          <p:cNvSpPr/>
          <p:nvPr/>
        </p:nvSpPr>
        <p:spPr>
          <a:xfrm>
            <a:off x="8483600" y="5207000"/>
            <a:ext cx="279400" cy="6350"/>
          </a:xfrm>
          <a:prstGeom prst="line">
            <a:avLst/>
          </a:prstGeom>
          <a:noFill/>
          <a:ln w="19050" cap="flat">
            <a:solidFill>
              <a:srgbClr val="6B7280"/>
            </a:solidFill>
            <a:round/>
          </a:ln>
        </p:spPr>
        <p:txBody>
          <a:bodyPr/>
          <a:lstStyle/>
          <a:p>
            <a:endParaRPr/>
          </a:p>
        </p:txBody>
      </p:sp>
      <p:sp>
        <p:nvSpPr>
          <p:cNvPr id="707" name="Arrow 707"/>
          <p:cNvSpPr/>
          <p:nvPr/>
        </p:nvSpPr>
        <p:spPr>
          <a:xfrm>
            <a:off x="8763000" y="2413000"/>
            <a:ext cx="6350" cy="2794000"/>
          </a:xfrm>
          <a:prstGeom prst="line">
            <a:avLst/>
          </a:prstGeom>
          <a:noFill/>
          <a:ln w="19050" cap="flat">
            <a:solidFill>
              <a:srgbClr val="6B7280"/>
            </a:solidFill>
            <a:round/>
          </a:ln>
        </p:spPr>
        <p:txBody>
          <a:bodyPr/>
          <a:lstStyle/>
          <a:p>
            <a:endParaRPr/>
          </a:p>
        </p:txBody>
      </p:sp>
      <p:sp>
        <p:nvSpPr>
          <p:cNvPr id="708" name="Arrow 708"/>
          <p:cNvSpPr/>
          <p:nvPr/>
        </p:nvSpPr>
        <p:spPr>
          <a:xfrm>
            <a:off x="8763000" y="3810000"/>
            <a:ext cx="279400" cy="6350"/>
          </a:xfrm>
          <a:prstGeom prst="line">
            <a:avLst/>
          </a:prstGeom>
          <a:noFill/>
          <a:ln w="19050" cap="flat">
            <a:solidFill>
              <a:srgbClr val="6B7280"/>
            </a:solidFill>
            <a:round/>
            <a:tailEnd type="triangle" w="lg" len="lg"/>
          </a:ln>
        </p:spPr>
        <p:txBody>
          <a:bodyPr/>
          <a:lstStyle/>
          <a:p>
            <a:endParaRPr/>
          </a:p>
        </p:txBody>
      </p:sp>
      <p:grpSp>
        <p:nvGrpSpPr>
          <p:cNvPr id="9" name="Group 8">
            <a:extLst>
              <a:ext uri="{FF2B5EF4-FFF2-40B4-BE49-F238E27FC236}">
                <a16:creationId xmlns:a16="http://schemas.microsoft.com/office/drawing/2014/main" id="{E1E026D6-09B0-16C0-62FA-07DEA2FAD27B}"/>
              </a:ext>
            </a:extLst>
          </p:cNvPr>
          <p:cNvGrpSpPr/>
          <p:nvPr/>
        </p:nvGrpSpPr>
        <p:grpSpPr>
          <a:xfrm>
            <a:off x="10069515" y="983962"/>
            <a:ext cx="1665284" cy="461665"/>
            <a:chOff x="6359523" y="2343503"/>
            <a:chExt cx="1665284" cy="461665"/>
          </a:xfrm>
        </p:grpSpPr>
        <p:sp>
          <p:nvSpPr>
            <p:cNvPr id="10" name="Rounded Rectangle 9">
              <a:extLst>
                <a:ext uri="{FF2B5EF4-FFF2-40B4-BE49-F238E27FC236}">
                  <a16:creationId xmlns:a16="http://schemas.microsoft.com/office/drawing/2014/main" id="{20FBFF33-3922-31BD-EDFD-BF2A9FE69D9B}"/>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6986FB6-8096-90F2-3463-51B5AAF85349}"/>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grpSp>
        <p:nvGrpSpPr>
          <p:cNvPr id="13" name="Group 12">
            <a:extLst>
              <a:ext uri="{FF2B5EF4-FFF2-40B4-BE49-F238E27FC236}">
                <a16:creationId xmlns:a16="http://schemas.microsoft.com/office/drawing/2014/main" id="{9641AFA6-710B-65CD-49B2-B12E70048F63}"/>
              </a:ext>
            </a:extLst>
          </p:cNvPr>
          <p:cNvGrpSpPr/>
          <p:nvPr/>
        </p:nvGrpSpPr>
        <p:grpSpPr>
          <a:xfrm>
            <a:off x="10069515" y="1602084"/>
            <a:ext cx="1730731" cy="461665"/>
            <a:chOff x="3888023" y="2248422"/>
            <a:chExt cx="1730731" cy="461665"/>
          </a:xfrm>
        </p:grpSpPr>
        <p:sp>
          <p:nvSpPr>
            <p:cNvPr id="14" name="Rounded Rectangle 13">
              <a:extLst>
                <a:ext uri="{FF2B5EF4-FFF2-40B4-BE49-F238E27FC236}">
                  <a16:creationId xmlns:a16="http://schemas.microsoft.com/office/drawing/2014/main" id="{F21A0E33-475C-46F2-59E3-194E83C06C6D}"/>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1AE38ED-D22C-C4DA-AB84-3F38D599F13C}"/>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965548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0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0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0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0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0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12" grpId="0" animBg="1"/>
      <p:bldP spid="16" grpId="0" animBg="1"/>
      <p:bldP spid="18" grpId="0"/>
      <p:bldP spid="700" grpId="0" animBg="1"/>
      <p:bldP spid="701" grpId="0" animBg="1"/>
      <p:bldP spid="702" grpId="0" animBg="1"/>
      <p:bldP spid="703" grpId="0" animBg="1"/>
      <p:bldP spid="704" grpId="0" animBg="1"/>
      <p:bldP spid="705" grpId="0" animBg="1"/>
      <p:bldP spid="706" grpId="0" animBg="1"/>
      <p:bldP spid="707" grpId="0" animBg="1"/>
      <p:bldP spid="708"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80C59-D3E9-0D92-CE52-068B00C8E59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B88DDB7-A5FC-DC59-BFA3-996B854B9218}"/>
              </a:ext>
            </a:extLst>
          </p:cNvPr>
          <p:cNvSpPr txBox="1"/>
          <p:nvPr/>
        </p:nvSpPr>
        <p:spPr>
          <a:xfrm>
            <a:off x="4601987" y="2819400"/>
            <a:ext cx="2988062" cy="707886"/>
          </a:xfrm>
          <a:prstGeom prst="rect">
            <a:avLst/>
          </a:prstGeom>
          <a:noFill/>
        </p:spPr>
        <p:txBody>
          <a:bodyPr wrap="none" rtlCol="0">
            <a:spAutoFit/>
          </a:bodyPr>
          <a:lstStyle/>
          <a:p>
            <a:pPr algn="ctr">
              <a:buNone/>
            </a:pPr>
            <a:r>
              <a:rPr lang="en-US" sz="4000" b="1" dirty="0">
                <a:solidFill>
                  <a:srgbClr val="1F3A5F"/>
                </a:solidFill>
              </a:rPr>
              <a:t>In Summary</a:t>
            </a:r>
          </a:p>
        </p:txBody>
      </p:sp>
      <p:sp>
        <p:nvSpPr>
          <p:cNvPr id="50" name="accent">
            <a:extLst>
              <a:ext uri="{FF2B5EF4-FFF2-40B4-BE49-F238E27FC236}">
                <a16:creationId xmlns:a16="http://schemas.microsoft.com/office/drawing/2014/main" id="{B5ACACC8-840F-EA88-3B00-436134E0854E}"/>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662FCB91-48E2-21C2-AAE4-D6A243B8A267}"/>
              </a:ext>
            </a:extLst>
          </p:cNvPr>
          <p:cNvSpPr txBox="1"/>
          <p:nvPr/>
        </p:nvSpPr>
        <p:spPr>
          <a:xfrm>
            <a:off x="1012592" y="4456592"/>
            <a:ext cx="10166816" cy="334194"/>
          </a:xfrm>
          <a:prstGeom prst="rect">
            <a:avLst/>
          </a:prstGeom>
          <a:noFill/>
        </p:spPr>
        <p:txBody>
          <a:bodyPr wrap="square">
            <a:spAutoFit/>
          </a:bodyPr>
          <a:lstStyle/>
          <a:p>
            <a:pPr algn="ctr">
              <a:lnSpc>
                <a:spcPts val="1950"/>
              </a:lnSpc>
            </a:pPr>
            <a:r>
              <a:rPr lang="en-US" sz="1500" dirty="0">
                <a:solidFill>
                  <a:srgbClr val="1F3A5F"/>
                </a:solidFill>
                <a:latin typeface="Consolas"/>
              </a:rPr>
              <a:t>Database – Tools – Internal Documents – Code – Tests – Response Times - Deployments</a:t>
            </a:r>
            <a:endParaRPr lang="en-US" sz="1500" dirty="0">
              <a:solidFill>
                <a:srgbClr val="A14B4B"/>
              </a:solidFill>
              <a:latin typeface="Consolas"/>
            </a:endParaRPr>
          </a:p>
        </p:txBody>
      </p:sp>
    </p:spTree>
    <p:extLst>
      <p:ext uri="{BB962C8B-B14F-4D97-AF65-F5344CB8AC3E}">
        <p14:creationId xmlns:p14="http://schemas.microsoft.com/office/powerpoint/2010/main" val="222350455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87A52-AA40-4516-227C-5D414151C90A}"/>
              </a:ext>
            </a:extLst>
          </p:cNvPr>
          <p:cNvSpPr txBox="1">
            <a:spLocks/>
          </p:cNvSpPr>
          <p:nvPr/>
        </p:nvSpPr>
        <p:spPr>
          <a:xfrm>
            <a:off x="554367" y="723464"/>
            <a:ext cx="9144000" cy="238760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b="1" dirty="0">
                <a:solidFill>
                  <a:srgbClr val="1F3A5F"/>
                </a:solidFill>
              </a:rPr>
              <a:t>Thank you</a:t>
            </a:r>
          </a:p>
        </p:txBody>
      </p:sp>
      <p:sp>
        <p:nvSpPr>
          <p:cNvPr id="3" name="TextBox 2">
            <a:extLst>
              <a:ext uri="{FF2B5EF4-FFF2-40B4-BE49-F238E27FC236}">
                <a16:creationId xmlns:a16="http://schemas.microsoft.com/office/drawing/2014/main" id="{DF1CD058-0EB5-9087-F5EC-15E68C131B6C}"/>
              </a:ext>
            </a:extLst>
          </p:cNvPr>
          <p:cNvSpPr txBox="1"/>
          <p:nvPr/>
        </p:nvSpPr>
        <p:spPr>
          <a:xfrm>
            <a:off x="8318711" y="5348839"/>
            <a:ext cx="2540877" cy="369332"/>
          </a:xfrm>
          <a:prstGeom prst="rect">
            <a:avLst/>
          </a:prstGeom>
          <a:noFill/>
        </p:spPr>
        <p:txBody>
          <a:bodyPr wrap="square">
            <a:spAutoFit/>
          </a:bodyPr>
          <a:lstStyle/>
          <a:p>
            <a:pPr algn="ctr"/>
            <a:r>
              <a:rPr lang="en-US" dirty="0">
                <a:solidFill>
                  <a:schemeClr val="bg1">
                    <a:lumMod val="65000"/>
                  </a:schemeClr>
                </a:solidFill>
              </a:rPr>
              <a:t>Llewellyn Falco</a:t>
            </a:r>
          </a:p>
        </p:txBody>
      </p:sp>
      <p:pic>
        <p:nvPicPr>
          <p:cNvPr id="4" name="Picture 3" descr="A person smiling at the camera&#10;&#10;AI-generated content may be incorrect.">
            <a:extLst>
              <a:ext uri="{FF2B5EF4-FFF2-40B4-BE49-F238E27FC236}">
                <a16:creationId xmlns:a16="http://schemas.microsoft.com/office/drawing/2014/main" id="{81E53284-40A4-F455-B0D7-1879BF6532B0}"/>
              </a:ext>
            </a:extLst>
          </p:cNvPr>
          <p:cNvPicPr>
            <a:picLocks noChangeAspect="1"/>
          </p:cNvPicPr>
          <p:nvPr/>
        </p:nvPicPr>
        <p:blipFill>
          <a:blip r:embed="rId2"/>
          <a:stretch>
            <a:fillRect/>
          </a:stretch>
        </p:blipFill>
        <p:spPr>
          <a:xfrm>
            <a:off x="8168640" y="1725030"/>
            <a:ext cx="3023616" cy="3133620"/>
          </a:xfrm>
          <a:prstGeom prst="rect">
            <a:avLst/>
          </a:prstGeom>
          <a:ln>
            <a:solidFill>
              <a:schemeClr val="tx1">
                <a:lumMod val="50000"/>
                <a:lumOff val="50000"/>
              </a:schemeClr>
            </a:solid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3C45D3FC-DDD6-7C62-1607-215FD9FDE3E3}"/>
              </a:ext>
            </a:extLst>
          </p:cNvPr>
          <p:cNvSpPr txBox="1"/>
          <p:nvPr/>
        </p:nvSpPr>
        <p:spPr>
          <a:xfrm>
            <a:off x="554367" y="6147287"/>
            <a:ext cx="6093912" cy="369332"/>
          </a:xfrm>
          <a:prstGeom prst="rect">
            <a:avLst/>
          </a:prstGeom>
          <a:noFill/>
        </p:spPr>
        <p:txBody>
          <a:bodyPr wrap="square">
            <a:spAutoFit/>
          </a:bodyPr>
          <a:lstStyle/>
          <a:p>
            <a:r>
              <a:rPr lang="en-US" dirty="0" err="1"/>
              <a:t>github.com</a:t>
            </a:r>
            <a:r>
              <a:rPr lang="en-US" dirty="0"/>
              <a:t>/</a:t>
            </a:r>
            <a:r>
              <a:rPr lang="en-US" dirty="0" err="1"/>
              <a:t>isidore</a:t>
            </a:r>
            <a:r>
              <a:rPr lang="en-US" dirty="0"/>
              <a:t>/Talks/blob/master/</a:t>
            </a:r>
            <a:r>
              <a:rPr lang="en-US" dirty="0" err="1"/>
              <a:t>WorkingWithAI.md</a:t>
            </a:r>
            <a:endParaRPr lang="en-US" dirty="0"/>
          </a:p>
        </p:txBody>
      </p:sp>
      <p:pic>
        <p:nvPicPr>
          <p:cNvPr id="8" name="Graphic 7">
            <a:extLst>
              <a:ext uri="{FF2B5EF4-FFF2-40B4-BE49-F238E27FC236}">
                <a16:creationId xmlns:a16="http://schemas.microsoft.com/office/drawing/2014/main" id="{E6490165-42F2-9232-6207-B5E813217BB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4594" y="1783482"/>
            <a:ext cx="3926910" cy="3926910"/>
          </a:xfrm>
          <a:prstGeom prst="rect">
            <a:avLst/>
          </a:prstGeom>
        </p:spPr>
      </p:pic>
    </p:spTree>
    <p:extLst>
      <p:ext uri="{BB962C8B-B14F-4D97-AF65-F5344CB8AC3E}">
        <p14:creationId xmlns:p14="http://schemas.microsoft.com/office/powerpoint/2010/main" val="33301214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5BE630-0988-2F85-AF4D-9DD34BEAA4B2}"/>
              </a:ext>
            </a:extLst>
          </p:cNvPr>
          <p:cNvSpPr txBox="1"/>
          <p:nvPr/>
        </p:nvSpPr>
        <p:spPr>
          <a:xfrm>
            <a:off x="1686623" y="65514"/>
            <a:ext cx="2905125" cy="830997"/>
          </a:xfrm>
          <a:prstGeom prst="rect">
            <a:avLst/>
          </a:prstGeom>
          <a:noFill/>
          <a:ln>
            <a:noFill/>
          </a:ln>
        </p:spPr>
        <p:txBody>
          <a:bodyPr vertOverflow="overflow" vert="horz" wrap="square" rtlCol="0" anchor="t" anchorCtr="0">
            <a:spAutoFit/>
          </a:bodyPr>
          <a:lstStyle/>
          <a:p>
            <a:pPr algn="l"/>
            <a:r>
              <a:rPr lang="en-US" sz="2400" b="1" dirty="0">
                <a:solidFill>
                  <a:srgbClr val="1F3A5F"/>
                </a:solidFill>
              </a:rPr>
              <a:t>The Meta of the Talk</a:t>
            </a:r>
          </a:p>
        </p:txBody>
      </p:sp>
      <p:sp>
        <p:nvSpPr>
          <p:cNvPr id="3" name="typo">
            <a:extLst>
              <a:ext uri="{FF2B5EF4-FFF2-40B4-BE49-F238E27FC236}">
                <a16:creationId xmlns:a16="http://schemas.microsoft.com/office/drawing/2014/main" id="{DD09431E-DC44-8A5C-D486-81BCC6C6C413}"/>
              </a:ext>
            </a:extLst>
          </p:cNvPr>
          <p:cNvSpPr txBox="1"/>
          <p:nvPr/>
        </p:nvSpPr>
        <p:spPr>
          <a:xfrm>
            <a:off x="2041566" y="1703668"/>
            <a:ext cx="5779818" cy="381000"/>
          </a:xfrm>
          <a:prstGeom prst="rect">
            <a:avLst/>
          </a:prstGeom>
          <a:noFill/>
        </p:spPr>
        <p:txBody>
          <a:bodyPr lIns="0" tIns="0" rIns="0" bIns="0" anchor="ctr"/>
          <a:lstStyle/>
          <a:p>
            <a:r>
              <a:rPr lang="en-US" sz="1050" dirty="0">
                <a:solidFill>
                  <a:srgbClr val="6B7280"/>
                </a:solidFill>
              </a:rPr>
              <a:t>This page is not presented. It is notes for arch and message of the talk for the designers.</a:t>
            </a:r>
            <a:br>
              <a:rPr lang="en-US" sz="1050" dirty="0">
                <a:solidFill>
                  <a:srgbClr val="6B7280"/>
                </a:solidFill>
              </a:rPr>
            </a:br>
            <a:r>
              <a:rPr lang="en-US" sz="1050" dirty="0">
                <a:solidFill>
                  <a:srgbClr val="6B7280"/>
                </a:solidFill>
              </a:rPr>
              <a:t>Notes below.</a:t>
            </a:r>
          </a:p>
          <a:p>
            <a:pPr algn="l"/>
            <a:r>
              <a:rPr lang="en-US" sz="1050" dirty="0">
                <a:solidFill>
                  <a:srgbClr val="6B7280"/>
                </a:solidFill>
              </a:rPr>
              <a:t> </a:t>
            </a:r>
          </a:p>
        </p:txBody>
      </p:sp>
    </p:spTree>
    <p:extLst>
      <p:ext uri="{BB962C8B-B14F-4D97-AF65-F5344CB8AC3E}">
        <p14:creationId xmlns:p14="http://schemas.microsoft.com/office/powerpoint/2010/main" val="41015895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848415-B9BD-815B-C7DA-B86917435D6E}"/>
              </a:ext>
            </a:extLst>
          </p:cNvPr>
          <p:cNvSpPr txBox="1"/>
          <p:nvPr/>
        </p:nvSpPr>
        <p:spPr>
          <a:xfrm>
            <a:off x="2095501" y="1314451"/>
            <a:ext cx="2905125" cy="461665"/>
          </a:xfrm>
          <a:prstGeom prst="rect">
            <a:avLst/>
          </a:prstGeom>
          <a:noFill/>
          <a:ln>
            <a:noFill/>
          </a:ln>
        </p:spPr>
        <p:txBody>
          <a:bodyPr vertOverflow="overflow" vert="horz" wrap="square" rtlCol="0" anchor="t" anchorCtr="0">
            <a:spAutoFit/>
          </a:bodyPr>
          <a:lstStyle/>
          <a:p>
            <a:pPr algn="l"/>
            <a:r>
              <a:rPr lang="en-US" sz="2400" b="1" dirty="0">
                <a:solidFill>
                  <a:srgbClr val="1F3A5F"/>
                </a:solidFill>
              </a:rPr>
              <a:t>Style Guide</a:t>
            </a:r>
          </a:p>
        </p:txBody>
      </p:sp>
      <p:sp>
        <p:nvSpPr>
          <p:cNvPr id="100" name="lbl"/>
          <p:cNvSpPr txBox="1"/>
          <p:nvPr/>
        </p:nvSpPr>
        <p:spPr>
          <a:xfrm>
            <a:off x="2095500" y="1857375"/>
            <a:ext cx="2857500" cy="228600"/>
          </a:xfrm>
          <a:prstGeom prst="rect">
            <a:avLst/>
          </a:prstGeom>
          <a:noFill/>
        </p:spPr>
        <p:txBody>
          <a:bodyPr lIns="0" tIns="0" rIns="0" bIns="0" anchor="b"/>
          <a:lstStyle/>
          <a:p>
            <a:pPr algn="l"/>
            <a:r>
              <a:rPr lang="en-US" sz="1050" b="1" dirty="0">
                <a:solidFill>
                  <a:srgbClr val="415A77"/>
                </a:solidFill>
              </a:rPr>
              <a:t>Color Palette</a:t>
            </a:r>
          </a:p>
        </p:txBody>
      </p:sp>
      <p:sp>
        <p:nvSpPr>
          <p:cNvPr id="101" name="div"/>
          <p:cNvSpPr/>
          <p:nvPr/>
        </p:nvSpPr>
        <p:spPr>
          <a:xfrm>
            <a:off x="2095500" y="2114550"/>
            <a:ext cx="8001000" cy="11430"/>
          </a:xfrm>
          <a:prstGeom prst="rect">
            <a:avLst/>
          </a:prstGeom>
          <a:solidFill>
            <a:srgbClr val="DCE3EC"/>
          </a:solidFill>
          <a:ln>
            <a:noFill/>
          </a:ln>
        </p:spPr>
        <p:txBody>
          <a:bodyPr/>
          <a:lstStyle/>
          <a:p>
            <a:endParaRPr sz="1350"/>
          </a:p>
        </p:txBody>
      </p:sp>
      <p:sp>
        <p:nvSpPr>
          <p:cNvPr id="102" name="sw"/>
          <p:cNvSpPr/>
          <p:nvPr/>
        </p:nvSpPr>
        <p:spPr>
          <a:xfrm>
            <a:off x="2095500" y="2238375"/>
            <a:ext cx="1162050" cy="742950"/>
          </a:xfrm>
          <a:prstGeom prst="roundRect">
            <a:avLst>
              <a:gd name="adj" fmla="val 8000"/>
            </a:avLst>
          </a:prstGeom>
          <a:solidFill>
            <a:srgbClr val="1F3A5F"/>
          </a:solidFill>
          <a:ln>
            <a:noFill/>
          </a:ln>
        </p:spPr>
        <p:txBody>
          <a:bodyPr lIns="0" rIns="0" anchor="ctr"/>
          <a:lstStyle/>
          <a:p>
            <a:pPr algn="ctr">
              <a:buNone/>
            </a:pPr>
            <a:r>
              <a:rPr lang="en-US" sz="975" b="1" dirty="0">
                <a:solidFill>
                  <a:srgbClr val="FFFFFF"/>
                </a:solidFill>
              </a:rPr>
              <a:t>#1F3A5F</a:t>
            </a:r>
          </a:p>
        </p:txBody>
      </p:sp>
      <p:sp>
        <p:nvSpPr>
          <p:cNvPr id="103" name="swlbl"/>
          <p:cNvSpPr txBox="1"/>
          <p:nvPr/>
        </p:nvSpPr>
        <p:spPr>
          <a:xfrm>
            <a:off x="2095500" y="3019425"/>
            <a:ext cx="1162050" cy="323850"/>
          </a:xfrm>
          <a:prstGeom prst="rect">
            <a:avLst/>
          </a:prstGeom>
          <a:noFill/>
        </p:spPr>
        <p:txBody>
          <a:bodyPr lIns="0" tIns="0" rIns="0" bIns="0"/>
          <a:lstStyle/>
          <a:p>
            <a:pPr algn="ctr"/>
            <a:r>
              <a:rPr lang="en-US" sz="1050" b="1" dirty="0">
                <a:solidFill>
                  <a:srgbClr val="1F3A5F"/>
                </a:solidFill>
              </a:rPr>
              <a:t>Navy</a:t>
            </a:r>
          </a:p>
          <a:p>
            <a:pPr algn="ctr"/>
            <a:r>
              <a:rPr lang="en-US" sz="825" dirty="0">
                <a:solidFill>
                  <a:srgbClr val="6B7280"/>
                </a:solidFill>
              </a:rPr>
              <a:t>Primary</a:t>
            </a:r>
          </a:p>
        </p:txBody>
      </p:sp>
      <p:sp>
        <p:nvSpPr>
          <p:cNvPr id="104" name="sw"/>
          <p:cNvSpPr/>
          <p:nvPr/>
        </p:nvSpPr>
        <p:spPr>
          <a:xfrm>
            <a:off x="3390900" y="2238375"/>
            <a:ext cx="1162050" cy="742950"/>
          </a:xfrm>
          <a:prstGeom prst="roundRect">
            <a:avLst>
              <a:gd name="adj" fmla="val 8000"/>
            </a:avLst>
          </a:prstGeom>
          <a:solidFill>
            <a:srgbClr val="415A77"/>
          </a:solidFill>
          <a:ln>
            <a:noFill/>
          </a:ln>
        </p:spPr>
        <p:txBody>
          <a:bodyPr lIns="0" rIns="0" anchor="ctr"/>
          <a:lstStyle/>
          <a:p>
            <a:pPr algn="ctr">
              <a:buNone/>
            </a:pPr>
            <a:r>
              <a:rPr lang="en-US" sz="975" b="1" dirty="0">
                <a:solidFill>
                  <a:srgbClr val="FFFFFF"/>
                </a:solidFill>
              </a:rPr>
              <a:t>#415A77</a:t>
            </a:r>
          </a:p>
        </p:txBody>
      </p:sp>
      <p:sp>
        <p:nvSpPr>
          <p:cNvPr id="105" name="swlbl"/>
          <p:cNvSpPr txBox="1"/>
          <p:nvPr/>
        </p:nvSpPr>
        <p:spPr>
          <a:xfrm>
            <a:off x="3390900" y="3019425"/>
            <a:ext cx="1162050" cy="323850"/>
          </a:xfrm>
          <a:prstGeom prst="rect">
            <a:avLst/>
          </a:prstGeom>
          <a:noFill/>
        </p:spPr>
        <p:txBody>
          <a:bodyPr lIns="0" tIns="0" rIns="0" bIns="0"/>
          <a:lstStyle/>
          <a:p>
            <a:pPr algn="ctr"/>
            <a:r>
              <a:rPr lang="en-US" sz="1050" b="1" dirty="0">
                <a:solidFill>
                  <a:srgbClr val="1F3A5F"/>
                </a:solidFill>
              </a:rPr>
              <a:t>Slate</a:t>
            </a:r>
          </a:p>
          <a:p>
            <a:pPr algn="ctr"/>
            <a:r>
              <a:rPr lang="en-US" sz="825" dirty="0">
                <a:solidFill>
                  <a:srgbClr val="6B7280"/>
                </a:solidFill>
              </a:rPr>
              <a:t>Secondary</a:t>
            </a:r>
          </a:p>
        </p:txBody>
      </p:sp>
      <p:sp>
        <p:nvSpPr>
          <p:cNvPr id="106" name="sw"/>
          <p:cNvSpPr/>
          <p:nvPr/>
        </p:nvSpPr>
        <p:spPr>
          <a:xfrm>
            <a:off x="4686300" y="2238375"/>
            <a:ext cx="1162050" cy="742950"/>
          </a:xfrm>
          <a:prstGeom prst="roundRect">
            <a:avLst>
              <a:gd name="adj" fmla="val 8000"/>
            </a:avLst>
          </a:prstGeom>
          <a:solidFill>
            <a:srgbClr val="5A7D5A"/>
          </a:solidFill>
          <a:ln>
            <a:noFill/>
          </a:ln>
        </p:spPr>
        <p:txBody>
          <a:bodyPr lIns="0" rIns="0" anchor="ctr"/>
          <a:lstStyle/>
          <a:p>
            <a:pPr algn="ctr">
              <a:buNone/>
            </a:pPr>
            <a:r>
              <a:rPr lang="en-US" sz="975" b="1" dirty="0">
                <a:solidFill>
                  <a:srgbClr val="FFFFFF"/>
                </a:solidFill>
              </a:rPr>
              <a:t>#5A7D5A</a:t>
            </a:r>
          </a:p>
        </p:txBody>
      </p:sp>
      <p:sp>
        <p:nvSpPr>
          <p:cNvPr id="107" name="swlbl"/>
          <p:cNvSpPr txBox="1"/>
          <p:nvPr/>
        </p:nvSpPr>
        <p:spPr>
          <a:xfrm>
            <a:off x="4686300" y="3019425"/>
            <a:ext cx="1162050" cy="323850"/>
          </a:xfrm>
          <a:prstGeom prst="rect">
            <a:avLst/>
          </a:prstGeom>
          <a:noFill/>
        </p:spPr>
        <p:txBody>
          <a:bodyPr lIns="0" tIns="0" rIns="0" bIns="0"/>
          <a:lstStyle/>
          <a:p>
            <a:pPr algn="ctr"/>
            <a:r>
              <a:rPr lang="en-US" sz="1050" b="1" dirty="0">
                <a:solidFill>
                  <a:srgbClr val="1F3A5F"/>
                </a:solidFill>
              </a:rPr>
              <a:t>Green</a:t>
            </a:r>
          </a:p>
          <a:p>
            <a:pPr algn="ctr"/>
            <a:r>
              <a:rPr lang="en-US" sz="825" dirty="0">
                <a:solidFill>
                  <a:srgbClr val="6B7280"/>
                </a:solidFill>
              </a:rPr>
              <a:t>Accent</a:t>
            </a:r>
          </a:p>
        </p:txBody>
      </p:sp>
      <p:sp>
        <p:nvSpPr>
          <p:cNvPr id="108" name="sw"/>
          <p:cNvSpPr/>
          <p:nvPr/>
        </p:nvSpPr>
        <p:spPr>
          <a:xfrm>
            <a:off x="5981700" y="2238375"/>
            <a:ext cx="1162050" cy="742950"/>
          </a:xfrm>
          <a:prstGeom prst="roundRect">
            <a:avLst>
              <a:gd name="adj" fmla="val 8000"/>
            </a:avLst>
          </a:prstGeom>
          <a:solidFill>
            <a:srgbClr val="A14B4B"/>
          </a:solidFill>
          <a:ln>
            <a:noFill/>
          </a:ln>
        </p:spPr>
        <p:txBody>
          <a:bodyPr lIns="0" rIns="0" anchor="ctr"/>
          <a:lstStyle/>
          <a:p>
            <a:pPr algn="ctr">
              <a:buNone/>
            </a:pPr>
            <a:r>
              <a:rPr lang="en-US" sz="975" b="1" dirty="0">
                <a:solidFill>
                  <a:srgbClr val="FFFFFF"/>
                </a:solidFill>
              </a:rPr>
              <a:t>#A14B4B</a:t>
            </a:r>
          </a:p>
        </p:txBody>
      </p:sp>
      <p:sp>
        <p:nvSpPr>
          <p:cNvPr id="109" name="swlbl"/>
          <p:cNvSpPr txBox="1"/>
          <p:nvPr/>
        </p:nvSpPr>
        <p:spPr>
          <a:xfrm>
            <a:off x="5981700" y="3019425"/>
            <a:ext cx="1162050" cy="323850"/>
          </a:xfrm>
          <a:prstGeom prst="rect">
            <a:avLst/>
          </a:prstGeom>
          <a:noFill/>
        </p:spPr>
        <p:txBody>
          <a:bodyPr lIns="0" tIns="0" rIns="0" bIns="0"/>
          <a:lstStyle/>
          <a:p>
            <a:pPr algn="ctr"/>
            <a:r>
              <a:rPr lang="en-US" sz="1050" b="1" dirty="0">
                <a:solidFill>
                  <a:srgbClr val="1F3A5F"/>
                </a:solidFill>
              </a:rPr>
              <a:t>Rust</a:t>
            </a:r>
          </a:p>
          <a:p>
            <a:pPr algn="ctr"/>
            <a:r>
              <a:rPr lang="en-US" sz="825" dirty="0">
                <a:solidFill>
                  <a:srgbClr val="6B7280"/>
                </a:solidFill>
              </a:rPr>
              <a:t>Alert</a:t>
            </a:r>
          </a:p>
        </p:txBody>
      </p:sp>
      <p:sp>
        <p:nvSpPr>
          <p:cNvPr id="110" name="sw"/>
          <p:cNvSpPr/>
          <p:nvPr/>
        </p:nvSpPr>
        <p:spPr>
          <a:xfrm>
            <a:off x="7277100" y="2238375"/>
            <a:ext cx="1162050" cy="742950"/>
          </a:xfrm>
          <a:prstGeom prst="roundRect">
            <a:avLst>
              <a:gd name="adj" fmla="val 8000"/>
            </a:avLst>
          </a:prstGeom>
          <a:solidFill>
            <a:srgbClr val="6B7280"/>
          </a:solidFill>
          <a:ln>
            <a:noFill/>
          </a:ln>
        </p:spPr>
        <p:txBody>
          <a:bodyPr lIns="0" rIns="0" anchor="ctr"/>
          <a:lstStyle/>
          <a:p>
            <a:pPr algn="ctr">
              <a:buNone/>
            </a:pPr>
            <a:r>
              <a:rPr lang="en-US" sz="975" b="1" dirty="0">
                <a:solidFill>
                  <a:srgbClr val="FFFFFF"/>
                </a:solidFill>
              </a:rPr>
              <a:t>#6B7280</a:t>
            </a:r>
          </a:p>
        </p:txBody>
      </p:sp>
      <p:sp>
        <p:nvSpPr>
          <p:cNvPr id="111" name="swlbl"/>
          <p:cNvSpPr txBox="1"/>
          <p:nvPr/>
        </p:nvSpPr>
        <p:spPr>
          <a:xfrm>
            <a:off x="7277100" y="3019425"/>
            <a:ext cx="1162050" cy="323850"/>
          </a:xfrm>
          <a:prstGeom prst="rect">
            <a:avLst/>
          </a:prstGeom>
          <a:noFill/>
        </p:spPr>
        <p:txBody>
          <a:bodyPr lIns="0" tIns="0" rIns="0" bIns="0"/>
          <a:lstStyle/>
          <a:p>
            <a:pPr algn="ctr"/>
            <a:r>
              <a:rPr lang="en-US" sz="1050" b="1" dirty="0">
                <a:solidFill>
                  <a:srgbClr val="1F3A5F"/>
                </a:solidFill>
              </a:rPr>
              <a:t>Gray</a:t>
            </a:r>
          </a:p>
          <a:p>
            <a:pPr algn="ctr"/>
            <a:r>
              <a:rPr lang="en-US" sz="825" dirty="0">
                <a:solidFill>
                  <a:srgbClr val="6B7280"/>
                </a:solidFill>
              </a:rPr>
              <a:t>Neutral</a:t>
            </a:r>
          </a:p>
        </p:txBody>
      </p:sp>
      <p:sp>
        <p:nvSpPr>
          <p:cNvPr id="112" name="sw"/>
          <p:cNvSpPr/>
          <p:nvPr/>
        </p:nvSpPr>
        <p:spPr>
          <a:xfrm>
            <a:off x="8572500" y="2238375"/>
            <a:ext cx="1162050" cy="742950"/>
          </a:xfrm>
          <a:prstGeom prst="roundRect">
            <a:avLst>
              <a:gd name="adj" fmla="val 8000"/>
            </a:avLst>
          </a:prstGeom>
          <a:solidFill>
            <a:srgbClr val="DCE3EC"/>
          </a:solidFill>
          <a:ln>
            <a:noFill/>
          </a:ln>
        </p:spPr>
        <p:txBody>
          <a:bodyPr lIns="0" rIns="0" anchor="ctr"/>
          <a:lstStyle/>
          <a:p>
            <a:pPr algn="ctr">
              <a:buNone/>
            </a:pPr>
            <a:r>
              <a:rPr lang="en-US" sz="975" b="1" dirty="0">
                <a:solidFill>
                  <a:srgbClr val="1F3A5F"/>
                </a:solidFill>
              </a:rPr>
              <a:t>#DCE3EC</a:t>
            </a:r>
          </a:p>
        </p:txBody>
      </p:sp>
      <p:sp>
        <p:nvSpPr>
          <p:cNvPr id="113" name="swlbl"/>
          <p:cNvSpPr txBox="1"/>
          <p:nvPr/>
        </p:nvSpPr>
        <p:spPr>
          <a:xfrm>
            <a:off x="8572500" y="3019425"/>
            <a:ext cx="1162050" cy="323850"/>
          </a:xfrm>
          <a:prstGeom prst="rect">
            <a:avLst/>
          </a:prstGeom>
          <a:noFill/>
        </p:spPr>
        <p:txBody>
          <a:bodyPr lIns="0" tIns="0" rIns="0" bIns="0"/>
          <a:lstStyle/>
          <a:p>
            <a:pPr algn="ctr"/>
            <a:r>
              <a:rPr lang="en-US" sz="1050" b="1" dirty="0">
                <a:solidFill>
                  <a:srgbClr val="1F3A5F"/>
                </a:solidFill>
              </a:rPr>
              <a:t>Light</a:t>
            </a:r>
          </a:p>
          <a:p>
            <a:pPr algn="ctr"/>
            <a:r>
              <a:rPr lang="en-US" sz="825" dirty="0">
                <a:solidFill>
                  <a:srgbClr val="6B7280"/>
                </a:solidFill>
              </a:rPr>
              <a:t>Text/BG</a:t>
            </a:r>
          </a:p>
        </p:txBody>
      </p:sp>
      <p:sp>
        <p:nvSpPr>
          <p:cNvPr id="114" name="lbl"/>
          <p:cNvSpPr txBox="1"/>
          <p:nvPr/>
        </p:nvSpPr>
        <p:spPr>
          <a:xfrm>
            <a:off x="2095500" y="3619500"/>
            <a:ext cx="3429000" cy="228600"/>
          </a:xfrm>
          <a:prstGeom prst="rect">
            <a:avLst/>
          </a:prstGeom>
          <a:noFill/>
        </p:spPr>
        <p:txBody>
          <a:bodyPr lIns="0" tIns="0" rIns="0" bIns="0" anchor="b"/>
          <a:lstStyle/>
          <a:p>
            <a:pPr algn="l"/>
            <a:r>
              <a:rPr lang="en-US" sz="1050" b="1" dirty="0">
                <a:solidFill>
                  <a:srgbClr val="415A77"/>
                </a:solidFill>
              </a:rPr>
              <a:t>Typography</a:t>
            </a:r>
          </a:p>
        </p:txBody>
      </p:sp>
      <p:sp>
        <p:nvSpPr>
          <p:cNvPr id="115" name="div"/>
          <p:cNvSpPr/>
          <p:nvPr/>
        </p:nvSpPr>
        <p:spPr>
          <a:xfrm>
            <a:off x="2095500" y="3876675"/>
            <a:ext cx="3810000" cy="11430"/>
          </a:xfrm>
          <a:prstGeom prst="rect">
            <a:avLst/>
          </a:prstGeom>
          <a:solidFill>
            <a:srgbClr val="DCE3EC"/>
          </a:solidFill>
          <a:ln>
            <a:noFill/>
          </a:ln>
        </p:spPr>
        <p:txBody>
          <a:bodyPr/>
          <a:lstStyle/>
          <a:p>
            <a:endParaRPr sz="1350"/>
          </a:p>
        </p:txBody>
      </p:sp>
      <p:sp>
        <p:nvSpPr>
          <p:cNvPr id="116" name="typo"/>
          <p:cNvSpPr txBox="1"/>
          <p:nvPr/>
        </p:nvSpPr>
        <p:spPr>
          <a:xfrm>
            <a:off x="2095500" y="4000500"/>
            <a:ext cx="3810000" cy="381000"/>
          </a:xfrm>
          <a:prstGeom prst="rect">
            <a:avLst/>
          </a:prstGeom>
          <a:noFill/>
        </p:spPr>
        <p:txBody>
          <a:bodyPr lIns="0" tIns="0" rIns="0" bIns="0" anchor="ctr"/>
          <a:lstStyle/>
          <a:p>
            <a:pPr algn="l"/>
            <a:r>
              <a:rPr lang="en-US" b="1" dirty="0">
                <a:solidFill>
                  <a:srgbClr val="1F3A5F"/>
                </a:solidFill>
              </a:rPr>
              <a:t>Title — 32pt Bold</a:t>
            </a:r>
          </a:p>
        </p:txBody>
      </p:sp>
      <p:sp>
        <p:nvSpPr>
          <p:cNvPr id="117" name="typo"/>
          <p:cNvSpPr txBox="1"/>
          <p:nvPr/>
        </p:nvSpPr>
        <p:spPr>
          <a:xfrm>
            <a:off x="2095500" y="4400550"/>
            <a:ext cx="3810000" cy="381000"/>
          </a:xfrm>
          <a:prstGeom prst="rect">
            <a:avLst/>
          </a:prstGeom>
          <a:noFill/>
        </p:spPr>
        <p:txBody>
          <a:bodyPr lIns="0" tIns="0" rIns="0" bIns="0" anchor="ctr"/>
          <a:lstStyle/>
          <a:p>
            <a:pPr algn="l"/>
            <a:r>
              <a:rPr lang="en-US" sz="1350" b="1" dirty="0">
                <a:solidFill>
                  <a:srgbClr val="415A77"/>
                </a:solidFill>
              </a:rPr>
              <a:t>Card Header — 18pt Bold</a:t>
            </a:r>
          </a:p>
        </p:txBody>
      </p:sp>
      <p:sp>
        <p:nvSpPr>
          <p:cNvPr id="118" name="typo"/>
          <p:cNvSpPr txBox="1"/>
          <p:nvPr/>
        </p:nvSpPr>
        <p:spPr>
          <a:xfrm>
            <a:off x="2095500" y="4800600"/>
            <a:ext cx="3810000" cy="381000"/>
          </a:xfrm>
          <a:prstGeom prst="rect">
            <a:avLst/>
          </a:prstGeom>
          <a:noFill/>
        </p:spPr>
        <p:txBody>
          <a:bodyPr lIns="0" tIns="0" rIns="0" bIns="0" anchor="ctr"/>
          <a:lstStyle/>
          <a:p>
            <a:pPr algn="l"/>
            <a:r>
              <a:rPr lang="en-US" sz="1050" dirty="0">
                <a:solidFill>
                  <a:srgbClr val="6B7280"/>
                </a:solidFill>
              </a:rPr>
              <a:t>Body Text — 14pt Regular</a:t>
            </a:r>
          </a:p>
        </p:txBody>
      </p:sp>
      <p:sp>
        <p:nvSpPr>
          <p:cNvPr id="119" name="lbl"/>
          <p:cNvSpPr txBox="1"/>
          <p:nvPr/>
        </p:nvSpPr>
        <p:spPr>
          <a:xfrm>
            <a:off x="6286500" y="3619500"/>
            <a:ext cx="3810000" cy="228600"/>
          </a:xfrm>
          <a:prstGeom prst="rect">
            <a:avLst/>
          </a:prstGeom>
          <a:noFill/>
        </p:spPr>
        <p:txBody>
          <a:bodyPr lIns="0" tIns="0" rIns="0" bIns="0" anchor="b"/>
          <a:lstStyle/>
          <a:p>
            <a:pPr algn="l"/>
            <a:r>
              <a:rPr lang="en-US" sz="1050" b="1" dirty="0">
                <a:solidFill>
                  <a:srgbClr val="415A77"/>
                </a:solidFill>
              </a:rPr>
              <a:t>Components</a:t>
            </a:r>
          </a:p>
        </p:txBody>
      </p:sp>
      <p:sp>
        <p:nvSpPr>
          <p:cNvPr id="120" name="div"/>
          <p:cNvSpPr/>
          <p:nvPr/>
        </p:nvSpPr>
        <p:spPr>
          <a:xfrm>
            <a:off x="6286500" y="3876675"/>
            <a:ext cx="3810000" cy="11430"/>
          </a:xfrm>
          <a:prstGeom prst="rect">
            <a:avLst/>
          </a:prstGeom>
          <a:solidFill>
            <a:srgbClr val="DCE3EC"/>
          </a:solidFill>
          <a:ln>
            <a:noFill/>
          </a:ln>
        </p:spPr>
        <p:txBody>
          <a:bodyPr/>
          <a:lstStyle/>
          <a:p>
            <a:endParaRPr sz="1350"/>
          </a:p>
        </p:txBody>
      </p:sp>
      <p:sp>
        <p:nvSpPr>
          <p:cNvPr id="121" name="card"/>
          <p:cNvSpPr/>
          <p:nvPr/>
        </p:nvSpPr>
        <p:spPr>
          <a:xfrm>
            <a:off x="6286501" y="4019550"/>
            <a:ext cx="2047875" cy="1238250"/>
          </a:xfrm>
          <a:prstGeom prst="roundRect">
            <a:avLst>
              <a:gd name="adj" fmla="val 8000"/>
            </a:avLst>
          </a:prstGeom>
          <a:solidFill>
            <a:srgbClr val="415A77"/>
          </a:solidFill>
          <a:ln>
            <a:noFill/>
          </a:ln>
        </p:spPr>
        <p:txBody>
          <a:bodyPr lIns="68580" rIns="68580" anchor="ctr"/>
          <a:lstStyle/>
          <a:p>
            <a:pPr algn="ctr">
              <a:buNone/>
            </a:pPr>
            <a:r>
              <a:rPr lang="en-US" sz="1350" b="1" dirty="0">
                <a:solidFill>
                  <a:srgbClr val="FFFFFF"/>
                </a:solidFill>
              </a:rPr>
              <a:t>Card Title</a:t>
            </a:r>
          </a:p>
          <a:p>
            <a:pPr algn="ctr">
              <a:spcBef>
                <a:spcPts val="450"/>
              </a:spcBef>
            </a:pPr>
            <a:r>
              <a:rPr lang="en-US" sz="1050" dirty="0">
                <a:solidFill>
                  <a:srgbClr val="DCE3EC"/>
                </a:solidFill>
              </a:rPr>
              <a:t>Supporting body text with an </a:t>
            </a:r>
            <a:r>
              <a:rPr lang="en-US" sz="1050" b="1" dirty="0">
                <a:solidFill>
                  <a:srgbClr val="7FB280"/>
                </a:solidFill>
              </a:rPr>
              <a:t>accent</a:t>
            </a:r>
            <a:r>
              <a:rPr lang="en-US" sz="1050" dirty="0">
                <a:solidFill>
                  <a:srgbClr val="DCE3EC"/>
                </a:solidFill>
              </a:rPr>
              <a:t> highlight</a:t>
            </a:r>
          </a:p>
        </p:txBody>
      </p:sp>
      <p:sp>
        <p:nvSpPr>
          <p:cNvPr id="122" name="arrow"/>
          <p:cNvSpPr/>
          <p:nvPr/>
        </p:nvSpPr>
        <p:spPr>
          <a:xfrm>
            <a:off x="8458200" y="4562475"/>
            <a:ext cx="266700" cy="171450"/>
          </a:xfrm>
          <a:prstGeom prst="rightArrow">
            <a:avLst/>
          </a:prstGeom>
          <a:solidFill>
            <a:srgbClr val="6B7280"/>
          </a:solidFill>
          <a:ln>
            <a:noFill/>
          </a:ln>
        </p:spPr>
        <p:txBody>
          <a:bodyPr/>
          <a:lstStyle/>
          <a:p>
            <a:endParaRPr sz="1350"/>
          </a:p>
        </p:txBody>
      </p:sp>
      <p:sp>
        <p:nvSpPr>
          <p:cNvPr id="123" name="card2"/>
          <p:cNvSpPr/>
          <p:nvPr/>
        </p:nvSpPr>
        <p:spPr>
          <a:xfrm>
            <a:off x="8839200" y="4019550"/>
            <a:ext cx="1257300" cy="1238250"/>
          </a:xfrm>
          <a:prstGeom prst="roundRect">
            <a:avLst>
              <a:gd name="adj" fmla="val 8000"/>
            </a:avLst>
          </a:prstGeom>
          <a:solidFill>
            <a:srgbClr val="1F3A5F"/>
          </a:solidFill>
          <a:ln>
            <a:noFill/>
          </a:ln>
        </p:spPr>
        <p:txBody>
          <a:bodyPr lIns="48006" rIns="48006" anchor="ctr"/>
          <a:lstStyle/>
          <a:p>
            <a:pPr algn="ctr">
              <a:buNone/>
            </a:pPr>
            <a:r>
              <a:rPr lang="en-US" sz="1350" b="1" dirty="0">
                <a:solidFill>
                  <a:srgbClr val="FFFFFF"/>
                </a:solidFill>
              </a:rPr>
              <a:t>Step</a:t>
            </a:r>
          </a:p>
        </p:txBody>
      </p:sp>
    </p:spTree>
    <p:extLst>
      <p:ext uri="{BB962C8B-B14F-4D97-AF65-F5344CB8AC3E}">
        <p14:creationId xmlns:p14="http://schemas.microsoft.com/office/powerpoint/2010/main" val="325604942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TextBox 1"/>
          <p:cNvSpPr txBox="1"/>
          <p:nvPr/>
        </p:nvSpPr>
        <p:spPr>
          <a:xfrm>
            <a:off x="2095500" y="1314450"/>
            <a:ext cx="4762500" cy="438150"/>
          </a:xfrm>
          <a:prstGeom prst="rect">
            <a:avLst/>
          </a:prstGeom>
          <a:noFill/>
        </p:spPr>
        <p:txBody>
          <a:bodyPr lIns="0" tIns="0" rIns="0" bIns="0" anchor="ctr"/>
          <a:lstStyle/>
          <a:p>
            <a:pPr algn="l"/>
            <a:r>
              <a:rPr lang="en-US" sz="2400" b="1" dirty="0">
                <a:solidFill>
                  <a:srgbClr val="1F3A5F"/>
                </a:solidFill>
              </a:rPr>
              <a:t>Design Philosophy</a:t>
            </a:r>
          </a:p>
        </p:txBody>
      </p:sp>
      <p:sp>
        <p:nvSpPr>
          <p:cNvPr id="201" name="intro"/>
          <p:cNvSpPr txBox="1"/>
          <p:nvPr/>
        </p:nvSpPr>
        <p:spPr>
          <a:xfrm>
            <a:off x="2095500" y="1885950"/>
            <a:ext cx="8001000" cy="457200"/>
          </a:xfrm>
          <a:prstGeom prst="rect">
            <a:avLst/>
          </a:prstGeom>
          <a:noFill/>
        </p:spPr>
        <p:txBody>
          <a:bodyPr lIns="0" tIns="0" rIns="0" bIns="0" anchor="t"/>
          <a:lstStyle/>
          <a:p>
            <a:r>
              <a:rPr lang="en-US" sz="1200" dirty="0">
                <a:solidFill>
                  <a:srgbClr val="415A77"/>
                </a:solidFill>
              </a:rPr>
              <a:t>Every choice in this system serves one goal: making complex ideas </a:t>
            </a:r>
            <a:r>
              <a:rPr lang="en-US" sz="1200" b="1" dirty="0">
                <a:solidFill>
                  <a:srgbClr val="5A7D5A"/>
                </a:solidFill>
              </a:rPr>
              <a:t>clear</a:t>
            </a:r>
            <a:r>
              <a:rPr lang="en-US" sz="1200" dirty="0">
                <a:solidFill>
                  <a:srgbClr val="415A77"/>
                </a:solidFill>
              </a:rPr>
              <a:t>,</a:t>
            </a:r>
            <a:r>
              <a:rPr lang="en-US" sz="1200" b="1" dirty="0">
                <a:solidFill>
                  <a:srgbClr val="5A7D5A"/>
                </a:solidFill>
              </a:rPr>
              <a:t> easy</a:t>
            </a:r>
            <a:r>
              <a:rPr lang="en-US" sz="1200" dirty="0">
                <a:solidFill>
                  <a:srgbClr val="415A77"/>
                </a:solidFill>
              </a:rPr>
              <a:t> to </a:t>
            </a:r>
            <a:r>
              <a:rPr lang="en-US" sz="1200" b="1" dirty="0">
                <a:solidFill>
                  <a:srgbClr val="5A7D5A"/>
                </a:solidFill>
              </a:rPr>
              <a:t> visualize</a:t>
            </a:r>
            <a:r>
              <a:rPr lang="en-US" sz="1200" dirty="0">
                <a:solidFill>
                  <a:srgbClr val="415A77"/>
                </a:solidFill>
              </a:rPr>
              <a:t>, and easy to </a:t>
            </a:r>
            <a:r>
              <a:rPr lang="en-US" sz="1200" b="1" dirty="0">
                <a:solidFill>
                  <a:srgbClr val="5A7D5A"/>
                </a:solidFill>
              </a:rPr>
              <a:t>follow</a:t>
            </a:r>
            <a:endParaRPr lang="en-US" sz="1200" dirty="0">
              <a:solidFill>
                <a:srgbClr val="415A77"/>
              </a:solidFill>
            </a:endParaRPr>
          </a:p>
        </p:txBody>
      </p:sp>
      <p:sp>
        <p:nvSpPr>
          <p:cNvPr id="202" name="card"/>
          <p:cNvSpPr/>
          <p:nvPr/>
        </p:nvSpPr>
        <p:spPr>
          <a:xfrm>
            <a:off x="2095500" y="2552700"/>
            <a:ext cx="1885950" cy="2381250"/>
          </a:xfrm>
          <a:prstGeom prst="roundRect">
            <a:avLst>
              <a:gd name="adj" fmla="val 6000"/>
            </a:avLst>
          </a:prstGeom>
          <a:solidFill>
            <a:srgbClr val="1F3A5F"/>
          </a:solidFill>
          <a:ln>
            <a:noFill/>
          </a:ln>
        </p:spPr>
        <p:txBody>
          <a:bodyPr lIns="102870" tIns="102870" rIns="102870" bIns="102870" anchor="t"/>
          <a:lstStyle/>
          <a:p>
            <a:pPr algn="l">
              <a:buNone/>
            </a:pPr>
            <a:r>
              <a:rPr lang="en-US" sz="825" b="1" dirty="0">
                <a:solidFill>
                  <a:srgbClr val="7FB280"/>
                </a:solidFill>
              </a:rPr>
              <a:t>01</a:t>
            </a:r>
          </a:p>
          <a:p>
            <a:pPr>
              <a:spcBef>
                <a:spcPts val="300"/>
              </a:spcBef>
            </a:pPr>
            <a:r>
              <a:rPr lang="en-US" sz="1275" b="1" dirty="0">
                <a:solidFill>
                  <a:srgbClr val="FFFFFF"/>
                </a:solidFill>
              </a:rPr>
              <a:t>Clarity over decoration</a:t>
            </a:r>
          </a:p>
          <a:p>
            <a:pPr>
              <a:spcBef>
                <a:spcPts val="600"/>
              </a:spcBef>
            </a:pPr>
            <a:r>
              <a:rPr lang="en-US" sz="1050" dirty="0">
                <a:solidFill>
                  <a:srgbClr val="DCE3EC"/>
                </a:solidFill>
              </a:rPr>
              <a:t>Structure carries the </a:t>
            </a:r>
            <a:r>
              <a:rPr lang="en-US" sz="1050" b="1" dirty="0">
                <a:solidFill>
                  <a:srgbClr val="DCE3EC"/>
                </a:solidFill>
              </a:rPr>
              <a:t>meaning</a:t>
            </a:r>
            <a:r>
              <a:rPr lang="en-US" sz="1050" dirty="0">
                <a:solidFill>
                  <a:srgbClr val="DCE3EC"/>
                </a:solidFill>
              </a:rPr>
              <a:t>.</a:t>
            </a:r>
          </a:p>
          <a:p>
            <a:pPr>
              <a:spcBef>
                <a:spcPts val="600"/>
              </a:spcBef>
            </a:pPr>
            <a:br>
              <a:rPr lang="en-US" sz="1050" dirty="0">
                <a:solidFill>
                  <a:srgbClr val="DCE3EC"/>
                </a:solidFill>
              </a:rPr>
            </a:br>
            <a:r>
              <a:rPr lang="en-US" sz="1050" dirty="0">
                <a:solidFill>
                  <a:srgbClr val="DCE3EC"/>
                </a:solidFill>
              </a:rPr>
              <a:t>Color and shape signal hierarchy and state</a:t>
            </a:r>
          </a:p>
          <a:p>
            <a:pPr>
              <a:spcBef>
                <a:spcPts val="600"/>
              </a:spcBef>
            </a:pPr>
            <a:r>
              <a:rPr lang="en-US" sz="1050" dirty="0">
                <a:solidFill>
                  <a:srgbClr val="DCE3EC"/>
                </a:solidFill>
              </a:rPr>
              <a:t>Never ornament for its own sake.</a:t>
            </a:r>
          </a:p>
        </p:txBody>
      </p:sp>
      <p:sp>
        <p:nvSpPr>
          <p:cNvPr id="203" name="card"/>
          <p:cNvSpPr/>
          <p:nvPr/>
        </p:nvSpPr>
        <p:spPr>
          <a:xfrm>
            <a:off x="4133850" y="2552700"/>
            <a:ext cx="1885950" cy="2381250"/>
          </a:xfrm>
          <a:prstGeom prst="roundRect">
            <a:avLst>
              <a:gd name="adj" fmla="val 6000"/>
            </a:avLst>
          </a:prstGeom>
          <a:solidFill>
            <a:srgbClr val="415A77"/>
          </a:solidFill>
          <a:ln>
            <a:noFill/>
          </a:ln>
        </p:spPr>
        <p:txBody>
          <a:bodyPr lIns="102870" tIns="102870" rIns="102870" bIns="102870" anchor="t"/>
          <a:lstStyle/>
          <a:p>
            <a:pPr algn="l">
              <a:buNone/>
            </a:pPr>
            <a:r>
              <a:rPr lang="en-US" sz="825" b="1" dirty="0">
                <a:solidFill>
                  <a:srgbClr val="7FB280"/>
                </a:solidFill>
              </a:rPr>
              <a:t>02</a:t>
            </a:r>
          </a:p>
          <a:p>
            <a:pPr>
              <a:spcBef>
                <a:spcPts val="300"/>
              </a:spcBef>
            </a:pPr>
            <a:r>
              <a:rPr lang="en-US" sz="1275" b="1" dirty="0">
                <a:solidFill>
                  <a:srgbClr val="FFFFFF"/>
                </a:solidFill>
              </a:rPr>
              <a:t>Calm, confident palette</a:t>
            </a:r>
          </a:p>
          <a:p>
            <a:pPr>
              <a:spcBef>
                <a:spcPts val="600"/>
              </a:spcBef>
            </a:pPr>
            <a:r>
              <a:rPr lang="en-US" sz="1050" dirty="0">
                <a:solidFill>
                  <a:srgbClr val="DCE3EC"/>
                </a:solidFill>
              </a:rPr>
              <a:t>Navy and slate set a steady tone.</a:t>
            </a:r>
          </a:p>
          <a:p>
            <a:pPr>
              <a:spcBef>
                <a:spcPts val="600"/>
              </a:spcBef>
            </a:pPr>
            <a:r>
              <a:rPr lang="en-US" sz="1050" dirty="0">
                <a:solidFill>
                  <a:srgbClr val="DCE3EC"/>
                </a:solidFill>
              </a:rPr>
              <a:t>Green and rust appear sparingly.</a:t>
            </a:r>
          </a:p>
          <a:p>
            <a:pPr>
              <a:spcBef>
                <a:spcPts val="600"/>
              </a:spcBef>
            </a:pPr>
            <a:r>
              <a:rPr lang="en-US" sz="1050" dirty="0">
                <a:solidFill>
                  <a:srgbClr val="DCE3EC"/>
                </a:solidFill>
              </a:rPr>
              <a:t>Color marks safe and risk — nothing more.</a:t>
            </a:r>
          </a:p>
        </p:txBody>
      </p:sp>
      <p:sp>
        <p:nvSpPr>
          <p:cNvPr id="204" name="card"/>
          <p:cNvSpPr/>
          <p:nvPr/>
        </p:nvSpPr>
        <p:spPr>
          <a:xfrm>
            <a:off x="6172200" y="2552700"/>
            <a:ext cx="1885950" cy="2381250"/>
          </a:xfrm>
          <a:prstGeom prst="roundRect">
            <a:avLst>
              <a:gd name="adj" fmla="val 6000"/>
            </a:avLst>
          </a:prstGeom>
          <a:solidFill>
            <a:srgbClr val="5A7D5A"/>
          </a:solidFill>
          <a:ln>
            <a:noFill/>
          </a:ln>
        </p:spPr>
        <p:txBody>
          <a:bodyPr lIns="102870" tIns="102870" rIns="102870" bIns="102870" anchor="t"/>
          <a:lstStyle/>
          <a:p>
            <a:pPr algn="l">
              <a:buNone/>
            </a:pPr>
            <a:r>
              <a:rPr lang="en-US" sz="825" b="1" dirty="0">
                <a:solidFill>
                  <a:srgbClr val="7FB280"/>
                </a:solidFill>
              </a:rPr>
              <a:t>03</a:t>
            </a:r>
          </a:p>
          <a:p>
            <a:pPr>
              <a:spcBef>
                <a:spcPts val="300"/>
              </a:spcBef>
            </a:pPr>
            <a:r>
              <a:rPr lang="en-US" sz="1275" b="1" dirty="0">
                <a:solidFill>
                  <a:srgbClr val="FFFFFF"/>
                </a:solidFill>
              </a:rPr>
              <a:t>Consistent components</a:t>
            </a:r>
          </a:p>
          <a:p>
            <a:pPr>
              <a:spcBef>
                <a:spcPts val="600"/>
              </a:spcBef>
            </a:pPr>
            <a:r>
              <a:rPr lang="en-US" sz="1050" dirty="0">
                <a:solidFill>
                  <a:srgbClr val="DCE3EC"/>
                </a:solidFill>
              </a:rPr>
              <a:t>Rounded cards and arrows repeat.</a:t>
            </a:r>
          </a:p>
          <a:p>
            <a:pPr>
              <a:spcBef>
                <a:spcPts val="600"/>
              </a:spcBef>
            </a:pPr>
            <a:r>
              <a:rPr lang="en-US" sz="1050" dirty="0">
                <a:solidFill>
                  <a:srgbClr val="DCE3EC"/>
                </a:solidFill>
              </a:rPr>
              <a:t>One visual grammar across slides.</a:t>
            </a:r>
          </a:p>
          <a:p>
            <a:pPr>
              <a:spcBef>
                <a:spcPts val="600"/>
              </a:spcBef>
            </a:pPr>
            <a:r>
              <a:rPr lang="en-US" sz="1050" dirty="0">
                <a:solidFill>
                  <a:srgbClr val="DCE3EC"/>
                </a:solidFill>
              </a:rPr>
              <a:t>Every new slide fits the system.</a:t>
            </a:r>
          </a:p>
        </p:txBody>
      </p:sp>
      <p:sp>
        <p:nvSpPr>
          <p:cNvPr id="205" name="card"/>
          <p:cNvSpPr/>
          <p:nvPr/>
        </p:nvSpPr>
        <p:spPr>
          <a:xfrm>
            <a:off x="8210550" y="2552700"/>
            <a:ext cx="1885950" cy="2381250"/>
          </a:xfrm>
          <a:prstGeom prst="roundRect">
            <a:avLst>
              <a:gd name="adj" fmla="val 6000"/>
            </a:avLst>
          </a:prstGeom>
          <a:solidFill>
            <a:srgbClr val="A14B4B"/>
          </a:solidFill>
          <a:ln>
            <a:noFill/>
          </a:ln>
        </p:spPr>
        <p:txBody>
          <a:bodyPr lIns="102870" tIns="102870" rIns="102870" bIns="102870" anchor="t"/>
          <a:lstStyle/>
          <a:p>
            <a:pPr algn="l">
              <a:buNone/>
            </a:pPr>
            <a:r>
              <a:rPr lang="en-US" sz="825" b="1" dirty="0">
                <a:solidFill>
                  <a:srgbClr val="7FB280"/>
                </a:solidFill>
              </a:rPr>
              <a:t>04</a:t>
            </a:r>
          </a:p>
          <a:p>
            <a:pPr>
              <a:spcBef>
                <a:spcPts val="300"/>
              </a:spcBef>
            </a:pPr>
            <a:r>
              <a:rPr lang="en-US" sz="1275" b="1" dirty="0">
                <a:solidFill>
                  <a:srgbClr val="FFFFFF"/>
                </a:solidFill>
              </a:rPr>
              <a:t>Scannable by design</a:t>
            </a:r>
          </a:p>
          <a:p>
            <a:pPr>
              <a:spcBef>
                <a:spcPts val="600"/>
              </a:spcBef>
            </a:pPr>
            <a:r>
              <a:rPr lang="en-US" sz="1050" dirty="0">
                <a:solidFill>
                  <a:srgbClr val="DCE3EC"/>
                </a:solidFill>
              </a:rPr>
              <a:t>Lead with the takeaway.</a:t>
            </a:r>
          </a:p>
          <a:p>
            <a:pPr>
              <a:spcBef>
                <a:spcPts val="600"/>
              </a:spcBef>
            </a:pPr>
            <a:r>
              <a:rPr lang="en-US" sz="1050" dirty="0">
                <a:solidFill>
                  <a:srgbClr val="DCE3EC"/>
                </a:solidFill>
              </a:rPr>
              <a:t>Short lines over dense paragraphs.</a:t>
            </a:r>
          </a:p>
          <a:p>
            <a:pPr>
              <a:spcBef>
                <a:spcPts val="600"/>
              </a:spcBef>
            </a:pPr>
            <a:r>
              <a:rPr lang="en-US" sz="1050" dirty="0">
                <a:solidFill>
                  <a:srgbClr val="DCE3EC"/>
                </a:solidFill>
              </a:rPr>
              <a:t>Limited attention is a constraint, not an afterthought.</a:t>
            </a:r>
          </a:p>
        </p:txBody>
      </p:sp>
    </p:spTree>
    <p:extLst>
      <p:ext uri="{BB962C8B-B14F-4D97-AF65-F5344CB8AC3E}">
        <p14:creationId xmlns:p14="http://schemas.microsoft.com/office/powerpoint/2010/main" val="14594945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3E383B4-3C19-4741-9AB0-B9CBD817969B}">
  <we:reference id="wa200010215" version="2.0.0.0" store="en-US" storeType="OMEX"/>
  <we:alternateReferences>
    <we:reference id="wa200010215" version="2.0.0.0" store="wa200010215"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CB40252-5FF4-6F40-8A0D-062BFBDE7548}">
  <we:reference id="wa200010001" version="1.0.0.1" store="en-US" storeType="OMEX"/>
  <we:alternateReferences>
    <we:reference id="WA200010001" version="1.0.0.1" store="" storeType="OMEX"/>
  </we:alternateReferences>
  <we:properties>
    <we:property name="claude.fileId" value="&quot;bcac5a2e-2a99-4117-a7dc-88a913e0c1a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3519</TotalTime>
  <Words>4514</Words>
  <Application>Microsoft Macintosh PowerPoint</Application>
  <PresentationFormat>Widescreen</PresentationFormat>
  <Paragraphs>1020</Paragraphs>
  <Slides>91</Slides>
  <Notes>7</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91</vt:i4>
      </vt:variant>
    </vt:vector>
  </HeadingPairs>
  <TitlesOfParts>
    <vt:vector size="99" baseType="lpstr">
      <vt:lpstr>-apple-system</vt:lpstr>
      <vt:lpstr>Aptos</vt:lpstr>
      <vt:lpstr>Aptos Display</vt:lpstr>
      <vt:lpstr>Arial</vt:lpstr>
      <vt:lpstr>Consolas</vt:lpstr>
      <vt:lpstr>Fira Code</vt:lpstr>
      <vt:lpstr>Menlo</vt:lpstr>
      <vt:lpstr>Office Theme</vt:lpstr>
      <vt:lpstr>Working with AI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Llewellyn Falco</dc:creator>
  <cp:lastModifiedBy>Llewellyn Falco</cp:lastModifiedBy>
  <cp:revision>49</cp:revision>
  <dcterms:created xsi:type="dcterms:W3CDTF">2026-07-31T05:00:10Z</dcterms:created>
  <dcterms:modified xsi:type="dcterms:W3CDTF">2026-08-06T02:22:46Z</dcterms:modified>
</cp:coreProperties>
</file>